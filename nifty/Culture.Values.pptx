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58" r:id="rId3"/>
    <p:sldId id="257" r:id="rId4"/>
    <p:sldId id="259" r:id="rId5"/>
    <p:sldId id="289" r:id="rId6"/>
    <p:sldId id="290" r:id="rId7"/>
    <p:sldId id="263" r:id="rId8"/>
    <p:sldId id="282" r:id="rId9"/>
    <p:sldId id="261" r:id="rId10"/>
    <p:sldId id="262" r:id="rId11"/>
    <p:sldId id="260" r:id="rId12"/>
    <p:sldId id="283" r:id="rId13"/>
    <p:sldId id="265" r:id="rId14"/>
    <p:sldId id="267" r:id="rId15"/>
    <p:sldId id="268" r:id="rId16"/>
    <p:sldId id="270" r:id="rId17"/>
    <p:sldId id="271" r:id="rId18"/>
    <p:sldId id="272" r:id="rId19"/>
    <p:sldId id="273" r:id="rId20"/>
    <p:sldId id="274" r:id="rId21"/>
    <p:sldId id="280" r:id="rId22"/>
    <p:sldId id="281" r:id="rId23"/>
    <p:sldId id="264" r:id="rId24"/>
    <p:sldId id="284" r:id="rId25"/>
    <p:sldId id="288" r:id="rId26"/>
    <p:sldId id="293" r:id="rId27"/>
    <p:sldId id="269" r:id="rId28"/>
    <p:sldId id="276" r:id="rId29"/>
    <p:sldId id="278" r:id="rId30"/>
    <p:sldId id="277" r:id="rId31"/>
    <p:sldId id="291" r:id="rId32"/>
    <p:sldId id="294" r:id="rId33"/>
    <p:sldId id="285" r:id="rId34"/>
    <p:sldId id="286" r:id="rId35"/>
    <p:sldId id="296" r:id="rId36"/>
    <p:sldId id="295" r:id="rId37"/>
    <p:sldId id="287" r:id="rId38"/>
    <p:sldId id="279" r:id="rId39"/>
    <p:sldId id="297" r:id="rId40"/>
    <p:sldId id="299" r:id="rId41"/>
    <p:sldId id="300"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104"/>
    <p:restoredTop sz="82692"/>
  </p:normalViewPr>
  <p:slideViewPr>
    <p:cSldViewPr snapToGrid="0" snapToObjects="1">
      <p:cViewPr varScale="1">
        <p:scale>
          <a:sx n="70" d="100"/>
          <a:sy n="70" d="100"/>
        </p:scale>
        <p:origin x="208" y="568"/>
      </p:cViewPr>
      <p:guideLst/>
    </p:cSldViewPr>
  </p:slideViewPr>
  <p:notesTextViewPr>
    <p:cViewPr>
      <p:scale>
        <a:sx n="1" d="1"/>
        <a:sy n="1" d="1"/>
      </p:scale>
      <p:origin x="0" y="0"/>
    </p:cViewPr>
  </p:notesTextViewPr>
  <p:sorterViewPr>
    <p:cViewPr>
      <p:scale>
        <a:sx n="85" d="100"/>
        <a:sy n="85"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8D1310-3C92-9A45-87F9-254CBBB17F1A}" type="datetimeFigureOut">
              <a:rPr lang="en-US" smtClean="0"/>
              <a:t>3/18/18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F5C900-019F-564A-BE8C-9C5F5D279C81}" type="slidenum">
              <a:rPr lang="en-US" smtClean="0"/>
              <a:t>‹#›</a:t>
            </a:fld>
            <a:endParaRPr lang="en-US"/>
          </a:p>
        </p:txBody>
      </p:sp>
    </p:spTree>
    <p:extLst>
      <p:ext uri="{BB962C8B-B14F-4D97-AF65-F5344CB8AC3E}">
        <p14:creationId xmlns:p14="http://schemas.microsoft.com/office/powerpoint/2010/main" val="1998616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F5C900-019F-564A-BE8C-9C5F5D279C81}" type="slidenum">
              <a:rPr lang="en-US" smtClean="0"/>
              <a:t>2</a:t>
            </a:fld>
            <a:endParaRPr lang="en-US"/>
          </a:p>
        </p:txBody>
      </p:sp>
    </p:spTree>
    <p:extLst>
      <p:ext uri="{BB962C8B-B14F-4D97-AF65-F5344CB8AC3E}">
        <p14:creationId xmlns:p14="http://schemas.microsoft.com/office/powerpoint/2010/main" val="19132864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F5C900-019F-564A-BE8C-9C5F5D279C81}" type="slidenum">
              <a:rPr lang="en-US" smtClean="0"/>
              <a:t>4</a:t>
            </a:fld>
            <a:endParaRPr lang="en-US"/>
          </a:p>
        </p:txBody>
      </p:sp>
    </p:spTree>
    <p:extLst>
      <p:ext uri="{BB962C8B-B14F-4D97-AF65-F5344CB8AC3E}">
        <p14:creationId xmlns:p14="http://schemas.microsoft.com/office/powerpoint/2010/main" val="31162321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Way of The Liberal</a:t>
            </a:r>
          </a:p>
        </p:txBody>
      </p:sp>
      <p:sp>
        <p:nvSpPr>
          <p:cNvPr id="4" name="Slide Number Placeholder 3"/>
          <p:cNvSpPr>
            <a:spLocks noGrp="1"/>
          </p:cNvSpPr>
          <p:nvPr>
            <p:ph type="sldNum" sz="quarter" idx="10"/>
          </p:nvPr>
        </p:nvSpPr>
        <p:spPr/>
        <p:txBody>
          <a:bodyPr/>
          <a:lstStyle/>
          <a:p>
            <a:fld id="{86F5C900-019F-564A-BE8C-9C5F5D279C81}" type="slidenum">
              <a:rPr lang="en-US" smtClean="0"/>
              <a:t>5</a:t>
            </a:fld>
            <a:endParaRPr lang="en-US"/>
          </a:p>
        </p:txBody>
      </p:sp>
    </p:spTree>
    <p:extLst>
      <p:ext uri="{BB962C8B-B14F-4D97-AF65-F5344CB8AC3E}">
        <p14:creationId xmlns:p14="http://schemas.microsoft.com/office/powerpoint/2010/main" val="18309387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Way of The Liberal</a:t>
            </a:r>
          </a:p>
        </p:txBody>
      </p:sp>
      <p:sp>
        <p:nvSpPr>
          <p:cNvPr id="4" name="Slide Number Placeholder 3"/>
          <p:cNvSpPr>
            <a:spLocks noGrp="1"/>
          </p:cNvSpPr>
          <p:nvPr>
            <p:ph type="sldNum" sz="quarter" idx="10"/>
          </p:nvPr>
        </p:nvSpPr>
        <p:spPr/>
        <p:txBody>
          <a:bodyPr/>
          <a:lstStyle/>
          <a:p>
            <a:fld id="{86F5C900-019F-564A-BE8C-9C5F5D279C81}" type="slidenum">
              <a:rPr lang="en-US" smtClean="0"/>
              <a:t>6</a:t>
            </a:fld>
            <a:endParaRPr lang="en-US"/>
          </a:p>
        </p:txBody>
      </p:sp>
    </p:spTree>
    <p:extLst>
      <p:ext uri="{BB962C8B-B14F-4D97-AF65-F5344CB8AC3E}">
        <p14:creationId xmlns:p14="http://schemas.microsoft.com/office/powerpoint/2010/main" val="23300180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Roboto Light" pitchFamily="2" charset="0"/>
                <a:ea typeface="Roboto Light" pitchFamily="2" charset="0"/>
              </a:rPr>
              <a:t>Give something with slightly lower quality now</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Roboto Light" pitchFamily="2" charset="0"/>
                <a:ea typeface="Roboto Light" pitchFamily="2" charset="0"/>
              </a:rPr>
              <a:t>Give something Amazing in 2-3 Extra Weeks</a:t>
            </a:r>
          </a:p>
          <a:p>
            <a:endParaRPr lang="en-US" dirty="0"/>
          </a:p>
          <a:p>
            <a:endParaRPr lang="en-US" dirty="0"/>
          </a:p>
        </p:txBody>
      </p:sp>
      <p:sp>
        <p:nvSpPr>
          <p:cNvPr id="4" name="Slide Number Placeholder 3"/>
          <p:cNvSpPr>
            <a:spLocks noGrp="1"/>
          </p:cNvSpPr>
          <p:nvPr>
            <p:ph type="sldNum" sz="quarter" idx="10"/>
          </p:nvPr>
        </p:nvSpPr>
        <p:spPr/>
        <p:txBody>
          <a:bodyPr/>
          <a:lstStyle/>
          <a:p>
            <a:fld id="{86F5C900-019F-564A-BE8C-9C5F5D279C81}" type="slidenum">
              <a:rPr lang="en-US" smtClean="0"/>
              <a:t>11</a:t>
            </a:fld>
            <a:endParaRPr lang="en-US"/>
          </a:p>
        </p:txBody>
      </p:sp>
    </p:spTree>
    <p:extLst>
      <p:ext uri="{BB962C8B-B14F-4D97-AF65-F5344CB8AC3E}">
        <p14:creationId xmlns:p14="http://schemas.microsoft.com/office/powerpoint/2010/main" val="8436528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ASM2: Aunt May hides information to protect Peter's feelings</a:t>
            </a:r>
          </a:p>
          <a:p>
            <a:endParaRPr lang="en-US" dirty="0"/>
          </a:p>
        </p:txBody>
      </p:sp>
      <p:sp>
        <p:nvSpPr>
          <p:cNvPr id="4" name="Slide Number Placeholder 3"/>
          <p:cNvSpPr>
            <a:spLocks noGrp="1"/>
          </p:cNvSpPr>
          <p:nvPr>
            <p:ph type="sldNum" sz="quarter" idx="10"/>
          </p:nvPr>
        </p:nvSpPr>
        <p:spPr/>
        <p:txBody>
          <a:bodyPr/>
          <a:lstStyle/>
          <a:p>
            <a:fld id="{86F5C900-019F-564A-BE8C-9C5F5D279C81}" type="slidenum">
              <a:rPr lang="en-US" smtClean="0"/>
              <a:t>13</a:t>
            </a:fld>
            <a:endParaRPr lang="en-US"/>
          </a:p>
        </p:txBody>
      </p:sp>
    </p:spTree>
    <p:extLst>
      <p:ext uri="{BB962C8B-B14F-4D97-AF65-F5344CB8AC3E}">
        <p14:creationId xmlns:p14="http://schemas.microsoft.com/office/powerpoint/2010/main" val="3945943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President Taylor in 24 withholds information about </a:t>
            </a:r>
            <a:r>
              <a:rPr lang="en-US" sz="1200" kern="1200" dirty="0" err="1">
                <a:solidFill>
                  <a:schemeClr val="tx1"/>
                </a:solidFill>
                <a:effectLst/>
                <a:latin typeface="+mn-lt"/>
                <a:ea typeface="+mn-ea"/>
                <a:cs typeface="+mn-cs"/>
              </a:rPr>
              <a:t>Russion</a:t>
            </a:r>
            <a:r>
              <a:rPr lang="en-US" sz="1200" kern="1200" dirty="0">
                <a:solidFill>
                  <a:schemeClr val="tx1"/>
                </a:solidFill>
                <a:effectLst/>
                <a:latin typeface="+mn-lt"/>
                <a:ea typeface="+mn-ea"/>
                <a:cs typeface="+mn-cs"/>
              </a:rPr>
              <a:t> involvement to maintain the peace treaty.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lie to protect you</a:t>
            </a:r>
          </a:p>
          <a:p>
            <a:endParaRPr lang="en-US" dirty="0"/>
          </a:p>
        </p:txBody>
      </p:sp>
      <p:sp>
        <p:nvSpPr>
          <p:cNvPr id="4" name="Slide Number Placeholder 3"/>
          <p:cNvSpPr>
            <a:spLocks noGrp="1"/>
          </p:cNvSpPr>
          <p:nvPr>
            <p:ph type="sldNum" sz="quarter" idx="10"/>
          </p:nvPr>
        </p:nvSpPr>
        <p:spPr/>
        <p:txBody>
          <a:bodyPr/>
          <a:lstStyle/>
          <a:p>
            <a:fld id="{86F5C900-019F-564A-BE8C-9C5F5D279C81}" type="slidenum">
              <a:rPr lang="en-US" smtClean="0"/>
              <a:t>14</a:t>
            </a:fld>
            <a:endParaRPr lang="en-US"/>
          </a:p>
        </p:txBody>
      </p:sp>
    </p:spTree>
    <p:extLst>
      <p:ext uri="{BB962C8B-B14F-4D97-AF65-F5344CB8AC3E}">
        <p14:creationId xmlns:p14="http://schemas.microsoft.com/office/powerpoint/2010/main" val="6462834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Duality of Values</a:t>
            </a:r>
          </a:p>
          <a:p>
            <a:r>
              <a:rPr lang="en-US" dirty="0"/>
              <a:t>Duel of the Values</a:t>
            </a:r>
          </a:p>
        </p:txBody>
      </p:sp>
      <p:sp>
        <p:nvSpPr>
          <p:cNvPr id="4" name="Slide Number Placeholder 3"/>
          <p:cNvSpPr>
            <a:spLocks noGrp="1"/>
          </p:cNvSpPr>
          <p:nvPr>
            <p:ph type="sldNum" sz="quarter" idx="10"/>
          </p:nvPr>
        </p:nvSpPr>
        <p:spPr/>
        <p:txBody>
          <a:bodyPr/>
          <a:lstStyle/>
          <a:p>
            <a:fld id="{86F5C900-019F-564A-BE8C-9C5F5D279C81}" type="slidenum">
              <a:rPr lang="en-US" smtClean="0"/>
              <a:t>18</a:t>
            </a:fld>
            <a:endParaRPr lang="en-US"/>
          </a:p>
        </p:txBody>
      </p:sp>
    </p:spTree>
    <p:extLst>
      <p:ext uri="{BB962C8B-B14F-4D97-AF65-F5344CB8AC3E}">
        <p14:creationId xmlns:p14="http://schemas.microsoft.com/office/powerpoint/2010/main" val="2176409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Duality of Values</a:t>
            </a:r>
          </a:p>
          <a:p>
            <a:r>
              <a:rPr lang="en-US" dirty="0"/>
              <a:t>Duel of the Values</a:t>
            </a:r>
          </a:p>
        </p:txBody>
      </p:sp>
      <p:sp>
        <p:nvSpPr>
          <p:cNvPr id="4" name="Slide Number Placeholder 3"/>
          <p:cNvSpPr>
            <a:spLocks noGrp="1"/>
          </p:cNvSpPr>
          <p:nvPr>
            <p:ph type="sldNum" sz="quarter" idx="10"/>
          </p:nvPr>
        </p:nvSpPr>
        <p:spPr/>
        <p:txBody>
          <a:bodyPr/>
          <a:lstStyle/>
          <a:p>
            <a:fld id="{86F5C900-019F-564A-BE8C-9C5F5D279C81}" type="slidenum">
              <a:rPr lang="en-US" smtClean="0"/>
              <a:t>19</a:t>
            </a:fld>
            <a:endParaRPr lang="en-US"/>
          </a:p>
        </p:txBody>
      </p:sp>
    </p:spTree>
    <p:extLst>
      <p:ext uri="{BB962C8B-B14F-4D97-AF65-F5344CB8AC3E}">
        <p14:creationId xmlns:p14="http://schemas.microsoft.com/office/powerpoint/2010/main" val="15674668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Duality of Values</a:t>
            </a:r>
          </a:p>
          <a:p>
            <a:r>
              <a:rPr lang="en-US" dirty="0"/>
              <a:t>Duel of the Values</a:t>
            </a:r>
          </a:p>
        </p:txBody>
      </p:sp>
      <p:sp>
        <p:nvSpPr>
          <p:cNvPr id="4" name="Slide Number Placeholder 3"/>
          <p:cNvSpPr>
            <a:spLocks noGrp="1"/>
          </p:cNvSpPr>
          <p:nvPr>
            <p:ph type="sldNum" sz="quarter" idx="10"/>
          </p:nvPr>
        </p:nvSpPr>
        <p:spPr/>
        <p:txBody>
          <a:bodyPr/>
          <a:lstStyle/>
          <a:p>
            <a:fld id="{86F5C900-019F-564A-BE8C-9C5F5D279C81}" type="slidenum">
              <a:rPr lang="en-US" smtClean="0"/>
              <a:t>20</a:t>
            </a:fld>
            <a:endParaRPr lang="en-US"/>
          </a:p>
        </p:txBody>
      </p:sp>
    </p:spTree>
    <p:extLst>
      <p:ext uri="{BB962C8B-B14F-4D97-AF65-F5344CB8AC3E}">
        <p14:creationId xmlns:p14="http://schemas.microsoft.com/office/powerpoint/2010/main" val="37642065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Duality of Values</a:t>
            </a:r>
          </a:p>
          <a:p>
            <a:r>
              <a:rPr lang="en-US" dirty="0"/>
              <a:t>Duel of the Values</a:t>
            </a:r>
          </a:p>
        </p:txBody>
      </p:sp>
      <p:sp>
        <p:nvSpPr>
          <p:cNvPr id="4" name="Slide Number Placeholder 3"/>
          <p:cNvSpPr>
            <a:spLocks noGrp="1"/>
          </p:cNvSpPr>
          <p:nvPr>
            <p:ph type="sldNum" sz="quarter" idx="10"/>
          </p:nvPr>
        </p:nvSpPr>
        <p:spPr/>
        <p:txBody>
          <a:bodyPr/>
          <a:lstStyle/>
          <a:p>
            <a:fld id="{86F5C900-019F-564A-BE8C-9C5F5D279C81}" type="slidenum">
              <a:rPr lang="en-US" smtClean="0"/>
              <a:t>21</a:t>
            </a:fld>
            <a:endParaRPr lang="en-US"/>
          </a:p>
        </p:txBody>
      </p:sp>
    </p:spTree>
    <p:extLst>
      <p:ext uri="{BB962C8B-B14F-4D97-AF65-F5344CB8AC3E}">
        <p14:creationId xmlns:p14="http://schemas.microsoft.com/office/powerpoint/2010/main" val="15559543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Duality of Values</a:t>
            </a:r>
          </a:p>
          <a:p>
            <a:r>
              <a:rPr lang="en-US" dirty="0"/>
              <a:t>Duel of the Values</a:t>
            </a:r>
          </a:p>
        </p:txBody>
      </p:sp>
      <p:sp>
        <p:nvSpPr>
          <p:cNvPr id="4" name="Slide Number Placeholder 3"/>
          <p:cNvSpPr>
            <a:spLocks noGrp="1"/>
          </p:cNvSpPr>
          <p:nvPr>
            <p:ph type="sldNum" sz="quarter" idx="10"/>
          </p:nvPr>
        </p:nvSpPr>
        <p:spPr/>
        <p:txBody>
          <a:bodyPr/>
          <a:lstStyle/>
          <a:p>
            <a:fld id="{86F5C900-019F-564A-BE8C-9C5F5D279C81}" type="slidenum">
              <a:rPr lang="en-US" smtClean="0"/>
              <a:t>22</a:t>
            </a:fld>
            <a:endParaRPr lang="en-US"/>
          </a:p>
        </p:txBody>
      </p:sp>
    </p:spTree>
    <p:extLst>
      <p:ext uri="{BB962C8B-B14F-4D97-AF65-F5344CB8AC3E}">
        <p14:creationId xmlns:p14="http://schemas.microsoft.com/office/powerpoint/2010/main" val="17314661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F5C900-019F-564A-BE8C-9C5F5D279C81}" type="slidenum">
              <a:rPr lang="en-US" smtClean="0"/>
              <a:t>25</a:t>
            </a:fld>
            <a:endParaRPr lang="en-US"/>
          </a:p>
        </p:txBody>
      </p:sp>
    </p:spTree>
    <p:extLst>
      <p:ext uri="{BB962C8B-B14F-4D97-AF65-F5344CB8AC3E}">
        <p14:creationId xmlns:p14="http://schemas.microsoft.com/office/powerpoint/2010/main" val="13651696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F5C900-019F-564A-BE8C-9C5F5D279C81}" type="slidenum">
              <a:rPr lang="en-US" smtClean="0"/>
              <a:t>26</a:t>
            </a:fld>
            <a:endParaRPr lang="en-US"/>
          </a:p>
        </p:txBody>
      </p:sp>
    </p:spTree>
    <p:extLst>
      <p:ext uri="{BB962C8B-B14F-4D97-AF65-F5344CB8AC3E}">
        <p14:creationId xmlns:p14="http://schemas.microsoft.com/office/powerpoint/2010/main" val="15033856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False Dichotomies</a:t>
            </a:r>
          </a:p>
        </p:txBody>
      </p:sp>
      <p:sp>
        <p:nvSpPr>
          <p:cNvPr id="4" name="Slide Number Placeholder 3"/>
          <p:cNvSpPr>
            <a:spLocks noGrp="1"/>
          </p:cNvSpPr>
          <p:nvPr>
            <p:ph type="sldNum" sz="quarter" idx="10"/>
          </p:nvPr>
        </p:nvSpPr>
        <p:spPr/>
        <p:txBody>
          <a:bodyPr/>
          <a:lstStyle/>
          <a:p>
            <a:fld id="{86F5C900-019F-564A-BE8C-9C5F5D279C81}" type="slidenum">
              <a:rPr lang="en-US" smtClean="0"/>
              <a:t>27</a:t>
            </a:fld>
            <a:endParaRPr lang="en-US"/>
          </a:p>
        </p:txBody>
      </p:sp>
    </p:spTree>
    <p:extLst>
      <p:ext uri="{BB962C8B-B14F-4D97-AF65-F5344CB8AC3E}">
        <p14:creationId xmlns:p14="http://schemas.microsoft.com/office/powerpoint/2010/main" val="32678729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&lt;iframe width="560" height="315" </a:t>
            </a:r>
            <a:r>
              <a:rPr lang="en-US" dirty="0" err="1"/>
              <a:t>src</a:t>
            </a:r>
            <a:r>
              <a:rPr lang="en-US" dirty="0"/>
              <a:t>="https://</a:t>
            </a:r>
            <a:r>
              <a:rPr lang="en-US" dirty="0" err="1"/>
              <a:t>www.youtube.com</a:t>
            </a:r>
            <a:r>
              <a:rPr lang="en-US" dirty="0"/>
              <a:t>/embed/O7EZ-CBVgF8?start=72" </a:t>
            </a:r>
            <a:r>
              <a:rPr lang="en-US" dirty="0" err="1"/>
              <a:t>frameborder</a:t>
            </a:r>
            <a:r>
              <a:rPr lang="en-US" dirty="0"/>
              <a:t>="0" allow="</a:t>
            </a:r>
            <a:r>
              <a:rPr lang="en-US" dirty="0" err="1"/>
              <a:t>autoplay</a:t>
            </a:r>
            <a:r>
              <a:rPr lang="en-US" dirty="0"/>
              <a:t>; encrypted-media" </a:t>
            </a:r>
            <a:r>
              <a:rPr lang="en-US" dirty="0" err="1"/>
              <a:t>allowfullscreen</a:t>
            </a:r>
            <a:r>
              <a:rPr lang="en-US" dirty="0"/>
              <a:t>&gt;&lt;/iframe&gt;</a:t>
            </a:r>
          </a:p>
        </p:txBody>
      </p:sp>
      <p:sp>
        <p:nvSpPr>
          <p:cNvPr id="4" name="Slide Number Placeholder 3"/>
          <p:cNvSpPr>
            <a:spLocks noGrp="1"/>
          </p:cNvSpPr>
          <p:nvPr>
            <p:ph type="sldNum" sz="quarter" idx="10"/>
          </p:nvPr>
        </p:nvSpPr>
        <p:spPr/>
        <p:txBody>
          <a:bodyPr/>
          <a:lstStyle/>
          <a:p>
            <a:fld id="{86F5C900-019F-564A-BE8C-9C5F5D279C81}" type="slidenum">
              <a:rPr lang="en-US" smtClean="0"/>
              <a:t>28</a:t>
            </a:fld>
            <a:endParaRPr lang="en-US"/>
          </a:p>
        </p:txBody>
      </p:sp>
    </p:spTree>
    <p:extLst>
      <p:ext uri="{BB962C8B-B14F-4D97-AF65-F5344CB8AC3E}">
        <p14:creationId xmlns:p14="http://schemas.microsoft.com/office/powerpoint/2010/main" val="21473859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Roboto" pitchFamily="2" charset="0"/>
                <a:ea typeface="Roboto" pitchFamily="2" charset="0"/>
              </a:rPr>
              <a:t>Maybe, we don’t need to choose one side or another. We can respect both Empathy &amp; Choice. Maybe we don’t need to ban things, but we need to give people the power to make informed choices. Maybe labeling is the middle ground.</a:t>
            </a:r>
          </a:p>
        </p:txBody>
      </p:sp>
      <p:sp>
        <p:nvSpPr>
          <p:cNvPr id="4" name="Slide Number Placeholder 3"/>
          <p:cNvSpPr>
            <a:spLocks noGrp="1"/>
          </p:cNvSpPr>
          <p:nvPr>
            <p:ph type="sldNum" sz="quarter" idx="10"/>
          </p:nvPr>
        </p:nvSpPr>
        <p:spPr/>
        <p:txBody>
          <a:bodyPr/>
          <a:lstStyle/>
          <a:p>
            <a:fld id="{86F5C900-019F-564A-BE8C-9C5F5D279C81}" type="slidenum">
              <a:rPr lang="en-US" smtClean="0"/>
              <a:t>29</a:t>
            </a:fld>
            <a:endParaRPr lang="en-US"/>
          </a:p>
        </p:txBody>
      </p:sp>
    </p:spTree>
    <p:extLst>
      <p:ext uri="{BB962C8B-B14F-4D97-AF65-F5344CB8AC3E}">
        <p14:creationId xmlns:p14="http://schemas.microsoft.com/office/powerpoint/2010/main" val="26903284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Reasons For Everything</a:t>
            </a:r>
          </a:p>
        </p:txBody>
      </p:sp>
      <p:sp>
        <p:nvSpPr>
          <p:cNvPr id="4" name="Slide Number Placeholder 3"/>
          <p:cNvSpPr>
            <a:spLocks noGrp="1"/>
          </p:cNvSpPr>
          <p:nvPr>
            <p:ph type="sldNum" sz="quarter" idx="10"/>
          </p:nvPr>
        </p:nvSpPr>
        <p:spPr/>
        <p:txBody>
          <a:bodyPr/>
          <a:lstStyle/>
          <a:p>
            <a:fld id="{86F5C900-019F-564A-BE8C-9C5F5D279C81}" type="slidenum">
              <a:rPr lang="en-US" smtClean="0"/>
              <a:t>30</a:t>
            </a:fld>
            <a:endParaRPr lang="en-US"/>
          </a:p>
        </p:txBody>
      </p:sp>
    </p:spTree>
    <p:extLst>
      <p:ext uri="{BB962C8B-B14F-4D97-AF65-F5344CB8AC3E}">
        <p14:creationId xmlns:p14="http://schemas.microsoft.com/office/powerpoint/2010/main" val="2795405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Duality of Values</a:t>
            </a:r>
          </a:p>
          <a:p>
            <a:r>
              <a:rPr lang="en-US" dirty="0"/>
              <a:t>Duel of the Values</a:t>
            </a:r>
          </a:p>
        </p:txBody>
      </p:sp>
      <p:sp>
        <p:nvSpPr>
          <p:cNvPr id="4" name="Slide Number Placeholder 3"/>
          <p:cNvSpPr>
            <a:spLocks noGrp="1"/>
          </p:cNvSpPr>
          <p:nvPr>
            <p:ph type="sldNum" sz="quarter" idx="10"/>
          </p:nvPr>
        </p:nvSpPr>
        <p:spPr/>
        <p:txBody>
          <a:bodyPr/>
          <a:lstStyle/>
          <a:p>
            <a:fld id="{86F5C900-019F-564A-BE8C-9C5F5D279C81}" type="slidenum">
              <a:rPr lang="en-US" smtClean="0"/>
              <a:t>31</a:t>
            </a:fld>
            <a:endParaRPr lang="en-US"/>
          </a:p>
        </p:txBody>
      </p:sp>
    </p:spTree>
    <p:extLst>
      <p:ext uri="{BB962C8B-B14F-4D97-AF65-F5344CB8AC3E}">
        <p14:creationId xmlns:p14="http://schemas.microsoft.com/office/powerpoint/2010/main" val="41491417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Duality of Values</a:t>
            </a:r>
          </a:p>
          <a:p>
            <a:r>
              <a:rPr lang="en-US" dirty="0"/>
              <a:t>Duel of the Values</a:t>
            </a:r>
          </a:p>
        </p:txBody>
      </p:sp>
      <p:sp>
        <p:nvSpPr>
          <p:cNvPr id="4" name="Slide Number Placeholder 3"/>
          <p:cNvSpPr>
            <a:spLocks noGrp="1"/>
          </p:cNvSpPr>
          <p:nvPr>
            <p:ph type="sldNum" sz="quarter" idx="10"/>
          </p:nvPr>
        </p:nvSpPr>
        <p:spPr/>
        <p:txBody>
          <a:bodyPr/>
          <a:lstStyle/>
          <a:p>
            <a:fld id="{86F5C900-019F-564A-BE8C-9C5F5D279C81}" type="slidenum">
              <a:rPr lang="en-US" smtClean="0"/>
              <a:t>32</a:t>
            </a:fld>
            <a:endParaRPr lang="en-US"/>
          </a:p>
        </p:txBody>
      </p:sp>
    </p:spTree>
    <p:extLst>
      <p:ext uri="{BB962C8B-B14F-4D97-AF65-F5344CB8AC3E}">
        <p14:creationId xmlns:p14="http://schemas.microsoft.com/office/powerpoint/2010/main" val="180978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Reasons For Everything</a:t>
            </a:r>
          </a:p>
        </p:txBody>
      </p:sp>
      <p:sp>
        <p:nvSpPr>
          <p:cNvPr id="4" name="Slide Number Placeholder 3"/>
          <p:cNvSpPr>
            <a:spLocks noGrp="1"/>
          </p:cNvSpPr>
          <p:nvPr>
            <p:ph type="sldNum" sz="quarter" idx="10"/>
          </p:nvPr>
        </p:nvSpPr>
        <p:spPr/>
        <p:txBody>
          <a:bodyPr/>
          <a:lstStyle/>
          <a:p>
            <a:fld id="{86F5C900-019F-564A-BE8C-9C5F5D279C81}" type="slidenum">
              <a:rPr lang="en-US" smtClean="0"/>
              <a:t>33</a:t>
            </a:fld>
            <a:endParaRPr lang="en-US"/>
          </a:p>
        </p:txBody>
      </p:sp>
    </p:spTree>
    <p:extLst>
      <p:ext uri="{BB962C8B-B14F-4D97-AF65-F5344CB8AC3E}">
        <p14:creationId xmlns:p14="http://schemas.microsoft.com/office/powerpoint/2010/main" val="27187904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Reasons For Everything</a:t>
            </a:r>
          </a:p>
        </p:txBody>
      </p:sp>
      <p:sp>
        <p:nvSpPr>
          <p:cNvPr id="4" name="Slide Number Placeholder 3"/>
          <p:cNvSpPr>
            <a:spLocks noGrp="1"/>
          </p:cNvSpPr>
          <p:nvPr>
            <p:ph type="sldNum" sz="quarter" idx="10"/>
          </p:nvPr>
        </p:nvSpPr>
        <p:spPr/>
        <p:txBody>
          <a:bodyPr/>
          <a:lstStyle/>
          <a:p>
            <a:fld id="{86F5C900-019F-564A-BE8C-9C5F5D279C81}" type="slidenum">
              <a:rPr lang="en-US" smtClean="0"/>
              <a:t>34</a:t>
            </a:fld>
            <a:endParaRPr lang="en-US"/>
          </a:p>
        </p:txBody>
      </p:sp>
    </p:spTree>
    <p:extLst>
      <p:ext uri="{BB962C8B-B14F-4D97-AF65-F5344CB8AC3E}">
        <p14:creationId xmlns:p14="http://schemas.microsoft.com/office/powerpoint/2010/main" val="32851241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Reasons For Everything</a:t>
            </a:r>
          </a:p>
        </p:txBody>
      </p:sp>
      <p:sp>
        <p:nvSpPr>
          <p:cNvPr id="4" name="Slide Number Placeholder 3"/>
          <p:cNvSpPr>
            <a:spLocks noGrp="1"/>
          </p:cNvSpPr>
          <p:nvPr>
            <p:ph type="sldNum" sz="quarter" idx="10"/>
          </p:nvPr>
        </p:nvSpPr>
        <p:spPr/>
        <p:txBody>
          <a:bodyPr/>
          <a:lstStyle/>
          <a:p>
            <a:fld id="{86F5C900-019F-564A-BE8C-9C5F5D279C81}" type="slidenum">
              <a:rPr lang="en-US" smtClean="0"/>
              <a:t>35</a:t>
            </a:fld>
            <a:endParaRPr lang="en-US"/>
          </a:p>
        </p:txBody>
      </p:sp>
    </p:spTree>
    <p:extLst>
      <p:ext uri="{BB962C8B-B14F-4D97-AF65-F5344CB8AC3E}">
        <p14:creationId xmlns:p14="http://schemas.microsoft.com/office/powerpoint/2010/main" val="36159799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Reasons For Everything</a:t>
            </a:r>
          </a:p>
        </p:txBody>
      </p:sp>
      <p:sp>
        <p:nvSpPr>
          <p:cNvPr id="4" name="Slide Number Placeholder 3"/>
          <p:cNvSpPr>
            <a:spLocks noGrp="1"/>
          </p:cNvSpPr>
          <p:nvPr>
            <p:ph type="sldNum" sz="quarter" idx="10"/>
          </p:nvPr>
        </p:nvSpPr>
        <p:spPr/>
        <p:txBody>
          <a:bodyPr/>
          <a:lstStyle/>
          <a:p>
            <a:fld id="{86F5C900-019F-564A-BE8C-9C5F5D279C81}" type="slidenum">
              <a:rPr lang="en-US" smtClean="0"/>
              <a:t>36</a:t>
            </a:fld>
            <a:endParaRPr lang="en-US"/>
          </a:p>
        </p:txBody>
      </p:sp>
    </p:spTree>
    <p:extLst>
      <p:ext uri="{BB962C8B-B14F-4D97-AF65-F5344CB8AC3E}">
        <p14:creationId xmlns:p14="http://schemas.microsoft.com/office/powerpoint/2010/main" val="14194514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Way of The Liberal</a:t>
            </a:r>
          </a:p>
        </p:txBody>
      </p:sp>
      <p:sp>
        <p:nvSpPr>
          <p:cNvPr id="4" name="Slide Number Placeholder 3"/>
          <p:cNvSpPr>
            <a:spLocks noGrp="1"/>
          </p:cNvSpPr>
          <p:nvPr>
            <p:ph type="sldNum" sz="quarter" idx="10"/>
          </p:nvPr>
        </p:nvSpPr>
        <p:spPr/>
        <p:txBody>
          <a:bodyPr/>
          <a:lstStyle/>
          <a:p>
            <a:fld id="{86F5C900-019F-564A-BE8C-9C5F5D279C81}" type="slidenum">
              <a:rPr lang="en-US" smtClean="0"/>
              <a:t>38</a:t>
            </a:fld>
            <a:endParaRPr lang="en-US"/>
          </a:p>
        </p:txBody>
      </p:sp>
    </p:spTree>
    <p:extLst>
      <p:ext uri="{BB962C8B-B14F-4D97-AF65-F5344CB8AC3E}">
        <p14:creationId xmlns:p14="http://schemas.microsoft.com/office/powerpoint/2010/main" val="2738497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Reasons For Everything</a:t>
            </a:r>
          </a:p>
        </p:txBody>
      </p:sp>
      <p:sp>
        <p:nvSpPr>
          <p:cNvPr id="4" name="Slide Number Placeholder 3"/>
          <p:cNvSpPr>
            <a:spLocks noGrp="1"/>
          </p:cNvSpPr>
          <p:nvPr>
            <p:ph type="sldNum" sz="quarter" idx="10"/>
          </p:nvPr>
        </p:nvSpPr>
        <p:spPr/>
        <p:txBody>
          <a:bodyPr/>
          <a:lstStyle/>
          <a:p>
            <a:fld id="{86F5C900-019F-564A-BE8C-9C5F5D279C81}" type="slidenum">
              <a:rPr lang="en-US" smtClean="0"/>
              <a:t>39</a:t>
            </a:fld>
            <a:endParaRPr lang="en-US"/>
          </a:p>
        </p:txBody>
      </p:sp>
    </p:spTree>
    <p:extLst>
      <p:ext uri="{BB962C8B-B14F-4D97-AF65-F5344CB8AC3E}">
        <p14:creationId xmlns:p14="http://schemas.microsoft.com/office/powerpoint/2010/main" val="21993156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F5C900-019F-564A-BE8C-9C5F5D279C81}" type="slidenum">
              <a:rPr lang="en-US" smtClean="0"/>
              <a:t>40</a:t>
            </a:fld>
            <a:endParaRPr lang="en-US"/>
          </a:p>
        </p:txBody>
      </p:sp>
    </p:spTree>
    <p:extLst>
      <p:ext uri="{BB962C8B-B14F-4D97-AF65-F5344CB8AC3E}">
        <p14:creationId xmlns:p14="http://schemas.microsoft.com/office/powerpoint/2010/main" val="551351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F5C900-019F-564A-BE8C-9C5F5D279C81}" type="slidenum">
              <a:rPr lang="en-US" smtClean="0"/>
              <a:t>41</a:t>
            </a:fld>
            <a:endParaRPr lang="en-US"/>
          </a:p>
        </p:txBody>
      </p:sp>
    </p:spTree>
    <p:extLst>
      <p:ext uri="{BB962C8B-B14F-4D97-AF65-F5344CB8AC3E}">
        <p14:creationId xmlns:p14="http://schemas.microsoft.com/office/powerpoint/2010/main" val="22944373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3C3BC-796A-BD48-B38D-6750270C69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2E7234-07FB-484F-A91D-BCE16AE7E5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2128B34-B7AE-5D44-B12C-806A5D4B1A2A}"/>
              </a:ext>
            </a:extLst>
          </p:cNvPr>
          <p:cNvSpPr>
            <a:spLocks noGrp="1"/>
          </p:cNvSpPr>
          <p:nvPr>
            <p:ph type="dt" sz="half" idx="10"/>
          </p:nvPr>
        </p:nvSpPr>
        <p:spPr/>
        <p:txBody>
          <a:bodyPr/>
          <a:lstStyle/>
          <a:p>
            <a:fld id="{E50FB12C-B6FE-1946-9FB9-088D80316025}" type="datetimeFigureOut">
              <a:rPr lang="en-US" smtClean="0"/>
              <a:t>3/18/18</a:t>
            </a:fld>
            <a:endParaRPr lang="en-US"/>
          </a:p>
        </p:txBody>
      </p:sp>
      <p:sp>
        <p:nvSpPr>
          <p:cNvPr id="5" name="Footer Placeholder 4">
            <a:extLst>
              <a:ext uri="{FF2B5EF4-FFF2-40B4-BE49-F238E27FC236}">
                <a16:creationId xmlns:a16="http://schemas.microsoft.com/office/drawing/2014/main" id="{17B67EF0-36B8-8D46-9E80-D62838871F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74957A-18E0-354D-8AB8-39C2844C874F}"/>
              </a:ext>
            </a:extLst>
          </p:cNvPr>
          <p:cNvSpPr>
            <a:spLocks noGrp="1"/>
          </p:cNvSpPr>
          <p:nvPr>
            <p:ph type="sldNum" sz="quarter" idx="12"/>
          </p:nvPr>
        </p:nvSpPr>
        <p:spPr/>
        <p:txBody>
          <a:bodyPr/>
          <a:lstStyle/>
          <a:p>
            <a:fld id="{24EDB04B-824A-034A-89D7-4A639FFBAB71}" type="slidenum">
              <a:rPr lang="en-US" smtClean="0"/>
              <a:t>‹#›</a:t>
            </a:fld>
            <a:endParaRPr lang="en-US"/>
          </a:p>
        </p:txBody>
      </p:sp>
    </p:spTree>
    <p:extLst>
      <p:ext uri="{BB962C8B-B14F-4D97-AF65-F5344CB8AC3E}">
        <p14:creationId xmlns:p14="http://schemas.microsoft.com/office/powerpoint/2010/main" val="2039950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19A2F-AC93-C242-9378-C328618E31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BFAE0C-631B-C14C-B79B-63D97CBA6AD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79EF7C-63D3-EE45-AC6B-2D01FE915DCD}"/>
              </a:ext>
            </a:extLst>
          </p:cNvPr>
          <p:cNvSpPr>
            <a:spLocks noGrp="1"/>
          </p:cNvSpPr>
          <p:nvPr>
            <p:ph type="dt" sz="half" idx="10"/>
          </p:nvPr>
        </p:nvSpPr>
        <p:spPr/>
        <p:txBody>
          <a:bodyPr/>
          <a:lstStyle/>
          <a:p>
            <a:fld id="{E50FB12C-B6FE-1946-9FB9-088D80316025}" type="datetimeFigureOut">
              <a:rPr lang="en-US" smtClean="0"/>
              <a:t>3/18/18</a:t>
            </a:fld>
            <a:endParaRPr lang="en-US"/>
          </a:p>
        </p:txBody>
      </p:sp>
      <p:sp>
        <p:nvSpPr>
          <p:cNvPr id="5" name="Footer Placeholder 4">
            <a:extLst>
              <a:ext uri="{FF2B5EF4-FFF2-40B4-BE49-F238E27FC236}">
                <a16:creationId xmlns:a16="http://schemas.microsoft.com/office/drawing/2014/main" id="{B15E8C47-F2EB-3345-84F9-16E368D8D0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97FB6E-082F-1248-B9F3-4946A6CE80AB}"/>
              </a:ext>
            </a:extLst>
          </p:cNvPr>
          <p:cNvSpPr>
            <a:spLocks noGrp="1"/>
          </p:cNvSpPr>
          <p:nvPr>
            <p:ph type="sldNum" sz="quarter" idx="12"/>
          </p:nvPr>
        </p:nvSpPr>
        <p:spPr/>
        <p:txBody>
          <a:bodyPr/>
          <a:lstStyle/>
          <a:p>
            <a:fld id="{24EDB04B-824A-034A-89D7-4A639FFBAB71}" type="slidenum">
              <a:rPr lang="en-US" smtClean="0"/>
              <a:t>‹#›</a:t>
            </a:fld>
            <a:endParaRPr lang="en-US"/>
          </a:p>
        </p:txBody>
      </p:sp>
    </p:spTree>
    <p:extLst>
      <p:ext uri="{BB962C8B-B14F-4D97-AF65-F5344CB8AC3E}">
        <p14:creationId xmlns:p14="http://schemas.microsoft.com/office/powerpoint/2010/main" val="3987392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30794-2AAE-C644-B2E7-07A7C7B7C2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A911B02-3FB9-8144-8F0E-EBCF84C61C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19C5565-A0FF-C646-8C33-9B4F66E1F341}"/>
              </a:ext>
            </a:extLst>
          </p:cNvPr>
          <p:cNvSpPr>
            <a:spLocks noGrp="1"/>
          </p:cNvSpPr>
          <p:nvPr>
            <p:ph type="dt" sz="half" idx="10"/>
          </p:nvPr>
        </p:nvSpPr>
        <p:spPr/>
        <p:txBody>
          <a:bodyPr/>
          <a:lstStyle/>
          <a:p>
            <a:fld id="{E50FB12C-B6FE-1946-9FB9-088D80316025}" type="datetimeFigureOut">
              <a:rPr lang="en-US" smtClean="0"/>
              <a:t>3/18/18</a:t>
            </a:fld>
            <a:endParaRPr lang="en-US"/>
          </a:p>
        </p:txBody>
      </p:sp>
      <p:sp>
        <p:nvSpPr>
          <p:cNvPr id="5" name="Footer Placeholder 4">
            <a:extLst>
              <a:ext uri="{FF2B5EF4-FFF2-40B4-BE49-F238E27FC236}">
                <a16:creationId xmlns:a16="http://schemas.microsoft.com/office/drawing/2014/main" id="{A89CBC98-DE18-B54D-A58E-57C6C50300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BE58C5-4B52-1946-B1B4-CD9A4EC95D1F}"/>
              </a:ext>
            </a:extLst>
          </p:cNvPr>
          <p:cNvSpPr>
            <a:spLocks noGrp="1"/>
          </p:cNvSpPr>
          <p:nvPr>
            <p:ph type="sldNum" sz="quarter" idx="12"/>
          </p:nvPr>
        </p:nvSpPr>
        <p:spPr/>
        <p:txBody>
          <a:bodyPr/>
          <a:lstStyle/>
          <a:p>
            <a:fld id="{24EDB04B-824A-034A-89D7-4A639FFBAB71}" type="slidenum">
              <a:rPr lang="en-US" smtClean="0"/>
              <a:t>‹#›</a:t>
            </a:fld>
            <a:endParaRPr lang="en-US"/>
          </a:p>
        </p:txBody>
      </p:sp>
    </p:spTree>
    <p:extLst>
      <p:ext uri="{BB962C8B-B14F-4D97-AF65-F5344CB8AC3E}">
        <p14:creationId xmlns:p14="http://schemas.microsoft.com/office/powerpoint/2010/main" val="22518388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6EAE7-58DF-174D-841D-B73EAA47F5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9B7CBC-A61B-9843-9C01-AE8D13687B6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A85965-AD13-1F49-B3A6-3F055AF5423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661C300-0FA4-8040-A7C3-81A54FD74ED5}"/>
              </a:ext>
            </a:extLst>
          </p:cNvPr>
          <p:cNvSpPr>
            <a:spLocks noGrp="1"/>
          </p:cNvSpPr>
          <p:nvPr>
            <p:ph type="dt" sz="half" idx="10"/>
          </p:nvPr>
        </p:nvSpPr>
        <p:spPr/>
        <p:txBody>
          <a:bodyPr/>
          <a:lstStyle/>
          <a:p>
            <a:fld id="{E50FB12C-B6FE-1946-9FB9-088D80316025}" type="datetimeFigureOut">
              <a:rPr lang="en-US" smtClean="0"/>
              <a:t>3/18/18</a:t>
            </a:fld>
            <a:endParaRPr lang="en-US"/>
          </a:p>
        </p:txBody>
      </p:sp>
      <p:sp>
        <p:nvSpPr>
          <p:cNvPr id="6" name="Footer Placeholder 5">
            <a:extLst>
              <a:ext uri="{FF2B5EF4-FFF2-40B4-BE49-F238E27FC236}">
                <a16:creationId xmlns:a16="http://schemas.microsoft.com/office/drawing/2014/main" id="{B95BDB38-7D12-C142-B804-0F44BF2A09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6CEA0F-4F0E-514D-AE94-B20146D06182}"/>
              </a:ext>
            </a:extLst>
          </p:cNvPr>
          <p:cNvSpPr>
            <a:spLocks noGrp="1"/>
          </p:cNvSpPr>
          <p:nvPr>
            <p:ph type="sldNum" sz="quarter" idx="12"/>
          </p:nvPr>
        </p:nvSpPr>
        <p:spPr/>
        <p:txBody>
          <a:bodyPr/>
          <a:lstStyle/>
          <a:p>
            <a:fld id="{24EDB04B-824A-034A-89D7-4A639FFBAB71}" type="slidenum">
              <a:rPr lang="en-US" smtClean="0"/>
              <a:t>‹#›</a:t>
            </a:fld>
            <a:endParaRPr lang="en-US"/>
          </a:p>
        </p:txBody>
      </p:sp>
    </p:spTree>
    <p:extLst>
      <p:ext uri="{BB962C8B-B14F-4D97-AF65-F5344CB8AC3E}">
        <p14:creationId xmlns:p14="http://schemas.microsoft.com/office/powerpoint/2010/main" val="3358399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C871C-D2E4-514B-9FCB-EA91060E579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B91B0B9-CE2D-104E-8764-E10356982F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2D58666-BA20-DA4D-BE8B-26C1E9C73C9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D7524F-DED5-054F-9FF1-E0B2E9E3D5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4CF6EA0-D580-534D-9740-0C2E51F905D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70E2A2-E334-0E4A-9C29-7FEB08CA3072}"/>
              </a:ext>
            </a:extLst>
          </p:cNvPr>
          <p:cNvSpPr>
            <a:spLocks noGrp="1"/>
          </p:cNvSpPr>
          <p:nvPr>
            <p:ph type="dt" sz="half" idx="10"/>
          </p:nvPr>
        </p:nvSpPr>
        <p:spPr/>
        <p:txBody>
          <a:bodyPr/>
          <a:lstStyle/>
          <a:p>
            <a:fld id="{E50FB12C-B6FE-1946-9FB9-088D80316025}" type="datetimeFigureOut">
              <a:rPr lang="en-US" smtClean="0"/>
              <a:t>3/18/18</a:t>
            </a:fld>
            <a:endParaRPr lang="en-US"/>
          </a:p>
        </p:txBody>
      </p:sp>
      <p:sp>
        <p:nvSpPr>
          <p:cNvPr id="8" name="Footer Placeholder 7">
            <a:extLst>
              <a:ext uri="{FF2B5EF4-FFF2-40B4-BE49-F238E27FC236}">
                <a16:creationId xmlns:a16="http://schemas.microsoft.com/office/drawing/2014/main" id="{B8F3CD18-00C7-714E-B767-7BDC67A0937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56FFF63-8268-AA4C-B582-33820CFB3B1E}"/>
              </a:ext>
            </a:extLst>
          </p:cNvPr>
          <p:cNvSpPr>
            <a:spLocks noGrp="1"/>
          </p:cNvSpPr>
          <p:nvPr>
            <p:ph type="sldNum" sz="quarter" idx="12"/>
          </p:nvPr>
        </p:nvSpPr>
        <p:spPr/>
        <p:txBody>
          <a:bodyPr/>
          <a:lstStyle/>
          <a:p>
            <a:fld id="{24EDB04B-824A-034A-89D7-4A639FFBAB71}" type="slidenum">
              <a:rPr lang="en-US" smtClean="0"/>
              <a:t>‹#›</a:t>
            </a:fld>
            <a:endParaRPr lang="en-US"/>
          </a:p>
        </p:txBody>
      </p:sp>
    </p:spTree>
    <p:extLst>
      <p:ext uri="{BB962C8B-B14F-4D97-AF65-F5344CB8AC3E}">
        <p14:creationId xmlns:p14="http://schemas.microsoft.com/office/powerpoint/2010/main" val="1726571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A5623-F97A-B54C-828C-F3C81301148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C46F478-4E9E-164D-81A3-AF7D9197EB9E}"/>
              </a:ext>
            </a:extLst>
          </p:cNvPr>
          <p:cNvSpPr>
            <a:spLocks noGrp="1"/>
          </p:cNvSpPr>
          <p:nvPr>
            <p:ph type="dt" sz="half" idx="10"/>
          </p:nvPr>
        </p:nvSpPr>
        <p:spPr/>
        <p:txBody>
          <a:bodyPr/>
          <a:lstStyle/>
          <a:p>
            <a:fld id="{E50FB12C-B6FE-1946-9FB9-088D80316025}" type="datetimeFigureOut">
              <a:rPr lang="en-US" smtClean="0"/>
              <a:t>3/18/18</a:t>
            </a:fld>
            <a:endParaRPr lang="en-US"/>
          </a:p>
        </p:txBody>
      </p:sp>
      <p:sp>
        <p:nvSpPr>
          <p:cNvPr id="4" name="Footer Placeholder 3">
            <a:extLst>
              <a:ext uri="{FF2B5EF4-FFF2-40B4-BE49-F238E27FC236}">
                <a16:creationId xmlns:a16="http://schemas.microsoft.com/office/drawing/2014/main" id="{B6198F70-7869-3C49-962B-2A506F57BA1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0D45F51-E0F1-4440-A23C-B3EC3CA90CF3}"/>
              </a:ext>
            </a:extLst>
          </p:cNvPr>
          <p:cNvSpPr>
            <a:spLocks noGrp="1"/>
          </p:cNvSpPr>
          <p:nvPr>
            <p:ph type="sldNum" sz="quarter" idx="12"/>
          </p:nvPr>
        </p:nvSpPr>
        <p:spPr/>
        <p:txBody>
          <a:bodyPr/>
          <a:lstStyle/>
          <a:p>
            <a:fld id="{24EDB04B-824A-034A-89D7-4A639FFBAB71}" type="slidenum">
              <a:rPr lang="en-US" smtClean="0"/>
              <a:t>‹#›</a:t>
            </a:fld>
            <a:endParaRPr lang="en-US"/>
          </a:p>
        </p:txBody>
      </p:sp>
    </p:spTree>
    <p:extLst>
      <p:ext uri="{BB962C8B-B14F-4D97-AF65-F5344CB8AC3E}">
        <p14:creationId xmlns:p14="http://schemas.microsoft.com/office/powerpoint/2010/main" val="1949325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6E6C3F-6F0A-2146-92C9-E71A820ED926}"/>
              </a:ext>
            </a:extLst>
          </p:cNvPr>
          <p:cNvSpPr>
            <a:spLocks noGrp="1"/>
          </p:cNvSpPr>
          <p:nvPr>
            <p:ph type="dt" sz="half" idx="10"/>
          </p:nvPr>
        </p:nvSpPr>
        <p:spPr/>
        <p:txBody>
          <a:bodyPr/>
          <a:lstStyle/>
          <a:p>
            <a:fld id="{E50FB12C-B6FE-1946-9FB9-088D80316025}" type="datetimeFigureOut">
              <a:rPr lang="en-US" smtClean="0"/>
              <a:t>3/18/18</a:t>
            </a:fld>
            <a:endParaRPr lang="en-US"/>
          </a:p>
        </p:txBody>
      </p:sp>
      <p:sp>
        <p:nvSpPr>
          <p:cNvPr id="3" name="Footer Placeholder 2">
            <a:extLst>
              <a:ext uri="{FF2B5EF4-FFF2-40B4-BE49-F238E27FC236}">
                <a16:creationId xmlns:a16="http://schemas.microsoft.com/office/drawing/2014/main" id="{AAD73100-6DBF-4847-A3AD-C75BDBFB58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F45BAB1-3276-2049-87D4-A837ACF99E06}"/>
              </a:ext>
            </a:extLst>
          </p:cNvPr>
          <p:cNvSpPr>
            <a:spLocks noGrp="1"/>
          </p:cNvSpPr>
          <p:nvPr>
            <p:ph type="sldNum" sz="quarter" idx="12"/>
          </p:nvPr>
        </p:nvSpPr>
        <p:spPr/>
        <p:txBody>
          <a:bodyPr/>
          <a:lstStyle/>
          <a:p>
            <a:fld id="{24EDB04B-824A-034A-89D7-4A639FFBAB71}" type="slidenum">
              <a:rPr lang="en-US" smtClean="0"/>
              <a:t>‹#›</a:t>
            </a:fld>
            <a:endParaRPr lang="en-US"/>
          </a:p>
        </p:txBody>
      </p:sp>
    </p:spTree>
    <p:extLst>
      <p:ext uri="{BB962C8B-B14F-4D97-AF65-F5344CB8AC3E}">
        <p14:creationId xmlns:p14="http://schemas.microsoft.com/office/powerpoint/2010/main" val="1270755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5387D-F2C3-3A46-BB05-24B9F42DEA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4FA2655-F94A-0547-8166-A660D7A52A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61151E2-0A80-4A47-B8EB-D5A7571954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8707E1C-0B96-5B4C-8FA3-C528B74A8E45}"/>
              </a:ext>
            </a:extLst>
          </p:cNvPr>
          <p:cNvSpPr>
            <a:spLocks noGrp="1"/>
          </p:cNvSpPr>
          <p:nvPr>
            <p:ph type="dt" sz="half" idx="10"/>
          </p:nvPr>
        </p:nvSpPr>
        <p:spPr/>
        <p:txBody>
          <a:bodyPr/>
          <a:lstStyle/>
          <a:p>
            <a:fld id="{E50FB12C-B6FE-1946-9FB9-088D80316025}" type="datetimeFigureOut">
              <a:rPr lang="en-US" smtClean="0"/>
              <a:t>3/18/18</a:t>
            </a:fld>
            <a:endParaRPr lang="en-US"/>
          </a:p>
        </p:txBody>
      </p:sp>
      <p:sp>
        <p:nvSpPr>
          <p:cNvPr id="6" name="Footer Placeholder 5">
            <a:extLst>
              <a:ext uri="{FF2B5EF4-FFF2-40B4-BE49-F238E27FC236}">
                <a16:creationId xmlns:a16="http://schemas.microsoft.com/office/drawing/2014/main" id="{A0815FBC-2BD3-7848-A093-4F3AACD339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C97BA8-D91F-3342-ACA1-F633DCB38FBF}"/>
              </a:ext>
            </a:extLst>
          </p:cNvPr>
          <p:cNvSpPr>
            <a:spLocks noGrp="1"/>
          </p:cNvSpPr>
          <p:nvPr>
            <p:ph type="sldNum" sz="quarter" idx="12"/>
          </p:nvPr>
        </p:nvSpPr>
        <p:spPr/>
        <p:txBody>
          <a:bodyPr/>
          <a:lstStyle/>
          <a:p>
            <a:fld id="{24EDB04B-824A-034A-89D7-4A639FFBAB71}" type="slidenum">
              <a:rPr lang="en-US" smtClean="0"/>
              <a:t>‹#›</a:t>
            </a:fld>
            <a:endParaRPr lang="en-US"/>
          </a:p>
        </p:txBody>
      </p:sp>
    </p:spTree>
    <p:extLst>
      <p:ext uri="{BB962C8B-B14F-4D97-AF65-F5344CB8AC3E}">
        <p14:creationId xmlns:p14="http://schemas.microsoft.com/office/powerpoint/2010/main" val="8137530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3BA09-A4A9-CB4A-B7F9-2184342DDD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FABCCC1-2AEF-E54E-8043-F6863AD0E3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F2820C-4F40-4145-A2AB-74910B85E7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2AA92C1-E6A8-B44F-A93F-11CEFA6CCB2B}"/>
              </a:ext>
            </a:extLst>
          </p:cNvPr>
          <p:cNvSpPr>
            <a:spLocks noGrp="1"/>
          </p:cNvSpPr>
          <p:nvPr>
            <p:ph type="dt" sz="half" idx="10"/>
          </p:nvPr>
        </p:nvSpPr>
        <p:spPr/>
        <p:txBody>
          <a:bodyPr/>
          <a:lstStyle/>
          <a:p>
            <a:fld id="{E50FB12C-B6FE-1946-9FB9-088D80316025}" type="datetimeFigureOut">
              <a:rPr lang="en-US" smtClean="0"/>
              <a:t>3/18/18</a:t>
            </a:fld>
            <a:endParaRPr lang="en-US"/>
          </a:p>
        </p:txBody>
      </p:sp>
      <p:sp>
        <p:nvSpPr>
          <p:cNvPr id="6" name="Footer Placeholder 5">
            <a:extLst>
              <a:ext uri="{FF2B5EF4-FFF2-40B4-BE49-F238E27FC236}">
                <a16:creationId xmlns:a16="http://schemas.microsoft.com/office/drawing/2014/main" id="{785EF0BC-2994-074B-8F8F-22EB287DAB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2975E7-A893-8441-9C8C-96E4E3B46E6B}"/>
              </a:ext>
            </a:extLst>
          </p:cNvPr>
          <p:cNvSpPr>
            <a:spLocks noGrp="1"/>
          </p:cNvSpPr>
          <p:nvPr>
            <p:ph type="sldNum" sz="quarter" idx="12"/>
          </p:nvPr>
        </p:nvSpPr>
        <p:spPr/>
        <p:txBody>
          <a:bodyPr/>
          <a:lstStyle/>
          <a:p>
            <a:fld id="{24EDB04B-824A-034A-89D7-4A639FFBAB71}" type="slidenum">
              <a:rPr lang="en-US" smtClean="0"/>
              <a:t>‹#›</a:t>
            </a:fld>
            <a:endParaRPr lang="en-US"/>
          </a:p>
        </p:txBody>
      </p:sp>
    </p:spTree>
    <p:extLst>
      <p:ext uri="{BB962C8B-B14F-4D97-AF65-F5344CB8AC3E}">
        <p14:creationId xmlns:p14="http://schemas.microsoft.com/office/powerpoint/2010/main" val="1057820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CBB5A-E3E5-C941-933B-45A7E7AF711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A99D33E-8585-A24F-9F82-E8550E4A8DE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41EBA2-F2CC-3442-82C8-A4BAC87068F8}"/>
              </a:ext>
            </a:extLst>
          </p:cNvPr>
          <p:cNvSpPr>
            <a:spLocks noGrp="1"/>
          </p:cNvSpPr>
          <p:nvPr>
            <p:ph type="dt" sz="half" idx="10"/>
          </p:nvPr>
        </p:nvSpPr>
        <p:spPr/>
        <p:txBody>
          <a:bodyPr/>
          <a:lstStyle/>
          <a:p>
            <a:fld id="{E50FB12C-B6FE-1946-9FB9-088D80316025}" type="datetimeFigureOut">
              <a:rPr lang="en-US" smtClean="0"/>
              <a:t>3/18/18</a:t>
            </a:fld>
            <a:endParaRPr lang="en-US"/>
          </a:p>
        </p:txBody>
      </p:sp>
      <p:sp>
        <p:nvSpPr>
          <p:cNvPr id="5" name="Footer Placeholder 4">
            <a:extLst>
              <a:ext uri="{FF2B5EF4-FFF2-40B4-BE49-F238E27FC236}">
                <a16:creationId xmlns:a16="http://schemas.microsoft.com/office/drawing/2014/main" id="{029C85A1-6313-4743-839F-6BA20E6AEF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F055A4-EDEC-F243-8051-1432C827D981}"/>
              </a:ext>
            </a:extLst>
          </p:cNvPr>
          <p:cNvSpPr>
            <a:spLocks noGrp="1"/>
          </p:cNvSpPr>
          <p:nvPr>
            <p:ph type="sldNum" sz="quarter" idx="12"/>
          </p:nvPr>
        </p:nvSpPr>
        <p:spPr/>
        <p:txBody>
          <a:bodyPr/>
          <a:lstStyle/>
          <a:p>
            <a:fld id="{24EDB04B-824A-034A-89D7-4A639FFBAB71}" type="slidenum">
              <a:rPr lang="en-US" smtClean="0"/>
              <a:t>‹#›</a:t>
            </a:fld>
            <a:endParaRPr lang="en-US"/>
          </a:p>
        </p:txBody>
      </p:sp>
    </p:spTree>
    <p:extLst>
      <p:ext uri="{BB962C8B-B14F-4D97-AF65-F5344CB8AC3E}">
        <p14:creationId xmlns:p14="http://schemas.microsoft.com/office/powerpoint/2010/main" val="1752553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39382D-FC6E-6444-AFDC-0C07FF88EBA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1387EAC-4E64-3A4F-9762-50CD21324BC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2BE1FF-2370-954E-9243-2DC441B2D95A}"/>
              </a:ext>
            </a:extLst>
          </p:cNvPr>
          <p:cNvSpPr>
            <a:spLocks noGrp="1"/>
          </p:cNvSpPr>
          <p:nvPr>
            <p:ph type="dt" sz="half" idx="10"/>
          </p:nvPr>
        </p:nvSpPr>
        <p:spPr/>
        <p:txBody>
          <a:bodyPr/>
          <a:lstStyle/>
          <a:p>
            <a:fld id="{E50FB12C-B6FE-1946-9FB9-088D80316025}" type="datetimeFigureOut">
              <a:rPr lang="en-US" smtClean="0"/>
              <a:t>3/18/18</a:t>
            </a:fld>
            <a:endParaRPr lang="en-US"/>
          </a:p>
        </p:txBody>
      </p:sp>
      <p:sp>
        <p:nvSpPr>
          <p:cNvPr id="5" name="Footer Placeholder 4">
            <a:extLst>
              <a:ext uri="{FF2B5EF4-FFF2-40B4-BE49-F238E27FC236}">
                <a16:creationId xmlns:a16="http://schemas.microsoft.com/office/drawing/2014/main" id="{F360DDEB-BFFA-FC43-A008-B86A3CCEE8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AF4204-F2D5-CC46-B972-D4444E3EFB92}"/>
              </a:ext>
            </a:extLst>
          </p:cNvPr>
          <p:cNvSpPr>
            <a:spLocks noGrp="1"/>
          </p:cNvSpPr>
          <p:nvPr>
            <p:ph type="sldNum" sz="quarter" idx="12"/>
          </p:nvPr>
        </p:nvSpPr>
        <p:spPr/>
        <p:txBody>
          <a:bodyPr/>
          <a:lstStyle/>
          <a:p>
            <a:fld id="{24EDB04B-824A-034A-89D7-4A639FFBAB71}" type="slidenum">
              <a:rPr lang="en-US" smtClean="0"/>
              <a:t>‹#›</a:t>
            </a:fld>
            <a:endParaRPr lang="en-US"/>
          </a:p>
        </p:txBody>
      </p:sp>
    </p:spTree>
    <p:extLst>
      <p:ext uri="{BB962C8B-B14F-4D97-AF65-F5344CB8AC3E}">
        <p14:creationId xmlns:p14="http://schemas.microsoft.com/office/powerpoint/2010/main" val="3721874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7A9A0C-D356-D342-BFE0-3A6D800DBF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F28C281-E85F-254D-94D2-499ED97ECE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9FF521-A436-F643-AE53-F02CDF0C8A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0FB12C-B6FE-1946-9FB9-088D80316025}" type="datetimeFigureOut">
              <a:rPr lang="en-US" smtClean="0"/>
              <a:t>3/18/18</a:t>
            </a:fld>
            <a:endParaRPr lang="en-US"/>
          </a:p>
        </p:txBody>
      </p:sp>
      <p:sp>
        <p:nvSpPr>
          <p:cNvPr id="5" name="Footer Placeholder 4">
            <a:extLst>
              <a:ext uri="{FF2B5EF4-FFF2-40B4-BE49-F238E27FC236}">
                <a16:creationId xmlns:a16="http://schemas.microsoft.com/office/drawing/2014/main" id="{8EF371C3-60E0-7A47-AFA1-73C708B4C0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5CFEF8A-6A4D-E943-B495-DAAF9EDA0B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EDB04B-824A-034A-89D7-4A639FFBAB71}" type="slidenum">
              <a:rPr lang="en-US" smtClean="0"/>
              <a:t>‹#›</a:t>
            </a:fld>
            <a:endParaRPr lang="en-US"/>
          </a:p>
        </p:txBody>
      </p:sp>
    </p:spTree>
    <p:extLst>
      <p:ext uri="{BB962C8B-B14F-4D97-AF65-F5344CB8AC3E}">
        <p14:creationId xmlns:p14="http://schemas.microsoft.com/office/powerpoint/2010/main" val="39454622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CCBA67-538C-6E43-82FC-68116F592CAB}"/>
              </a:ext>
            </a:extLst>
          </p:cNvPr>
          <p:cNvSpPr txBox="1"/>
          <p:nvPr/>
        </p:nvSpPr>
        <p:spPr>
          <a:xfrm>
            <a:off x="3035300" y="1193800"/>
            <a:ext cx="5994400" cy="1723549"/>
          </a:xfrm>
          <a:prstGeom prst="rect">
            <a:avLst/>
          </a:prstGeom>
          <a:noFill/>
        </p:spPr>
        <p:txBody>
          <a:bodyPr wrap="square" rtlCol="0">
            <a:spAutoFit/>
          </a:bodyPr>
          <a:lstStyle/>
          <a:p>
            <a:r>
              <a:rPr lang="en-US" sz="6000" dirty="0">
                <a:solidFill>
                  <a:srgbClr val="00B0F0"/>
                </a:solidFill>
                <a:latin typeface="Roboto Medium" pitchFamily="2" charset="0"/>
                <a:ea typeface="Roboto Medium" pitchFamily="2" charset="0"/>
              </a:rPr>
              <a:t>Culture + Values</a:t>
            </a:r>
          </a:p>
          <a:p>
            <a:endParaRPr lang="en-US" sz="1000" dirty="0">
              <a:solidFill>
                <a:schemeClr val="accent5">
                  <a:lumMod val="40000"/>
                  <a:lumOff val="60000"/>
                </a:schemeClr>
              </a:solidFill>
              <a:latin typeface="Roboto" pitchFamily="2" charset="0"/>
              <a:ea typeface="Roboto" pitchFamily="2" charset="0"/>
            </a:endParaRPr>
          </a:p>
          <a:p>
            <a:r>
              <a:rPr lang="en-US" sz="3600" dirty="0">
                <a:solidFill>
                  <a:schemeClr val="accent5">
                    <a:lumMod val="40000"/>
                    <a:lumOff val="60000"/>
                  </a:schemeClr>
                </a:solidFill>
                <a:latin typeface="Roboto" pitchFamily="2" charset="0"/>
                <a:ea typeface="Roboto" pitchFamily="2" charset="0"/>
              </a:rPr>
              <a:t>Amador Chavez</a:t>
            </a:r>
          </a:p>
        </p:txBody>
      </p:sp>
      <p:pic>
        <p:nvPicPr>
          <p:cNvPr id="10" name="Picture 9">
            <a:extLst>
              <a:ext uri="{FF2B5EF4-FFF2-40B4-BE49-F238E27FC236}">
                <a16:creationId xmlns:a16="http://schemas.microsoft.com/office/drawing/2014/main" id="{72658A92-72A0-BC45-9402-2B68D4B29250}"/>
              </a:ext>
            </a:extLst>
          </p:cNvPr>
          <p:cNvPicPr>
            <a:picLocks noChangeAspect="1"/>
          </p:cNvPicPr>
          <p:nvPr/>
        </p:nvPicPr>
        <p:blipFill>
          <a:blip r:embed="rId2">
            <a:alphaModFix amt="35000"/>
          </a:blip>
          <a:stretch>
            <a:fillRect/>
          </a:stretch>
        </p:blipFill>
        <p:spPr>
          <a:xfrm>
            <a:off x="9525001" y="4724400"/>
            <a:ext cx="2316896" cy="2316896"/>
          </a:xfrm>
          <a:prstGeom prst="rect">
            <a:avLst/>
          </a:prstGeom>
        </p:spPr>
      </p:pic>
      <p:sp>
        <p:nvSpPr>
          <p:cNvPr id="11" name="Rectangle 10">
            <a:extLst>
              <a:ext uri="{FF2B5EF4-FFF2-40B4-BE49-F238E27FC236}">
                <a16:creationId xmlns:a16="http://schemas.microsoft.com/office/drawing/2014/main" id="{2D90CD75-C0D9-9E49-8E78-DFA185D56393}"/>
              </a:ext>
            </a:extLst>
          </p:cNvPr>
          <p:cNvSpPr/>
          <p:nvPr/>
        </p:nvSpPr>
        <p:spPr>
          <a:xfrm>
            <a:off x="0" y="0"/>
            <a:ext cx="24765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227423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D90CD75-C0D9-9E49-8E78-DFA185D56393}"/>
              </a:ext>
            </a:extLst>
          </p:cNvPr>
          <p:cNvSpPr/>
          <p:nvPr/>
        </p:nvSpPr>
        <p:spPr>
          <a:xfrm>
            <a:off x="0" y="0"/>
            <a:ext cx="12192000" cy="6858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20CCBA67-538C-6E43-82FC-68116F592CAB}"/>
              </a:ext>
            </a:extLst>
          </p:cNvPr>
          <p:cNvSpPr txBox="1"/>
          <p:nvPr/>
        </p:nvSpPr>
        <p:spPr>
          <a:xfrm>
            <a:off x="2336800" y="1804938"/>
            <a:ext cx="7518400" cy="2308324"/>
          </a:xfrm>
          <a:prstGeom prst="rect">
            <a:avLst/>
          </a:prstGeom>
          <a:noFill/>
        </p:spPr>
        <p:txBody>
          <a:bodyPr wrap="square" rtlCol="0">
            <a:spAutoFit/>
          </a:bodyPr>
          <a:lstStyle/>
          <a:p>
            <a:pPr algn="ctr"/>
            <a:r>
              <a:rPr lang="en-US" sz="7200" dirty="0">
                <a:solidFill>
                  <a:schemeClr val="bg1"/>
                </a:solidFill>
                <a:latin typeface="Roboto Medium" pitchFamily="2" charset="0"/>
                <a:ea typeface="Roboto Medium" pitchFamily="2" charset="0"/>
              </a:rPr>
              <a:t>Have You Ever Been Frustrated?</a:t>
            </a:r>
          </a:p>
        </p:txBody>
      </p:sp>
      <p:sp>
        <p:nvSpPr>
          <p:cNvPr id="2" name="Smiley Face 1">
            <a:extLst>
              <a:ext uri="{FF2B5EF4-FFF2-40B4-BE49-F238E27FC236}">
                <a16:creationId xmlns:a16="http://schemas.microsoft.com/office/drawing/2014/main" id="{FEAECD70-133F-EF4E-BBC4-FD3C04537E59}"/>
              </a:ext>
            </a:extLst>
          </p:cNvPr>
          <p:cNvSpPr/>
          <p:nvPr/>
        </p:nvSpPr>
        <p:spPr>
          <a:xfrm>
            <a:off x="5035550" y="4241800"/>
            <a:ext cx="2120900" cy="2120900"/>
          </a:xfrm>
          <a:prstGeom prst="smileyFace">
            <a:avLst>
              <a:gd name="adj" fmla="val -4653"/>
            </a:avLst>
          </a:prstGeom>
          <a:solidFill>
            <a:srgbClr val="C000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6" name="Straight Connector 5">
            <a:extLst>
              <a:ext uri="{FF2B5EF4-FFF2-40B4-BE49-F238E27FC236}">
                <a16:creationId xmlns:a16="http://schemas.microsoft.com/office/drawing/2014/main" id="{7E88F8AB-DCDA-4340-B121-45B8B40842CA}"/>
              </a:ext>
            </a:extLst>
          </p:cNvPr>
          <p:cNvCxnSpPr>
            <a:cxnSpLocks/>
          </p:cNvCxnSpPr>
          <p:nvPr/>
        </p:nvCxnSpPr>
        <p:spPr>
          <a:xfrm flipH="1" flipV="1">
            <a:off x="5702300" y="4597400"/>
            <a:ext cx="215900" cy="203200"/>
          </a:xfrm>
          <a:prstGeom prst="line">
            <a:avLst/>
          </a:prstGeom>
          <a:solidFill>
            <a:srgbClr val="00B0F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cxnSp>
      <p:cxnSp>
        <p:nvCxnSpPr>
          <p:cNvPr id="8" name="Straight Connector 7">
            <a:extLst>
              <a:ext uri="{FF2B5EF4-FFF2-40B4-BE49-F238E27FC236}">
                <a16:creationId xmlns:a16="http://schemas.microsoft.com/office/drawing/2014/main" id="{B7C5BEDC-97BD-FD4F-9DE5-EA22071F8326}"/>
              </a:ext>
            </a:extLst>
          </p:cNvPr>
          <p:cNvCxnSpPr>
            <a:cxnSpLocks/>
          </p:cNvCxnSpPr>
          <p:nvPr/>
        </p:nvCxnSpPr>
        <p:spPr>
          <a:xfrm flipV="1">
            <a:off x="6311900" y="4597400"/>
            <a:ext cx="273050" cy="203200"/>
          </a:xfrm>
          <a:prstGeom prst="line">
            <a:avLst/>
          </a:prstGeom>
          <a:solidFill>
            <a:srgbClr val="00B0F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1666457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D90CD75-C0D9-9E49-8E78-DFA185D56393}"/>
              </a:ext>
            </a:extLst>
          </p:cNvPr>
          <p:cNvSpPr/>
          <p:nvPr/>
        </p:nvSpPr>
        <p:spPr>
          <a:xfrm>
            <a:off x="0" y="0"/>
            <a:ext cx="12192000" cy="6858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20CCBA67-538C-6E43-82FC-68116F592CAB}"/>
              </a:ext>
            </a:extLst>
          </p:cNvPr>
          <p:cNvSpPr txBox="1"/>
          <p:nvPr/>
        </p:nvSpPr>
        <p:spPr>
          <a:xfrm>
            <a:off x="0" y="1804938"/>
            <a:ext cx="12192000" cy="3416320"/>
          </a:xfrm>
          <a:prstGeom prst="rect">
            <a:avLst/>
          </a:prstGeom>
          <a:noFill/>
        </p:spPr>
        <p:txBody>
          <a:bodyPr wrap="square" rtlCol="0">
            <a:spAutoFit/>
          </a:bodyPr>
          <a:lstStyle/>
          <a:p>
            <a:pPr algn="ctr"/>
            <a:r>
              <a:rPr lang="en-US" sz="7200" dirty="0">
                <a:solidFill>
                  <a:schemeClr val="bg1"/>
                </a:solidFill>
                <a:latin typeface="Roboto Medium" pitchFamily="2" charset="0"/>
                <a:ea typeface="Roboto Medium" pitchFamily="2" charset="0"/>
              </a:rPr>
              <a:t>I Have…</a:t>
            </a:r>
          </a:p>
          <a:p>
            <a:pPr algn="ctr"/>
            <a:endParaRPr lang="en-US" sz="7200" dirty="0">
              <a:solidFill>
                <a:schemeClr val="bg1"/>
              </a:solidFill>
              <a:latin typeface="Roboto Medium" pitchFamily="2" charset="0"/>
              <a:ea typeface="Roboto Medium" pitchFamily="2" charset="0"/>
            </a:endParaRPr>
          </a:p>
          <a:p>
            <a:pPr algn="ctr"/>
            <a:r>
              <a:rPr lang="en-US" sz="7200" dirty="0">
                <a:solidFill>
                  <a:schemeClr val="bg1"/>
                </a:solidFill>
                <a:latin typeface="Roboto Medium" pitchFamily="2" charset="0"/>
                <a:ea typeface="Roboto Medium" pitchFamily="2" charset="0"/>
              </a:rPr>
              <a:t>Here’s My Story</a:t>
            </a:r>
          </a:p>
        </p:txBody>
      </p:sp>
    </p:spTree>
    <p:extLst>
      <p:ext uri="{BB962C8B-B14F-4D97-AF65-F5344CB8AC3E}">
        <p14:creationId xmlns:p14="http://schemas.microsoft.com/office/powerpoint/2010/main" val="628900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CCBA67-538C-6E43-82FC-68116F592CAB}"/>
              </a:ext>
            </a:extLst>
          </p:cNvPr>
          <p:cNvSpPr txBox="1"/>
          <p:nvPr/>
        </p:nvSpPr>
        <p:spPr>
          <a:xfrm>
            <a:off x="3035299" y="797510"/>
            <a:ext cx="8774079" cy="5262979"/>
          </a:xfrm>
          <a:prstGeom prst="rect">
            <a:avLst/>
          </a:prstGeom>
          <a:noFill/>
        </p:spPr>
        <p:txBody>
          <a:bodyPr wrap="square" rtlCol="0">
            <a:spAutoFit/>
          </a:bodyPr>
          <a:lstStyle/>
          <a:p>
            <a:r>
              <a:rPr lang="en-US" sz="4800" spc="300" dirty="0">
                <a:solidFill>
                  <a:srgbClr val="00B0F0"/>
                </a:solidFill>
                <a:latin typeface="Operator Mono Medium" panose="02000009000000000000" pitchFamily="49" charset="0"/>
                <a:ea typeface="Roboto Medium" pitchFamily="2" charset="0"/>
              </a:rPr>
              <a:t>A</a:t>
            </a:r>
            <a:r>
              <a:rPr lang="en-US" sz="4800" spc="300" dirty="0">
                <a:solidFill>
                  <a:schemeClr val="tx1">
                    <a:lumMod val="50000"/>
                    <a:lumOff val="50000"/>
                  </a:schemeClr>
                </a:solidFill>
                <a:latin typeface="Operator Mono Medium" panose="02000009000000000000" pitchFamily="49" charset="0"/>
                <a:ea typeface="Roboto Medium" pitchFamily="2" charset="0"/>
              </a:rPr>
              <a:t>mazing</a:t>
            </a:r>
          </a:p>
          <a:p>
            <a:r>
              <a:rPr lang="en-US" sz="4800" spc="300" dirty="0">
                <a:solidFill>
                  <a:srgbClr val="00B0F0"/>
                </a:solidFill>
                <a:latin typeface="Operator Mono Medium" panose="02000009000000000000" pitchFamily="49" charset="0"/>
                <a:ea typeface="Roboto Medium" pitchFamily="2" charset="0"/>
              </a:rPr>
              <a:t>W</a:t>
            </a:r>
            <a:r>
              <a:rPr lang="en-US" sz="4800" spc="300" dirty="0">
                <a:solidFill>
                  <a:schemeClr val="tx1">
                    <a:lumMod val="50000"/>
                    <a:lumOff val="50000"/>
                  </a:schemeClr>
                </a:solidFill>
                <a:latin typeface="Operator Mono Medium" panose="02000009000000000000" pitchFamily="49" charset="0"/>
                <a:ea typeface="Roboto Medium" pitchFamily="2" charset="0"/>
              </a:rPr>
              <a:t>illingly Naked</a:t>
            </a:r>
          </a:p>
          <a:p>
            <a:r>
              <a:rPr lang="en-US" sz="4800" spc="300" dirty="0">
                <a:solidFill>
                  <a:srgbClr val="00B0F0"/>
                </a:solidFill>
                <a:latin typeface="Operator Mono Medium" panose="02000009000000000000" pitchFamily="49" charset="0"/>
                <a:ea typeface="Roboto Medium" pitchFamily="2" charset="0"/>
              </a:rPr>
              <a:t>E</a:t>
            </a:r>
            <a:r>
              <a:rPr lang="en-US" sz="4800" spc="300" dirty="0">
                <a:solidFill>
                  <a:schemeClr val="tx1">
                    <a:lumMod val="50000"/>
                    <a:lumOff val="50000"/>
                  </a:schemeClr>
                </a:solidFill>
                <a:latin typeface="Operator Mono Medium" panose="02000009000000000000" pitchFamily="49" charset="0"/>
                <a:ea typeface="Roboto Medium" pitchFamily="2" charset="0"/>
              </a:rPr>
              <a:t>xact</a:t>
            </a:r>
          </a:p>
          <a:p>
            <a:r>
              <a:rPr lang="en-US" sz="4800" spc="300" dirty="0">
                <a:solidFill>
                  <a:srgbClr val="00B0F0"/>
                </a:solidFill>
                <a:latin typeface="Operator Mono Medium" panose="02000009000000000000" pitchFamily="49" charset="0"/>
                <a:ea typeface="Roboto Medium" pitchFamily="2" charset="0"/>
              </a:rPr>
              <a:t>S</a:t>
            </a:r>
            <a:r>
              <a:rPr lang="en-US" sz="4800" spc="300" dirty="0">
                <a:solidFill>
                  <a:schemeClr val="tx1">
                    <a:lumMod val="50000"/>
                    <a:lumOff val="50000"/>
                  </a:schemeClr>
                </a:solidFill>
                <a:latin typeface="Operator Mono Medium" panose="02000009000000000000" pitchFamily="49" charset="0"/>
                <a:ea typeface="Roboto Medium" pitchFamily="2" charset="0"/>
              </a:rPr>
              <a:t>eriously Responsive</a:t>
            </a:r>
          </a:p>
          <a:p>
            <a:r>
              <a:rPr lang="en-US" sz="4800" spc="300" dirty="0">
                <a:solidFill>
                  <a:srgbClr val="00B0F0"/>
                </a:solidFill>
                <a:latin typeface="Operator Mono Medium" panose="02000009000000000000" pitchFamily="49" charset="0"/>
                <a:ea typeface="Roboto Medium" pitchFamily="2" charset="0"/>
              </a:rPr>
              <a:t>O</a:t>
            </a:r>
            <a:r>
              <a:rPr lang="en-US" sz="4800" spc="300" dirty="0">
                <a:solidFill>
                  <a:schemeClr val="tx1">
                    <a:lumMod val="50000"/>
                    <a:lumOff val="50000"/>
                  </a:schemeClr>
                </a:solidFill>
                <a:latin typeface="Operator Mono Medium" panose="02000009000000000000" pitchFamily="49" charset="0"/>
                <a:ea typeface="Roboto Medium" pitchFamily="2" charset="0"/>
              </a:rPr>
              <a:t>riginal</a:t>
            </a:r>
          </a:p>
          <a:p>
            <a:r>
              <a:rPr lang="en-US" sz="4800" spc="300" dirty="0">
                <a:solidFill>
                  <a:srgbClr val="00B0F0"/>
                </a:solidFill>
                <a:latin typeface="Operator Mono Medium" panose="02000009000000000000" pitchFamily="49" charset="0"/>
                <a:ea typeface="Roboto Medium" pitchFamily="2" charset="0"/>
              </a:rPr>
              <a:t>M</a:t>
            </a:r>
            <a:r>
              <a:rPr lang="en-US" sz="4800" spc="300" dirty="0">
                <a:solidFill>
                  <a:schemeClr val="tx1">
                    <a:lumMod val="50000"/>
                    <a:lumOff val="50000"/>
                  </a:schemeClr>
                </a:solidFill>
                <a:latin typeface="Operator Mono Medium" panose="02000009000000000000" pitchFamily="49" charset="0"/>
                <a:ea typeface="Roboto Medium" pitchFamily="2" charset="0"/>
              </a:rPr>
              <a:t>erry</a:t>
            </a:r>
          </a:p>
          <a:p>
            <a:r>
              <a:rPr lang="en-US" sz="4800" spc="300" dirty="0">
                <a:solidFill>
                  <a:srgbClr val="00B0F0"/>
                </a:solidFill>
                <a:latin typeface="Operator Mono Medium" panose="02000009000000000000" pitchFamily="49" charset="0"/>
                <a:ea typeface="Roboto Medium" pitchFamily="2" charset="0"/>
              </a:rPr>
              <a:t>E</a:t>
            </a:r>
            <a:r>
              <a:rPr lang="en-US" sz="4800" spc="300" dirty="0">
                <a:solidFill>
                  <a:schemeClr val="tx1">
                    <a:lumMod val="50000"/>
                    <a:lumOff val="50000"/>
                  </a:schemeClr>
                </a:solidFill>
                <a:latin typeface="Operator Mono Medium" panose="02000009000000000000" pitchFamily="49" charset="0"/>
                <a:ea typeface="Roboto Medium" pitchFamily="2" charset="0"/>
              </a:rPr>
              <a:t>mpathetic</a:t>
            </a:r>
          </a:p>
        </p:txBody>
      </p:sp>
      <p:sp>
        <p:nvSpPr>
          <p:cNvPr id="11" name="Rectangle 10">
            <a:extLst>
              <a:ext uri="{FF2B5EF4-FFF2-40B4-BE49-F238E27FC236}">
                <a16:creationId xmlns:a16="http://schemas.microsoft.com/office/drawing/2014/main" id="{2D90CD75-C0D9-9E49-8E78-DFA185D56393}"/>
              </a:ext>
            </a:extLst>
          </p:cNvPr>
          <p:cNvSpPr/>
          <p:nvPr/>
        </p:nvSpPr>
        <p:spPr>
          <a:xfrm>
            <a:off x="0" y="0"/>
            <a:ext cx="24765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6552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D90CD75-C0D9-9E49-8E78-DFA185D56393}"/>
              </a:ext>
            </a:extLst>
          </p:cNvPr>
          <p:cNvSpPr/>
          <p:nvPr/>
        </p:nvSpPr>
        <p:spPr>
          <a:xfrm>
            <a:off x="0" y="0"/>
            <a:ext cx="121920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20CCBA67-538C-6E43-82FC-68116F592CAB}"/>
              </a:ext>
            </a:extLst>
          </p:cNvPr>
          <p:cNvSpPr txBox="1"/>
          <p:nvPr/>
        </p:nvSpPr>
        <p:spPr>
          <a:xfrm>
            <a:off x="1101606" y="2095145"/>
            <a:ext cx="9863847" cy="1569660"/>
          </a:xfrm>
          <a:prstGeom prst="rect">
            <a:avLst/>
          </a:prstGeom>
          <a:noFill/>
        </p:spPr>
        <p:txBody>
          <a:bodyPr wrap="square" rtlCol="0">
            <a:spAutoFit/>
          </a:bodyPr>
          <a:lstStyle/>
          <a:p>
            <a:pPr algn="ctr"/>
            <a:r>
              <a:rPr lang="en-US" sz="4800" dirty="0">
                <a:solidFill>
                  <a:schemeClr val="bg1"/>
                </a:solidFill>
                <a:latin typeface="Roboto Medium" pitchFamily="2" charset="0"/>
                <a:ea typeface="Roboto Medium" pitchFamily="2" charset="0"/>
              </a:rPr>
              <a:t>We see things you don’t see. We’re actually doing what’s best for you.</a:t>
            </a:r>
          </a:p>
        </p:txBody>
      </p:sp>
      <p:sp>
        <p:nvSpPr>
          <p:cNvPr id="2" name="TextBox 1">
            <a:extLst>
              <a:ext uri="{FF2B5EF4-FFF2-40B4-BE49-F238E27FC236}">
                <a16:creationId xmlns:a16="http://schemas.microsoft.com/office/drawing/2014/main" id="{8C0AB078-697F-4C45-8AD5-40F1E52E758D}"/>
              </a:ext>
            </a:extLst>
          </p:cNvPr>
          <p:cNvSpPr txBox="1"/>
          <p:nvPr/>
        </p:nvSpPr>
        <p:spPr>
          <a:xfrm>
            <a:off x="642480" y="1683211"/>
            <a:ext cx="1227221" cy="1569660"/>
          </a:xfrm>
          <a:prstGeom prst="rect">
            <a:avLst/>
          </a:prstGeom>
          <a:noFill/>
        </p:spPr>
        <p:txBody>
          <a:bodyPr wrap="square" rtlCol="0">
            <a:spAutoFit/>
          </a:bodyPr>
          <a:lstStyle/>
          <a:p>
            <a:r>
              <a:rPr lang="en-US" sz="9600" dirty="0">
                <a:solidFill>
                  <a:schemeClr val="bg1"/>
                </a:solidFill>
                <a:latin typeface="Roboto Medium" pitchFamily="2" charset="0"/>
                <a:ea typeface="Roboto Medium" pitchFamily="2" charset="0"/>
              </a:rPr>
              <a:t>“</a:t>
            </a:r>
          </a:p>
        </p:txBody>
      </p:sp>
      <p:sp>
        <p:nvSpPr>
          <p:cNvPr id="5" name="TextBox 4">
            <a:extLst>
              <a:ext uri="{FF2B5EF4-FFF2-40B4-BE49-F238E27FC236}">
                <a16:creationId xmlns:a16="http://schemas.microsoft.com/office/drawing/2014/main" id="{B15139BD-7C0C-8A43-9A31-9A41C1432CD3}"/>
              </a:ext>
            </a:extLst>
          </p:cNvPr>
          <p:cNvSpPr txBox="1"/>
          <p:nvPr/>
        </p:nvSpPr>
        <p:spPr>
          <a:xfrm>
            <a:off x="10810968" y="3020740"/>
            <a:ext cx="1227221" cy="1569660"/>
          </a:xfrm>
          <a:prstGeom prst="rect">
            <a:avLst/>
          </a:prstGeom>
          <a:noFill/>
        </p:spPr>
        <p:txBody>
          <a:bodyPr wrap="square" rtlCol="0">
            <a:spAutoFit/>
          </a:bodyPr>
          <a:lstStyle/>
          <a:p>
            <a:r>
              <a:rPr lang="en-US" sz="9600" dirty="0">
                <a:solidFill>
                  <a:schemeClr val="bg1"/>
                </a:solidFill>
                <a:latin typeface="Roboto Medium" pitchFamily="2" charset="0"/>
                <a:ea typeface="Roboto Medium" pitchFamily="2" charset="0"/>
              </a:rPr>
              <a:t>”</a:t>
            </a:r>
          </a:p>
        </p:txBody>
      </p:sp>
      <p:sp>
        <p:nvSpPr>
          <p:cNvPr id="3" name="TextBox 2">
            <a:extLst>
              <a:ext uri="{FF2B5EF4-FFF2-40B4-BE49-F238E27FC236}">
                <a16:creationId xmlns:a16="http://schemas.microsoft.com/office/drawing/2014/main" id="{EC61069C-CB82-8E48-8B72-B26B0F252DAE}"/>
              </a:ext>
            </a:extLst>
          </p:cNvPr>
          <p:cNvSpPr txBox="1"/>
          <p:nvPr/>
        </p:nvSpPr>
        <p:spPr>
          <a:xfrm>
            <a:off x="4023066" y="4590400"/>
            <a:ext cx="3655168" cy="584775"/>
          </a:xfrm>
          <a:prstGeom prst="rect">
            <a:avLst/>
          </a:prstGeom>
          <a:noFill/>
        </p:spPr>
        <p:txBody>
          <a:bodyPr wrap="none" rtlCol="0">
            <a:spAutoFit/>
          </a:bodyPr>
          <a:lstStyle/>
          <a:p>
            <a:r>
              <a:rPr lang="en-US" sz="3200" dirty="0">
                <a:solidFill>
                  <a:schemeClr val="bg1"/>
                </a:solidFill>
                <a:latin typeface="Roboto Light" pitchFamily="2" charset="0"/>
                <a:ea typeface="Roboto Light" pitchFamily="2" charset="0"/>
              </a:rPr>
              <a:t>— Nifty Leadership</a:t>
            </a:r>
          </a:p>
        </p:txBody>
      </p:sp>
    </p:spTree>
    <p:extLst>
      <p:ext uri="{BB962C8B-B14F-4D97-AF65-F5344CB8AC3E}">
        <p14:creationId xmlns:p14="http://schemas.microsoft.com/office/powerpoint/2010/main" val="17914577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D90CD75-C0D9-9E49-8E78-DFA185D56393}"/>
              </a:ext>
            </a:extLst>
          </p:cNvPr>
          <p:cNvSpPr/>
          <p:nvPr/>
        </p:nvSpPr>
        <p:spPr>
          <a:xfrm>
            <a:off x="0" y="0"/>
            <a:ext cx="121920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20CCBA67-538C-6E43-82FC-68116F592CAB}"/>
              </a:ext>
            </a:extLst>
          </p:cNvPr>
          <p:cNvSpPr txBox="1"/>
          <p:nvPr/>
        </p:nvSpPr>
        <p:spPr>
          <a:xfrm>
            <a:off x="1101606" y="2095145"/>
            <a:ext cx="9863847" cy="2308324"/>
          </a:xfrm>
          <a:prstGeom prst="rect">
            <a:avLst/>
          </a:prstGeom>
          <a:noFill/>
        </p:spPr>
        <p:txBody>
          <a:bodyPr wrap="square" rtlCol="0">
            <a:spAutoFit/>
          </a:bodyPr>
          <a:lstStyle/>
          <a:p>
            <a:pPr algn="ctr"/>
            <a:r>
              <a:rPr lang="en-US" sz="4800" dirty="0">
                <a:solidFill>
                  <a:schemeClr val="bg1"/>
                </a:solidFill>
                <a:latin typeface="Roboto Medium" pitchFamily="2" charset="0"/>
                <a:ea typeface="Roboto Medium" pitchFamily="2" charset="0"/>
              </a:rPr>
              <a:t>You’re too focused on certain values — and forgetting the other values that are more important.</a:t>
            </a:r>
          </a:p>
        </p:txBody>
      </p:sp>
      <p:sp>
        <p:nvSpPr>
          <p:cNvPr id="2" name="TextBox 1">
            <a:extLst>
              <a:ext uri="{FF2B5EF4-FFF2-40B4-BE49-F238E27FC236}">
                <a16:creationId xmlns:a16="http://schemas.microsoft.com/office/drawing/2014/main" id="{8C0AB078-697F-4C45-8AD5-40F1E52E758D}"/>
              </a:ext>
            </a:extLst>
          </p:cNvPr>
          <p:cNvSpPr txBox="1"/>
          <p:nvPr/>
        </p:nvSpPr>
        <p:spPr>
          <a:xfrm>
            <a:off x="1101606" y="1683211"/>
            <a:ext cx="1227221" cy="1569660"/>
          </a:xfrm>
          <a:prstGeom prst="rect">
            <a:avLst/>
          </a:prstGeom>
          <a:noFill/>
        </p:spPr>
        <p:txBody>
          <a:bodyPr wrap="square" rtlCol="0">
            <a:spAutoFit/>
          </a:bodyPr>
          <a:lstStyle/>
          <a:p>
            <a:r>
              <a:rPr lang="en-US" sz="9600" dirty="0">
                <a:solidFill>
                  <a:schemeClr val="bg1"/>
                </a:solidFill>
                <a:latin typeface="Roboto Medium" pitchFamily="2" charset="0"/>
                <a:ea typeface="Roboto Medium" pitchFamily="2" charset="0"/>
              </a:rPr>
              <a:t>“</a:t>
            </a:r>
          </a:p>
        </p:txBody>
      </p:sp>
      <p:sp>
        <p:nvSpPr>
          <p:cNvPr id="5" name="TextBox 4">
            <a:extLst>
              <a:ext uri="{FF2B5EF4-FFF2-40B4-BE49-F238E27FC236}">
                <a16:creationId xmlns:a16="http://schemas.microsoft.com/office/drawing/2014/main" id="{B15139BD-7C0C-8A43-9A31-9A41C1432CD3}"/>
              </a:ext>
            </a:extLst>
          </p:cNvPr>
          <p:cNvSpPr txBox="1"/>
          <p:nvPr/>
        </p:nvSpPr>
        <p:spPr>
          <a:xfrm>
            <a:off x="10554936" y="3618639"/>
            <a:ext cx="1227221" cy="1569660"/>
          </a:xfrm>
          <a:prstGeom prst="rect">
            <a:avLst/>
          </a:prstGeom>
          <a:noFill/>
        </p:spPr>
        <p:txBody>
          <a:bodyPr wrap="square" rtlCol="0">
            <a:spAutoFit/>
          </a:bodyPr>
          <a:lstStyle/>
          <a:p>
            <a:r>
              <a:rPr lang="en-US" sz="9600" dirty="0">
                <a:solidFill>
                  <a:schemeClr val="bg1"/>
                </a:solidFill>
                <a:latin typeface="Roboto Medium" pitchFamily="2" charset="0"/>
                <a:ea typeface="Roboto Medium" pitchFamily="2" charset="0"/>
              </a:rPr>
              <a:t>”</a:t>
            </a:r>
          </a:p>
        </p:txBody>
      </p:sp>
      <p:sp>
        <p:nvSpPr>
          <p:cNvPr id="3" name="TextBox 2">
            <a:extLst>
              <a:ext uri="{FF2B5EF4-FFF2-40B4-BE49-F238E27FC236}">
                <a16:creationId xmlns:a16="http://schemas.microsoft.com/office/drawing/2014/main" id="{EC61069C-CB82-8E48-8B72-B26B0F252DAE}"/>
              </a:ext>
            </a:extLst>
          </p:cNvPr>
          <p:cNvSpPr txBox="1"/>
          <p:nvPr/>
        </p:nvSpPr>
        <p:spPr>
          <a:xfrm>
            <a:off x="4023066" y="5338347"/>
            <a:ext cx="3655168" cy="584775"/>
          </a:xfrm>
          <a:prstGeom prst="rect">
            <a:avLst/>
          </a:prstGeom>
          <a:noFill/>
        </p:spPr>
        <p:txBody>
          <a:bodyPr wrap="none" rtlCol="0">
            <a:spAutoFit/>
          </a:bodyPr>
          <a:lstStyle/>
          <a:p>
            <a:r>
              <a:rPr lang="en-US" sz="3200" dirty="0">
                <a:solidFill>
                  <a:schemeClr val="bg1"/>
                </a:solidFill>
                <a:latin typeface="Roboto Light" pitchFamily="2" charset="0"/>
                <a:ea typeface="Roboto Light" pitchFamily="2" charset="0"/>
              </a:rPr>
              <a:t>— Nifty Leadership</a:t>
            </a:r>
          </a:p>
        </p:txBody>
      </p:sp>
    </p:spTree>
    <p:extLst>
      <p:ext uri="{BB962C8B-B14F-4D97-AF65-F5344CB8AC3E}">
        <p14:creationId xmlns:p14="http://schemas.microsoft.com/office/powerpoint/2010/main" val="223725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D90CD75-C0D9-9E49-8E78-DFA185D56393}"/>
              </a:ext>
            </a:extLst>
          </p:cNvPr>
          <p:cNvSpPr/>
          <p:nvPr/>
        </p:nvSpPr>
        <p:spPr>
          <a:xfrm>
            <a:off x="0" y="0"/>
            <a:ext cx="121920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20CCBA67-538C-6E43-82FC-68116F592CAB}"/>
              </a:ext>
            </a:extLst>
          </p:cNvPr>
          <p:cNvSpPr txBox="1"/>
          <p:nvPr/>
        </p:nvSpPr>
        <p:spPr>
          <a:xfrm>
            <a:off x="3098800" y="1804938"/>
            <a:ext cx="5994400" cy="2308324"/>
          </a:xfrm>
          <a:prstGeom prst="rect">
            <a:avLst/>
          </a:prstGeom>
          <a:noFill/>
        </p:spPr>
        <p:txBody>
          <a:bodyPr wrap="square" rtlCol="0">
            <a:spAutoFit/>
          </a:bodyPr>
          <a:lstStyle/>
          <a:p>
            <a:pPr algn="ctr"/>
            <a:r>
              <a:rPr lang="en-US" sz="7200" dirty="0">
                <a:solidFill>
                  <a:schemeClr val="bg1"/>
                </a:solidFill>
                <a:latin typeface="Roboto Medium" pitchFamily="2" charset="0"/>
                <a:ea typeface="Roboto Medium" pitchFamily="2" charset="0"/>
              </a:rPr>
              <a:t>Life Is About Trade-Offs</a:t>
            </a:r>
          </a:p>
        </p:txBody>
      </p:sp>
      <p:pic>
        <p:nvPicPr>
          <p:cNvPr id="3" name="Picture 2">
            <a:extLst>
              <a:ext uri="{FF2B5EF4-FFF2-40B4-BE49-F238E27FC236}">
                <a16:creationId xmlns:a16="http://schemas.microsoft.com/office/drawing/2014/main" id="{4AF45E97-278E-CD43-B9A6-7220202DF363}"/>
              </a:ext>
            </a:extLst>
          </p:cNvPr>
          <p:cNvPicPr>
            <a:picLocks noChangeAspect="1"/>
          </p:cNvPicPr>
          <p:nvPr/>
        </p:nvPicPr>
        <p:blipFill>
          <a:blip r:embed="rId2"/>
          <a:stretch>
            <a:fillRect/>
          </a:stretch>
        </p:blipFill>
        <p:spPr>
          <a:xfrm>
            <a:off x="4687182" y="4695056"/>
            <a:ext cx="2817635" cy="1581150"/>
          </a:xfrm>
          <a:prstGeom prst="rect">
            <a:avLst/>
          </a:prstGeom>
        </p:spPr>
      </p:pic>
    </p:spTree>
    <p:extLst>
      <p:ext uri="{BB962C8B-B14F-4D97-AF65-F5344CB8AC3E}">
        <p14:creationId xmlns:p14="http://schemas.microsoft.com/office/powerpoint/2010/main" val="816417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CCBA67-538C-6E43-82FC-68116F592CAB}"/>
              </a:ext>
            </a:extLst>
          </p:cNvPr>
          <p:cNvSpPr txBox="1"/>
          <p:nvPr/>
        </p:nvSpPr>
        <p:spPr>
          <a:xfrm>
            <a:off x="3035299" y="469900"/>
            <a:ext cx="8774079" cy="1938992"/>
          </a:xfrm>
          <a:prstGeom prst="rect">
            <a:avLst/>
          </a:prstGeom>
          <a:noFill/>
        </p:spPr>
        <p:txBody>
          <a:bodyPr wrap="square" rtlCol="0">
            <a:spAutoFit/>
          </a:bodyPr>
          <a:lstStyle/>
          <a:p>
            <a:r>
              <a:rPr lang="en-US" sz="6000" dirty="0">
                <a:solidFill>
                  <a:srgbClr val="00B0F0"/>
                </a:solidFill>
                <a:latin typeface="Roboto Medium" pitchFamily="2" charset="0"/>
                <a:ea typeface="Roboto Medium" pitchFamily="2" charset="0"/>
              </a:rPr>
              <a:t>We have strong feelings.</a:t>
            </a:r>
          </a:p>
          <a:p>
            <a:r>
              <a:rPr lang="en-US" sz="6000" dirty="0">
                <a:solidFill>
                  <a:srgbClr val="00B0F0"/>
                </a:solidFill>
                <a:latin typeface="Roboto Medium" pitchFamily="2" charset="0"/>
                <a:ea typeface="Roboto Medium" pitchFamily="2" charset="0"/>
              </a:rPr>
              <a:t>Should we be…</a:t>
            </a:r>
          </a:p>
        </p:txBody>
      </p:sp>
      <p:sp>
        <p:nvSpPr>
          <p:cNvPr id="11" name="Rectangle 10">
            <a:extLst>
              <a:ext uri="{FF2B5EF4-FFF2-40B4-BE49-F238E27FC236}">
                <a16:creationId xmlns:a16="http://schemas.microsoft.com/office/drawing/2014/main" id="{2D90CD75-C0D9-9E49-8E78-DFA185D56393}"/>
              </a:ext>
            </a:extLst>
          </p:cNvPr>
          <p:cNvSpPr/>
          <p:nvPr/>
        </p:nvSpPr>
        <p:spPr>
          <a:xfrm>
            <a:off x="0" y="0"/>
            <a:ext cx="24765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22384768-49A6-D742-A53C-E4D91FC56476}"/>
              </a:ext>
            </a:extLst>
          </p:cNvPr>
          <p:cNvSpPr txBox="1"/>
          <p:nvPr/>
        </p:nvSpPr>
        <p:spPr>
          <a:xfrm>
            <a:off x="3035300" y="3429000"/>
            <a:ext cx="2323072" cy="461665"/>
          </a:xfrm>
          <a:prstGeom prst="rect">
            <a:avLst/>
          </a:prstGeom>
          <a:noFill/>
        </p:spPr>
        <p:txBody>
          <a:bodyPr wrap="none" rtlCol="0">
            <a:spAutoFit/>
          </a:bodyPr>
          <a:lstStyle/>
          <a:p>
            <a:r>
              <a:rPr lang="en-US" sz="2400" dirty="0">
                <a:latin typeface="Roboto Medium" pitchFamily="2" charset="0"/>
                <a:ea typeface="Roboto Medium" pitchFamily="2" charset="0"/>
              </a:rPr>
              <a:t>Willingly Naked</a:t>
            </a:r>
          </a:p>
        </p:txBody>
      </p:sp>
      <p:sp>
        <p:nvSpPr>
          <p:cNvPr id="6" name="TextBox 5">
            <a:extLst>
              <a:ext uri="{FF2B5EF4-FFF2-40B4-BE49-F238E27FC236}">
                <a16:creationId xmlns:a16="http://schemas.microsoft.com/office/drawing/2014/main" id="{A429ED71-6041-3F40-A14E-E7231DE789E8}"/>
              </a:ext>
            </a:extLst>
          </p:cNvPr>
          <p:cNvSpPr txBox="1"/>
          <p:nvPr/>
        </p:nvSpPr>
        <p:spPr>
          <a:xfrm>
            <a:off x="9029701" y="3429000"/>
            <a:ext cx="2006598" cy="461665"/>
          </a:xfrm>
          <a:prstGeom prst="rect">
            <a:avLst/>
          </a:prstGeom>
          <a:noFill/>
        </p:spPr>
        <p:txBody>
          <a:bodyPr wrap="square" rtlCol="0">
            <a:spAutoFit/>
          </a:bodyPr>
          <a:lstStyle/>
          <a:p>
            <a:pPr algn="r"/>
            <a:r>
              <a:rPr lang="en-US" sz="2400" dirty="0">
                <a:latin typeface="Roboto Medium" pitchFamily="2" charset="0"/>
                <a:ea typeface="Roboto Medium" pitchFamily="2" charset="0"/>
              </a:rPr>
              <a:t>Empathetic</a:t>
            </a:r>
          </a:p>
        </p:txBody>
      </p:sp>
      <p:sp>
        <p:nvSpPr>
          <p:cNvPr id="3" name="TextBox 2">
            <a:extLst>
              <a:ext uri="{FF2B5EF4-FFF2-40B4-BE49-F238E27FC236}">
                <a16:creationId xmlns:a16="http://schemas.microsoft.com/office/drawing/2014/main" id="{51633DDC-467D-4D46-BAC7-C357BCD193C5}"/>
              </a:ext>
            </a:extLst>
          </p:cNvPr>
          <p:cNvSpPr txBox="1"/>
          <p:nvPr/>
        </p:nvSpPr>
        <p:spPr>
          <a:xfrm>
            <a:off x="3035300" y="4452035"/>
            <a:ext cx="2057399" cy="1200329"/>
          </a:xfrm>
          <a:prstGeom prst="rect">
            <a:avLst/>
          </a:prstGeom>
          <a:noFill/>
        </p:spPr>
        <p:txBody>
          <a:bodyPr wrap="square" rtlCol="0">
            <a:spAutoFit/>
          </a:bodyPr>
          <a:lstStyle/>
          <a:p>
            <a:r>
              <a:rPr lang="en-US" dirty="0">
                <a:latin typeface="Roboto Light" pitchFamily="2" charset="0"/>
                <a:ea typeface="Roboto Light" pitchFamily="2" charset="0"/>
              </a:rPr>
              <a:t>Should we share everything, even the ugly, hurtful stuff?</a:t>
            </a:r>
          </a:p>
        </p:txBody>
      </p:sp>
      <p:sp>
        <p:nvSpPr>
          <p:cNvPr id="8" name="TextBox 7">
            <a:extLst>
              <a:ext uri="{FF2B5EF4-FFF2-40B4-BE49-F238E27FC236}">
                <a16:creationId xmlns:a16="http://schemas.microsoft.com/office/drawing/2014/main" id="{EE1C1730-59E2-3C47-A996-3FBA375F7CF1}"/>
              </a:ext>
            </a:extLst>
          </p:cNvPr>
          <p:cNvSpPr txBox="1"/>
          <p:nvPr/>
        </p:nvSpPr>
        <p:spPr>
          <a:xfrm>
            <a:off x="9029700" y="4452035"/>
            <a:ext cx="2006599" cy="923330"/>
          </a:xfrm>
          <a:prstGeom prst="rect">
            <a:avLst/>
          </a:prstGeom>
          <a:noFill/>
        </p:spPr>
        <p:txBody>
          <a:bodyPr wrap="square" rtlCol="0">
            <a:spAutoFit/>
          </a:bodyPr>
          <a:lstStyle/>
          <a:p>
            <a:pPr algn="r"/>
            <a:r>
              <a:rPr lang="en-US" dirty="0">
                <a:latin typeface="Roboto Light" pitchFamily="2" charset="0"/>
                <a:ea typeface="Roboto Light" pitchFamily="2" charset="0"/>
              </a:rPr>
              <a:t>Should we censor ourselves to protect people?</a:t>
            </a:r>
          </a:p>
        </p:txBody>
      </p:sp>
      <p:cxnSp>
        <p:nvCxnSpPr>
          <p:cNvPr id="7" name="Straight Connector 6">
            <a:extLst>
              <a:ext uri="{FF2B5EF4-FFF2-40B4-BE49-F238E27FC236}">
                <a16:creationId xmlns:a16="http://schemas.microsoft.com/office/drawing/2014/main" id="{BE1A0AB9-09FD-BD43-9E92-4C6A1547AD01}"/>
              </a:ext>
            </a:extLst>
          </p:cNvPr>
          <p:cNvCxnSpPr/>
          <p:nvPr/>
        </p:nvCxnSpPr>
        <p:spPr>
          <a:xfrm>
            <a:off x="3149600" y="3086100"/>
            <a:ext cx="76962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40865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CCBA67-538C-6E43-82FC-68116F592CAB}"/>
              </a:ext>
            </a:extLst>
          </p:cNvPr>
          <p:cNvSpPr txBox="1"/>
          <p:nvPr/>
        </p:nvSpPr>
        <p:spPr>
          <a:xfrm>
            <a:off x="3035299" y="469900"/>
            <a:ext cx="8501705" cy="1446550"/>
          </a:xfrm>
          <a:prstGeom prst="rect">
            <a:avLst/>
          </a:prstGeom>
          <a:noFill/>
        </p:spPr>
        <p:txBody>
          <a:bodyPr wrap="square" rtlCol="0">
            <a:spAutoFit/>
          </a:bodyPr>
          <a:lstStyle/>
          <a:p>
            <a:r>
              <a:rPr lang="en-US" sz="4800" dirty="0">
                <a:solidFill>
                  <a:srgbClr val="00B0F0"/>
                </a:solidFill>
                <a:latin typeface="Roboto Medium" pitchFamily="2" charset="0"/>
                <a:ea typeface="Roboto Medium" pitchFamily="2" charset="0"/>
              </a:rPr>
              <a:t>The client wants a plan</a:t>
            </a:r>
          </a:p>
          <a:p>
            <a:r>
              <a:rPr lang="en-US" sz="4000" dirty="0">
                <a:solidFill>
                  <a:srgbClr val="00B0F0"/>
                </a:solidFill>
                <a:latin typeface="Roboto Medium" pitchFamily="2" charset="0"/>
                <a:ea typeface="Roboto Medium" pitchFamily="2" charset="0"/>
              </a:rPr>
              <a:t>Should we be…</a:t>
            </a:r>
          </a:p>
        </p:txBody>
      </p:sp>
      <p:sp>
        <p:nvSpPr>
          <p:cNvPr id="11" name="Rectangle 10">
            <a:extLst>
              <a:ext uri="{FF2B5EF4-FFF2-40B4-BE49-F238E27FC236}">
                <a16:creationId xmlns:a16="http://schemas.microsoft.com/office/drawing/2014/main" id="{2D90CD75-C0D9-9E49-8E78-DFA185D56393}"/>
              </a:ext>
            </a:extLst>
          </p:cNvPr>
          <p:cNvSpPr/>
          <p:nvPr/>
        </p:nvSpPr>
        <p:spPr>
          <a:xfrm>
            <a:off x="0" y="0"/>
            <a:ext cx="24765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22384768-49A6-D742-A53C-E4D91FC56476}"/>
              </a:ext>
            </a:extLst>
          </p:cNvPr>
          <p:cNvSpPr txBox="1"/>
          <p:nvPr/>
        </p:nvSpPr>
        <p:spPr>
          <a:xfrm>
            <a:off x="3035300" y="3429000"/>
            <a:ext cx="947695" cy="461665"/>
          </a:xfrm>
          <a:prstGeom prst="rect">
            <a:avLst/>
          </a:prstGeom>
          <a:noFill/>
        </p:spPr>
        <p:txBody>
          <a:bodyPr wrap="none" rtlCol="0">
            <a:spAutoFit/>
          </a:bodyPr>
          <a:lstStyle/>
          <a:p>
            <a:r>
              <a:rPr lang="en-US" sz="2400" dirty="0">
                <a:latin typeface="Roboto Medium" pitchFamily="2" charset="0"/>
                <a:ea typeface="Roboto Medium" pitchFamily="2" charset="0"/>
              </a:rPr>
              <a:t>Exact</a:t>
            </a:r>
          </a:p>
        </p:txBody>
      </p:sp>
      <p:sp>
        <p:nvSpPr>
          <p:cNvPr id="6" name="TextBox 5">
            <a:extLst>
              <a:ext uri="{FF2B5EF4-FFF2-40B4-BE49-F238E27FC236}">
                <a16:creationId xmlns:a16="http://schemas.microsoft.com/office/drawing/2014/main" id="{A429ED71-6041-3F40-A14E-E7231DE789E8}"/>
              </a:ext>
            </a:extLst>
          </p:cNvPr>
          <p:cNvSpPr txBox="1"/>
          <p:nvPr/>
        </p:nvSpPr>
        <p:spPr>
          <a:xfrm>
            <a:off x="9423399" y="3429000"/>
            <a:ext cx="1612899" cy="461665"/>
          </a:xfrm>
          <a:prstGeom prst="rect">
            <a:avLst/>
          </a:prstGeom>
          <a:noFill/>
        </p:spPr>
        <p:txBody>
          <a:bodyPr wrap="square" rtlCol="0">
            <a:spAutoFit/>
          </a:bodyPr>
          <a:lstStyle/>
          <a:p>
            <a:pPr algn="r"/>
            <a:r>
              <a:rPr lang="en-US" sz="2400" dirty="0">
                <a:latin typeface="Roboto Medium" pitchFamily="2" charset="0"/>
                <a:ea typeface="Roboto Medium" pitchFamily="2" charset="0"/>
              </a:rPr>
              <a:t>Original</a:t>
            </a:r>
          </a:p>
        </p:txBody>
      </p:sp>
      <p:sp>
        <p:nvSpPr>
          <p:cNvPr id="3" name="TextBox 2">
            <a:extLst>
              <a:ext uri="{FF2B5EF4-FFF2-40B4-BE49-F238E27FC236}">
                <a16:creationId xmlns:a16="http://schemas.microsoft.com/office/drawing/2014/main" id="{51633DDC-467D-4D46-BAC7-C357BCD193C5}"/>
              </a:ext>
            </a:extLst>
          </p:cNvPr>
          <p:cNvSpPr txBox="1"/>
          <p:nvPr/>
        </p:nvSpPr>
        <p:spPr>
          <a:xfrm>
            <a:off x="3035300" y="4452035"/>
            <a:ext cx="2057399" cy="923330"/>
          </a:xfrm>
          <a:prstGeom prst="rect">
            <a:avLst/>
          </a:prstGeom>
          <a:noFill/>
        </p:spPr>
        <p:txBody>
          <a:bodyPr wrap="square" rtlCol="0">
            <a:spAutoFit/>
          </a:bodyPr>
          <a:lstStyle/>
          <a:p>
            <a:r>
              <a:rPr lang="en-US" dirty="0">
                <a:latin typeface="Roboto Light" pitchFamily="2" charset="0"/>
                <a:ea typeface="Roboto Light" pitchFamily="2" charset="0"/>
              </a:rPr>
              <a:t>Should we be ‘by the book’ with everything we do?</a:t>
            </a:r>
          </a:p>
        </p:txBody>
      </p:sp>
      <p:sp>
        <p:nvSpPr>
          <p:cNvPr id="8" name="TextBox 7">
            <a:extLst>
              <a:ext uri="{FF2B5EF4-FFF2-40B4-BE49-F238E27FC236}">
                <a16:creationId xmlns:a16="http://schemas.microsoft.com/office/drawing/2014/main" id="{EE1C1730-59E2-3C47-A996-3FBA375F7CF1}"/>
              </a:ext>
            </a:extLst>
          </p:cNvPr>
          <p:cNvSpPr txBox="1"/>
          <p:nvPr/>
        </p:nvSpPr>
        <p:spPr>
          <a:xfrm>
            <a:off x="8686800" y="4452035"/>
            <a:ext cx="2349499" cy="923330"/>
          </a:xfrm>
          <a:prstGeom prst="rect">
            <a:avLst/>
          </a:prstGeom>
          <a:noFill/>
        </p:spPr>
        <p:txBody>
          <a:bodyPr wrap="square" rtlCol="0">
            <a:spAutoFit/>
          </a:bodyPr>
          <a:lstStyle/>
          <a:p>
            <a:pPr algn="r"/>
            <a:r>
              <a:rPr lang="en-US" dirty="0">
                <a:latin typeface="Roboto Light" pitchFamily="2" charset="0"/>
                <a:ea typeface="Roboto Light" pitchFamily="2" charset="0"/>
              </a:rPr>
              <a:t>Should we be open-ended and willing to experiment?</a:t>
            </a:r>
          </a:p>
        </p:txBody>
      </p:sp>
      <p:cxnSp>
        <p:nvCxnSpPr>
          <p:cNvPr id="7" name="Straight Connector 6">
            <a:extLst>
              <a:ext uri="{FF2B5EF4-FFF2-40B4-BE49-F238E27FC236}">
                <a16:creationId xmlns:a16="http://schemas.microsoft.com/office/drawing/2014/main" id="{BE1A0AB9-09FD-BD43-9E92-4C6A1547AD01}"/>
              </a:ext>
            </a:extLst>
          </p:cNvPr>
          <p:cNvCxnSpPr/>
          <p:nvPr/>
        </p:nvCxnSpPr>
        <p:spPr>
          <a:xfrm>
            <a:off x="3149600" y="3086100"/>
            <a:ext cx="76962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32124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CCBA67-538C-6E43-82FC-68116F592CAB}"/>
              </a:ext>
            </a:extLst>
          </p:cNvPr>
          <p:cNvSpPr txBox="1"/>
          <p:nvPr/>
        </p:nvSpPr>
        <p:spPr>
          <a:xfrm>
            <a:off x="3035300" y="469900"/>
            <a:ext cx="7528938" cy="1446550"/>
          </a:xfrm>
          <a:prstGeom prst="rect">
            <a:avLst/>
          </a:prstGeom>
          <a:noFill/>
        </p:spPr>
        <p:txBody>
          <a:bodyPr wrap="square" rtlCol="0">
            <a:spAutoFit/>
          </a:bodyPr>
          <a:lstStyle/>
          <a:p>
            <a:r>
              <a:rPr lang="en-US" sz="4800" dirty="0">
                <a:solidFill>
                  <a:srgbClr val="00B0F0"/>
                </a:solidFill>
                <a:latin typeface="Roboto Medium" pitchFamily="2" charset="0"/>
                <a:ea typeface="Roboto Medium" pitchFamily="2" charset="0"/>
              </a:rPr>
              <a:t>Someone’s cat died. </a:t>
            </a:r>
          </a:p>
          <a:p>
            <a:r>
              <a:rPr lang="en-US" sz="4000" dirty="0">
                <a:solidFill>
                  <a:srgbClr val="00B0F0"/>
                </a:solidFill>
                <a:latin typeface="Roboto Medium" pitchFamily="2" charset="0"/>
                <a:ea typeface="Roboto Medium" pitchFamily="2" charset="0"/>
              </a:rPr>
              <a:t>Should we be…</a:t>
            </a:r>
            <a:endParaRPr lang="en-US" sz="4800" dirty="0">
              <a:solidFill>
                <a:srgbClr val="00B0F0"/>
              </a:solidFill>
              <a:latin typeface="Roboto Medium" pitchFamily="2" charset="0"/>
              <a:ea typeface="Roboto Medium" pitchFamily="2" charset="0"/>
            </a:endParaRPr>
          </a:p>
        </p:txBody>
      </p:sp>
      <p:sp>
        <p:nvSpPr>
          <p:cNvPr id="11" name="Rectangle 10">
            <a:extLst>
              <a:ext uri="{FF2B5EF4-FFF2-40B4-BE49-F238E27FC236}">
                <a16:creationId xmlns:a16="http://schemas.microsoft.com/office/drawing/2014/main" id="{2D90CD75-C0D9-9E49-8E78-DFA185D56393}"/>
              </a:ext>
            </a:extLst>
          </p:cNvPr>
          <p:cNvSpPr/>
          <p:nvPr/>
        </p:nvSpPr>
        <p:spPr>
          <a:xfrm>
            <a:off x="0" y="0"/>
            <a:ext cx="24765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22384768-49A6-D742-A53C-E4D91FC56476}"/>
              </a:ext>
            </a:extLst>
          </p:cNvPr>
          <p:cNvSpPr txBox="1"/>
          <p:nvPr/>
        </p:nvSpPr>
        <p:spPr>
          <a:xfrm>
            <a:off x="3035300" y="3429000"/>
            <a:ext cx="990977" cy="461665"/>
          </a:xfrm>
          <a:prstGeom prst="rect">
            <a:avLst/>
          </a:prstGeom>
          <a:noFill/>
        </p:spPr>
        <p:txBody>
          <a:bodyPr wrap="none" rtlCol="0">
            <a:spAutoFit/>
          </a:bodyPr>
          <a:lstStyle/>
          <a:p>
            <a:r>
              <a:rPr lang="en-US" sz="2400" dirty="0">
                <a:latin typeface="Roboto Medium" pitchFamily="2" charset="0"/>
                <a:ea typeface="Roboto Medium" pitchFamily="2" charset="0"/>
              </a:rPr>
              <a:t>Merry</a:t>
            </a:r>
          </a:p>
        </p:txBody>
      </p:sp>
      <p:sp>
        <p:nvSpPr>
          <p:cNvPr id="6" name="TextBox 5">
            <a:extLst>
              <a:ext uri="{FF2B5EF4-FFF2-40B4-BE49-F238E27FC236}">
                <a16:creationId xmlns:a16="http://schemas.microsoft.com/office/drawing/2014/main" id="{A429ED71-6041-3F40-A14E-E7231DE789E8}"/>
              </a:ext>
            </a:extLst>
          </p:cNvPr>
          <p:cNvSpPr txBox="1"/>
          <p:nvPr/>
        </p:nvSpPr>
        <p:spPr>
          <a:xfrm>
            <a:off x="9029701" y="3429000"/>
            <a:ext cx="2006598" cy="461665"/>
          </a:xfrm>
          <a:prstGeom prst="rect">
            <a:avLst/>
          </a:prstGeom>
          <a:noFill/>
        </p:spPr>
        <p:txBody>
          <a:bodyPr wrap="square" rtlCol="0">
            <a:spAutoFit/>
          </a:bodyPr>
          <a:lstStyle/>
          <a:p>
            <a:pPr algn="r"/>
            <a:r>
              <a:rPr lang="en-US" sz="2400" dirty="0">
                <a:latin typeface="Roboto Medium" pitchFamily="2" charset="0"/>
                <a:ea typeface="Roboto Medium" pitchFamily="2" charset="0"/>
              </a:rPr>
              <a:t>Empathetic</a:t>
            </a:r>
          </a:p>
        </p:txBody>
      </p:sp>
      <p:sp>
        <p:nvSpPr>
          <p:cNvPr id="3" name="TextBox 2">
            <a:extLst>
              <a:ext uri="{FF2B5EF4-FFF2-40B4-BE49-F238E27FC236}">
                <a16:creationId xmlns:a16="http://schemas.microsoft.com/office/drawing/2014/main" id="{51633DDC-467D-4D46-BAC7-C357BCD193C5}"/>
              </a:ext>
            </a:extLst>
          </p:cNvPr>
          <p:cNvSpPr txBox="1"/>
          <p:nvPr/>
        </p:nvSpPr>
        <p:spPr>
          <a:xfrm>
            <a:off x="3035300" y="4452035"/>
            <a:ext cx="2057399" cy="369332"/>
          </a:xfrm>
          <a:prstGeom prst="rect">
            <a:avLst/>
          </a:prstGeom>
          <a:noFill/>
        </p:spPr>
        <p:txBody>
          <a:bodyPr wrap="square" rtlCol="0">
            <a:spAutoFit/>
          </a:bodyPr>
          <a:lstStyle/>
          <a:p>
            <a:r>
              <a:rPr lang="en-US" dirty="0">
                <a:latin typeface="Roboto Light" pitchFamily="2" charset="0"/>
                <a:ea typeface="Roboto Light" pitchFamily="2" charset="0"/>
              </a:rPr>
              <a:t>Be happy</a:t>
            </a:r>
          </a:p>
        </p:txBody>
      </p:sp>
      <p:sp>
        <p:nvSpPr>
          <p:cNvPr id="8" name="TextBox 7">
            <a:extLst>
              <a:ext uri="{FF2B5EF4-FFF2-40B4-BE49-F238E27FC236}">
                <a16:creationId xmlns:a16="http://schemas.microsoft.com/office/drawing/2014/main" id="{EE1C1730-59E2-3C47-A996-3FBA375F7CF1}"/>
              </a:ext>
            </a:extLst>
          </p:cNvPr>
          <p:cNvSpPr txBox="1"/>
          <p:nvPr/>
        </p:nvSpPr>
        <p:spPr>
          <a:xfrm>
            <a:off x="9029700" y="4452035"/>
            <a:ext cx="2006599" cy="646331"/>
          </a:xfrm>
          <a:prstGeom prst="rect">
            <a:avLst/>
          </a:prstGeom>
          <a:noFill/>
        </p:spPr>
        <p:txBody>
          <a:bodyPr wrap="square" rtlCol="0">
            <a:spAutoFit/>
          </a:bodyPr>
          <a:lstStyle/>
          <a:p>
            <a:pPr algn="r"/>
            <a:r>
              <a:rPr lang="en-US" dirty="0">
                <a:latin typeface="Roboto Light" pitchFamily="2" charset="0"/>
                <a:ea typeface="Roboto Light" pitchFamily="2" charset="0"/>
              </a:rPr>
              <a:t>Express Our Condolences</a:t>
            </a:r>
          </a:p>
        </p:txBody>
      </p:sp>
      <p:cxnSp>
        <p:nvCxnSpPr>
          <p:cNvPr id="7" name="Straight Connector 6">
            <a:extLst>
              <a:ext uri="{FF2B5EF4-FFF2-40B4-BE49-F238E27FC236}">
                <a16:creationId xmlns:a16="http://schemas.microsoft.com/office/drawing/2014/main" id="{BE1A0AB9-09FD-BD43-9E92-4C6A1547AD01}"/>
              </a:ext>
            </a:extLst>
          </p:cNvPr>
          <p:cNvCxnSpPr/>
          <p:nvPr/>
        </p:nvCxnSpPr>
        <p:spPr>
          <a:xfrm>
            <a:off x="3149600" y="3086100"/>
            <a:ext cx="76962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21540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CCBA67-538C-6E43-82FC-68116F592CAB}"/>
              </a:ext>
            </a:extLst>
          </p:cNvPr>
          <p:cNvSpPr txBox="1"/>
          <p:nvPr/>
        </p:nvSpPr>
        <p:spPr>
          <a:xfrm>
            <a:off x="3035300" y="469900"/>
            <a:ext cx="7810500" cy="1446550"/>
          </a:xfrm>
          <a:prstGeom prst="rect">
            <a:avLst/>
          </a:prstGeom>
          <a:noFill/>
        </p:spPr>
        <p:txBody>
          <a:bodyPr wrap="square" rtlCol="0">
            <a:spAutoFit/>
          </a:bodyPr>
          <a:lstStyle/>
          <a:p>
            <a:r>
              <a:rPr lang="en-US" sz="4800" dirty="0">
                <a:solidFill>
                  <a:srgbClr val="00B0F0"/>
                </a:solidFill>
                <a:latin typeface="Roboto Medium" pitchFamily="2" charset="0"/>
                <a:ea typeface="Roboto Medium" pitchFamily="2" charset="0"/>
              </a:rPr>
              <a:t>A project is due</a:t>
            </a:r>
          </a:p>
          <a:p>
            <a:r>
              <a:rPr lang="en-US" sz="4000" dirty="0">
                <a:solidFill>
                  <a:srgbClr val="00B0F0"/>
                </a:solidFill>
                <a:latin typeface="Roboto Medium" pitchFamily="2" charset="0"/>
                <a:ea typeface="Roboto Medium" pitchFamily="2" charset="0"/>
              </a:rPr>
              <a:t>Should we be…</a:t>
            </a:r>
          </a:p>
        </p:txBody>
      </p:sp>
      <p:sp>
        <p:nvSpPr>
          <p:cNvPr id="11" name="Rectangle 10">
            <a:extLst>
              <a:ext uri="{FF2B5EF4-FFF2-40B4-BE49-F238E27FC236}">
                <a16:creationId xmlns:a16="http://schemas.microsoft.com/office/drawing/2014/main" id="{2D90CD75-C0D9-9E49-8E78-DFA185D56393}"/>
              </a:ext>
            </a:extLst>
          </p:cNvPr>
          <p:cNvSpPr/>
          <p:nvPr/>
        </p:nvSpPr>
        <p:spPr>
          <a:xfrm>
            <a:off x="0" y="0"/>
            <a:ext cx="24765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22384768-49A6-D742-A53C-E4D91FC56476}"/>
              </a:ext>
            </a:extLst>
          </p:cNvPr>
          <p:cNvSpPr txBox="1"/>
          <p:nvPr/>
        </p:nvSpPr>
        <p:spPr>
          <a:xfrm>
            <a:off x="3035300" y="3429000"/>
            <a:ext cx="1794081" cy="830997"/>
          </a:xfrm>
          <a:prstGeom prst="rect">
            <a:avLst/>
          </a:prstGeom>
          <a:noFill/>
        </p:spPr>
        <p:txBody>
          <a:bodyPr wrap="none" rtlCol="0">
            <a:spAutoFit/>
          </a:bodyPr>
          <a:lstStyle/>
          <a:p>
            <a:r>
              <a:rPr lang="en-US" sz="2400" dirty="0">
                <a:latin typeface="Roboto Medium" pitchFamily="2" charset="0"/>
                <a:ea typeface="Roboto Medium" pitchFamily="2" charset="0"/>
              </a:rPr>
              <a:t>Seriously </a:t>
            </a:r>
          </a:p>
          <a:p>
            <a:pPr algn="ctr"/>
            <a:r>
              <a:rPr lang="en-US" sz="2400" dirty="0">
                <a:latin typeface="Roboto Medium" pitchFamily="2" charset="0"/>
                <a:ea typeface="Roboto Medium" pitchFamily="2" charset="0"/>
              </a:rPr>
              <a:t>Responsive</a:t>
            </a:r>
          </a:p>
        </p:txBody>
      </p:sp>
      <p:sp>
        <p:nvSpPr>
          <p:cNvPr id="6" name="TextBox 5">
            <a:extLst>
              <a:ext uri="{FF2B5EF4-FFF2-40B4-BE49-F238E27FC236}">
                <a16:creationId xmlns:a16="http://schemas.microsoft.com/office/drawing/2014/main" id="{A429ED71-6041-3F40-A14E-E7231DE789E8}"/>
              </a:ext>
            </a:extLst>
          </p:cNvPr>
          <p:cNvSpPr txBox="1"/>
          <p:nvPr/>
        </p:nvSpPr>
        <p:spPr>
          <a:xfrm>
            <a:off x="9423399" y="3429000"/>
            <a:ext cx="1612899" cy="461665"/>
          </a:xfrm>
          <a:prstGeom prst="rect">
            <a:avLst/>
          </a:prstGeom>
          <a:noFill/>
        </p:spPr>
        <p:txBody>
          <a:bodyPr wrap="square" rtlCol="0">
            <a:spAutoFit/>
          </a:bodyPr>
          <a:lstStyle/>
          <a:p>
            <a:pPr algn="r"/>
            <a:r>
              <a:rPr lang="en-US" sz="2400" dirty="0">
                <a:latin typeface="Roboto Medium" pitchFamily="2" charset="0"/>
                <a:ea typeface="Roboto Medium" pitchFamily="2" charset="0"/>
              </a:rPr>
              <a:t>Amazing</a:t>
            </a:r>
          </a:p>
        </p:txBody>
      </p:sp>
      <p:sp>
        <p:nvSpPr>
          <p:cNvPr id="3" name="TextBox 2">
            <a:extLst>
              <a:ext uri="{FF2B5EF4-FFF2-40B4-BE49-F238E27FC236}">
                <a16:creationId xmlns:a16="http://schemas.microsoft.com/office/drawing/2014/main" id="{51633DDC-467D-4D46-BAC7-C357BCD193C5}"/>
              </a:ext>
            </a:extLst>
          </p:cNvPr>
          <p:cNvSpPr txBox="1"/>
          <p:nvPr/>
        </p:nvSpPr>
        <p:spPr>
          <a:xfrm>
            <a:off x="3035300" y="4452035"/>
            <a:ext cx="2432812" cy="923330"/>
          </a:xfrm>
          <a:prstGeom prst="rect">
            <a:avLst/>
          </a:prstGeom>
          <a:noFill/>
        </p:spPr>
        <p:txBody>
          <a:bodyPr wrap="square" rtlCol="0">
            <a:spAutoFit/>
          </a:bodyPr>
          <a:lstStyle/>
          <a:p>
            <a:r>
              <a:rPr lang="en-US" dirty="0">
                <a:latin typeface="Roboto Light" pitchFamily="2" charset="0"/>
                <a:ea typeface="Roboto Light" pitchFamily="2" charset="0"/>
              </a:rPr>
              <a:t>Deliver something average or mediocre on time?</a:t>
            </a:r>
          </a:p>
        </p:txBody>
      </p:sp>
      <p:sp>
        <p:nvSpPr>
          <p:cNvPr id="8" name="TextBox 7">
            <a:extLst>
              <a:ext uri="{FF2B5EF4-FFF2-40B4-BE49-F238E27FC236}">
                <a16:creationId xmlns:a16="http://schemas.microsoft.com/office/drawing/2014/main" id="{EE1C1730-59E2-3C47-A996-3FBA375F7CF1}"/>
              </a:ext>
            </a:extLst>
          </p:cNvPr>
          <p:cNvSpPr txBox="1"/>
          <p:nvPr/>
        </p:nvSpPr>
        <p:spPr>
          <a:xfrm>
            <a:off x="9029700" y="4452035"/>
            <a:ext cx="2006599" cy="923330"/>
          </a:xfrm>
          <a:prstGeom prst="rect">
            <a:avLst/>
          </a:prstGeom>
          <a:noFill/>
        </p:spPr>
        <p:txBody>
          <a:bodyPr wrap="square" rtlCol="0">
            <a:spAutoFit/>
          </a:bodyPr>
          <a:lstStyle/>
          <a:p>
            <a:pPr algn="r"/>
            <a:r>
              <a:rPr lang="en-US" dirty="0">
                <a:latin typeface="Roboto Light" pitchFamily="2" charset="0"/>
                <a:ea typeface="Roboto Light" pitchFamily="2" charset="0"/>
              </a:rPr>
              <a:t>Deliver something amazing that’s late?</a:t>
            </a:r>
          </a:p>
        </p:txBody>
      </p:sp>
      <p:cxnSp>
        <p:nvCxnSpPr>
          <p:cNvPr id="7" name="Straight Connector 6">
            <a:extLst>
              <a:ext uri="{FF2B5EF4-FFF2-40B4-BE49-F238E27FC236}">
                <a16:creationId xmlns:a16="http://schemas.microsoft.com/office/drawing/2014/main" id="{BE1A0AB9-09FD-BD43-9E92-4C6A1547AD01}"/>
              </a:ext>
            </a:extLst>
          </p:cNvPr>
          <p:cNvCxnSpPr/>
          <p:nvPr/>
        </p:nvCxnSpPr>
        <p:spPr>
          <a:xfrm>
            <a:off x="3149600" y="3086100"/>
            <a:ext cx="76962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440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D90CD75-C0D9-9E49-8E78-DFA185D56393}"/>
              </a:ext>
            </a:extLst>
          </p:cNvPr>
          <p:cNvSpPr/>
          <p:nvPr/>
        </p:nvSpPr>
        <p:spPr>
          <a:xfrm>
            <a:off x="0" y="0"/>
            <a:ext cx="12192000" cy="6858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20CCBA67-538C-6E43-82FC-68116F592CAB}"/>
              </a:ext>
            </a:extLst>
          </p:cNvPr>
          <p:cNvSpPr txBox="1"/>
          <p:nvPr/>
        </p:nvSpPr>
        <p:spPr>
          <a:xfrm>
            <a:off x="706876" y="1804938"/>
            <a:ext cx="10778246" cy="2308324"/>
          </a:xfrm>
          <a:prstGeom prst="rect">
            <a:avLst/>
          </a:prstGeom>
          <a:noFill/>
        </p:spPr>
        <p:txBody>
          <a:bodyPr wrap="square" rtlCol="0">
            <a:spAutoFit/>
          </a:bodyPr>
          <a:lstStyle/>
          <a:p>
            <a:pPr algn="ctr"/>
            <a:r>
              <a:rPr lang="en-US" sz="7200" dirty="0">
                <a:solidFill>
                  <a:schemeClr val="bg1"/>
                </a:solidFill>
                <a:latin typeface="Roboto Medium" pitchFamily="2" charset="0"/>
                <a:ea typeface="Roboto Medium" pitchFamily="2" charset="0"/>
              </a:rPr>
              <a:t>Withholding Information Out Of Love</a:t>
            </a:r>
          </a:p>
        </p:txBody>
      </p:sp>
      <p:sp>
        <p:nvSpPr>
          <p:cNvPr id="2" name="Heart 1">
            <a:extLst>
              <a:ext uri="{FF2B5EF4-FFF2-40B4-BE49-F238E27FC236}">
                <a16:creationId xmlns:a16="http://schemas.microsoft.com/office/drawing/2014/main" id="{8F76AFAA-160D-1D40-B00E-01B47C46159A}"/>
              </a:ext>
            </a:extLst>
          </p:cNvPr>
          <p:cNvSpPr/>
          <p:nvPr/>
        </p:nvSpPr>
        <p:spPr>
          <a:xfrm>
            <a:off x="4957863" y="4347494"/>
            <a:ext cx="2276273" cy="2276273"/>
          </a:xfrm>
          <a:prstGeom prst="heart">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1516609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pic>
        <p:nvPicPr>
          <p:cNvPr id="1026" name="Picture 2" descr="http://whatleydude.com/wp-content/uploads/2014/04/Screen-Shot-2014-04-19-at-10.12.02.png">
            <a:extLst>
              <a:ext uri="{FF2B5EF4-FFF2-40B4-BE49-F238E27FC236}">
                <a16:creationId xmlns:a16="http://schemas.microsoft.com/office/drawing/2014/main" id="{E0706404-7FF2-644A-8CD9-3B988B6C21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47725"/>
            <a:ext cx="12192000" cy="5162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71156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B78BA2-7B44-964F-ABD5-A12762720D4D}"/>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1638624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D90CD75-C0D9-9E49-8E78-DFA185D56393}"/>
              </a:ext>
            </a:extLst>
          </p:cNvPr>
          <p:cNvSpPr/>
          <p:nvPr/>
        </p:nvSpPr>
        <p:spPr>
          <a:xfrm>
            <a:off x="0" y="0"/>
            <a:ext cx="121920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20CCBA67-538C-6E43-82FC-68116F592CAB}"/>
              </a:ext>
            </a:extLst>
          </p:cNvPr>
          <p:cNvSpPr txBox="1"/>
          <p:nvPr/>
        </p:nvSpPr>
        <p:spPr>
          <a:xfrm>
            <a:off x="1164075" y="1804938"/>
            <a:ext cx="9863847" cy="2308324"/>
          </a:xfrm>
          <a:prstGeom prst="rect">
            <a:avLst/>
          </a:prstGeom>
          <a:noFill/>
        </p:spPr>
        <p:txBody>
          <a:bodyPr wrap="square" rtlCol="0">
            <a:spAutoFit/>
          </a:bodyPr>
          <a:lstStyle/>
          <a:p>
            <a:pPr algn="ctr"/>
            <a:r>
              <a:rPr lang="en-US" sz="7200" dirty="0">
                <a:solidFill>
                  <a:schemeClr val="bg1"/>
                </a:solidFill>
                <a:latin typeface="Roboto Medium" pitchFamily="2" charset="0"/>
                <a:ea typeface="Roboto Medium" pitchFamily="2" charset="0"/>
              </a:rPr>
              <a:t>A Lot Of Hurtful Things Come From Love</a:t>
            </a:r>
          </a:p>
        </p:txBody>
      </p:sp>
    </p:spTree>
    <p:extLst>
      <p:ext uri="{BB962C8B-B14F-4D97-AF65-F5344CB8AC3E}">
        <p14:creationId xmlns:p14="http://schemas.microsoft.com/office/powerpoint/2010/main" val="664448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CCBA67-538C-6E43-82FC-68116F592CAB}"/>
              </a:ext>
            </a:extLst>
          </p:cNvPr>
          <p:cNvSpPr txBox="1"/>
          <p:nvPr/>
        </p:nvSpPr>
        <p:spPr>
          <a:xfrm>
            <a:off x="3035299" y="469900"/>
            <a:ext cx="8423883" cy="1015663"/>
          </a:xfrm>
          <a:prstGeom prst="rect">
            <a:avLst/>
          </a:prstGeom>
          <a:noFill/>
        </p:spPr>
        <p:txBody>
          <a:bodyPr wrap="square" rtlCol="0">
            <a:spAutoFit/>
          </a:bodyPr>
          <a:lstStyle/>
          <a:p>
            <a:r>
              <a:rPr lang="en-US" sz="6000" dirty="0">
                <a:solidFill>
                  <a:srgbClr val="00B0F0"/>
                </a:solidFill>
                <a:latin typeface="Roboto Medium" pitchFamily="2" charset="0"/>
                <a:ea typeface="Roboto Medium" pitchFamily="2" charset="0"/>
              </a:rPr>
              <a:t>Liberals Are Empathetic</a:t>
            </a:r>
          </a:p>
        </p:txBody>
      </p:sp>
      <p:sp>
        <p:nvSpPr>
          <p:cNvPr id="11" name="Rectangle 10">
            <a:extLst>
              <a:ext uri="{FF2B5EF4-FFF2-40B4-BE49-F238E27FC236}">
                <a16:creationId xmlns:a16="http://schemas.microsoft.com/office/drawing/2014/main" id="{2D90CD75-C0D9-9E49-8E78-DFA185D56393}"/>
              </a:ext>
            </a:extLst>
          </p:cNvPr>
          <p:cNvSpPr/>
          <p:nvPr/>
        </p:nvSpPr>
        <p:spPr>
          <a:xfrm>
            <a:off x="0" y="0"/>
            <a:ext cx="24765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22384768-49A6-D742-A53C-E4D91FC56476}"/>
              </a:ext>
            </a:extLst>
          </p:cNvPr>
          <p:cNvSpPr txBox="1"/>
          <p:nvPr/>
        </p:nvSpPr>
        <p:spPr>
          <a:xfrm>
            <a:off x="3035301" y="2150320"/>
            <a:ext cx="8000998" cy="3416320"/>
          </a:xfrm>
          <a:prstGeom prst="rect">
            <a:avLst/>
          </a:prstGeom>
          <a:noFill/>
        </p:spPr>
        <p:txBody>
          <a:bodyPr wrap="square" rtlCol="0">
            <a:spAutoFit/>
          </a:bodyPr>
          <a:lstStyle/>
          <a:p>
            <a:r>
              <a:rPr lang="en-US" sz="2400" dirty="0">
                <a:latin typeface="Roboto Medium" pitchFamily="2" charset="0"/>
                <a:ea typeface="Roboto Medium" pitchFamily="2" charset="0"/>
              </a:rPr>
              <a:t>They believe people shouldn’t make decisions for themselves, because can't be trusted to make good decisions, and so the smart people should make the decisions for them because they (the majority of people) don't know any better. </a:t>
            </a:r>
          </a:p>
          <a:p>
            <a:endParaRPr lang="en-US" sz="2400" dirty="0">
              <a:latin typeface="Roboto Medium" pitchFamily="2" charset="0"/>
              <a:ea typeface="Roboto Medium" pitchFamily="2" charset="0"/>
            </a:endParaRPr>
          </a:p>
          <a:p>
            <a:r>
              <a:rPr lang="en-US" sz="2400" dirty="0">
                <a:latin typeface="Roboto Medium" pitchFamily="2" charset="0"/>
                <a:ea typeface="Roboto Medium" pitchFamily="2" charset="0"/>
              </a:rPr>
              <a:t>If the smart people can come up with a plan that will benefit everyone in the long run, then it's ok to withhold information or require seemingly unfair regulations. </a:t>
            </a:r>
          </a:p>
        </p:txBody>
      </p:sp>
    </p:spTree>
    <p:extLst>
      <p:ext uri="{BB962C8B-B14F-4D97-AF65-F5344CB8AC3E}">
        <p14:creationId xmlns:p14="http://schemas.microsoft.com/office/powerpoint/2010/main" val="20910866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CCBA67-538C-6E43-82FC-68116F592CAB}"/>
              </a:ext>
            </a:extLst>
          </p:cNvPr>
          <p:cNvSpPr txBox="1"/>
          <p:nvPr/>
        </p:nvSpPr>
        <p:spPr>
          <a:xfrm>
            <a:off x="3035299" y="469900"/>
            <a:ext cx="8423883" cy="1015663"/>
          </a:xfrm>
          <a:prstGeom prst="rect">
            <a:avLst/>
          </a:prstGeom>
          <a:noFill/>
        </p:spPr>
        <p:txBody>
          <a:bodyPr wrap="square" rtlCol="0">
            <a:spAutoFit/>
          </a:bodyPr>
          <a:lstStyle/>
          <a:p>
            <a:r>
              <a:rPr lang="en-US" sz="6000" dirty="0">
                <a:solidFill>
                  <a:srgbClr val="00B0F0"/>
                </a:solidFill>
                <a:latin typeface="Roboto Medium" pitchFamily="2" charset="0"/>
                <a:ea typeface="Roboto Medium" pitchFamily="2" charset="0"/>
              </a:rPr>
              <a:t>Nifty Is Empathetic</a:t>
            </a:r>
          </a:p>
        </p:txBody>
      </p:sp>
      <p:sp>
        <p:nvSpPr>
          <p:cNvPr id="11" name="Rectangle 10">
            <a:extLst>
              <a:ext uri="{FF2B5EF4-FFF2-40B4-BE49-F238E27FC236}">
                <a16:creationId xmlns:a16="http://schemas.microsoft.com/office/drawing/2014/main" id="{2D90CD75-C0D9-9E49-8E78-DFA185D56393}"/>
              </a:ext>
            </a:extLst>
          </p:cNvPr>
          <p:cNvSpPr/>
          <p:nvPr/>
        </p:nvSpPr>
        <p:spPr>
          <a:xfrm>
            <a:off x="0" y="0"/>
            <a:ext cx="24765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22384768-49A6-D742-A53C-E4D91FC56476}"/>
              </a:ext>
            </a:extLst>
          </p:cNvPr>
          <p:cNvSpPr txBox="1"/>
          <p:nvPr/>
        </p:nvSpPr>
        <p:spPr>
          <a:xfrm>
            <a:off x="3035301" y="2150320"/>
            <a:ext cx="8000998" cy="1569660"/>
          </a:xfrm>
          <a:prstGeom prst="rect">
            <a:avLst/>
          </a:prstGeom>
          <a:noFill/>
        </p:spPr>
        <p:txBody>
          <a:bodyPr wrap="square" rtlCol="0">
            <a:spAutoFit/>
          </a:bodyPr>
          <a:lstStyle/>
          <a:p>
            <a:r>
              <a:rPr lang="en-US" sz="2400" dirty="0">
                <a:latin typeface="Roboto Medium" pitchFamily="2" charset="0"/>
                <a:ea typeface="Roboto Medium" pitchFamily="2" charset="0"/>
              </a:rPr>
              <a:t>Nifty withholds information and makes seemingly unfair decisions because they know what they're doing. They are looking at multiple variables. They are seeing things we don’t see because they are looking at the big picture.</a:t>
            </a:r>
          </a:p>
        </p:txBody>
      </p:sp>
    </p:spTree>
    <p:extLst>
      <p:ext uri="{BB962C8B-B14F-4D97-AF65-F5344CB8AC3E}">
        <p14:creationId xmlns:p14="http://schemas.microsoft.com/office/powerpoint/2010/main" val="13333328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CCBA67-538C-6E43-82FC-68116F592CAB}"/>
              </a:ext>
            </a:extLst>
          </p:cNvPr>
          <p:cNvSpPr txBox="1"/>
          <p:nvPr/>
        </p:nvSpPr>
        <p:spPr>
          <a:xfrm>
            <a:off x="3035299" y="469900"/>
            <a:ext cx="8423883" cy="1015663"/>
          </a:xfrm>
          <a:prstGeom prst="rect">
            <a:avLst/>
          </a:prstGeom>
          <a:noFill/>
        </p:spPr>
        <p:txBody>
          <a:bodyPr wrap="square" rtlCol="0">
            <a:spAutoFit/>
          </a:bodyPr>
          <a:lstStyle/>
          <a:p>
            <a:r>
              <a:rPr lang="en-US" sz="6000" dirty="0">
                <a:solidFill>
                  <a:srgbClr val="00B0F0"/>
                </a:solidFill>
                <a:latin typeface="Roboto Medium" pitchFamily="2" charset="0"/>
                <a:ea typeface="Roboto Medium" pitchFamily="2" charset="0"/>
              </a:rPr>
              <a:t>Example 1: Healthcare</a:t>
            </a:r>
          </a:p>
        </p:txBody>
      </p:sp>
      <p:sp>
        <p:nvSpPr>
          <p:cNvPr id="11" name="Rectangle 10">
            <a:extLst>
              <a:ext uri="{FF2B5EF4-FFF2-40B4-BE49-F238E27FC236}">
                <a16:creationId xmlns:a16="http://schemas.microsoft.com/office/drawing/2014/main" id="{2D90CD75-C0D9-9E49-8E78-DFA185D56393}"/>
              </a:ext>
            </a:extLst>
          </p:cNvPr>
          <p:cNvSpPr/>
          <p:nvPr/>
        </p:nvSpPr>
        <p:spPr>
          <a:xfrm>
            <a:off x="0" y="0"/>
            <a:ext cx="24765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4E78920-677A-0046-865F-6445DCD92AA9}"/>
              </a:ext>
            </a:extLst>
          </p:cNvPr>
          <p:cNvSpPr txBox="1"/>
          <p:nvPr/>
        </p:nvSpPr>
        <p:spPr>
          <a:xfrm>
            <a:off x="3035300" y="3429000"/>
            <a:ext cx="1402948" cy="461665"/>
          </a:xfrm>
          <a:prstGeom prst="rect">
            <a:avLst/>
          </a:prstGeom>
          <a:noFill/>
        </p:spPr>
        <p:txBody>
          <a:bodyPr wrap="none" rtlCol="0">
            <a:spAutoFit/>
          </a:bodyPr>
          <a:lstStyle/>
          <a:p>
            <a:r>
              <a:rPr lang="en-US" sz="2400" dirty="0">
                <a:latin typeface="Roboto Medium" pitchFamily="2" charset="0"/>
                <a:ea typeface="Roboto Medium" pitchFamily="2" charset="0"/>
              </a:rPr>
              <a:t>Empathy</a:t>
            </a:r>
          </a:p>
        </p:txBody>
      </p:sp>
      <p:sp>
        <p:nvSpPr>
          <p:cNvPr id="6" name="TextBox 5">
            <a:extLst>
              <a:ext uri="{FF2B5EF4-FFF2-40B4-BE49-F238E27FC236}">
                <a16:creationId xmlns:a16="http://schemas.microsoft.com/office/drawing/2014/main" id="{390E78DF-A525-4B44-917E-3052E507CF97}"/>
              </a:ext>
            </a:extLst>
          </p:cNvPr>
          <p:cNvSpPr txBox="1"/>
          <p:nvPr/>
        </p:nvSpPr>
        <p:spPr>
          <a:xfrm>
            <a:off x="9423399" y="3429000"/>
            <a:ext cx="1612899" cy="461665"/>
          </a:xfrm>
          <a:prstGeom prst="rect">
            <a:avLst/>
          </a:prstGeom>
          <a:noFill/>
        </p:spPr>
        <p:txBody>
          <a:bodyPr wrap="square" rtlCol="0">
            <a:spAutoFit/>
          </a:bodyPr>
          <a:lstStyle/>
          <a:p>
            <a:pPr algn="r"/>
            <a:r>
              <a:rPr lang="en-US" sz="2400" dirty="0">
                <a:latin typeface="Roboto Medium" pitchFamily="2" charset="0"/>
                <a:ea typeface="Roboto Medium" pitchFamily="2" charset="0"/>
              </a:rPr>
              <a:t>Choice</a:t>
            </a:r>
          </a:p>
        </p:txBody>
      </p:sp>
      <p:sp>
        <p:nvSpPr>
          <p:cNvPr id="7" name="TextBox 6">
            <a:extLst>
              <a:ext uri="{FF2B5EF4-FFF2-40B4-BE49-F238E27FC236}">
                <a16:creationId xmlns:a16="http://schemas.microsoft.com/office/drawing/2014/main" id="{2CC268DB-92F7-2C44-840A-40145CA5C3EF}"/>
              </a:ext>
            </a:extLst>
          </p:cNvPr>
          <p:cNvSpPr txBox="1"/>
          <p:nvPr/>
        </p:nvSpPr>
        <p:spPr>
          <a:xfrm>
            <a:off x="3035300" y="4452035"/>
            <a:ext cx="2057399" cy="1200329"/>
          </a:xfrm>
          <a:prstGeom prst="rect">
            <a:avLst/>
          </a:prstGeom>
          <a:noFill/>
        </p:spPr>
        <p:txBody>
          <a:bodyPr wrap="square" rtlCol="0">
            <a:spAutoFit/>
          </a:bodyPr>
          <a:lstStyle/>
          <a:p>
            <a:r>
              <a:rPr lang="en-US" dirty="0">
                <a:latin typeface="Roboto Light" pitchFamily="2" charset="0"/>
                <a:ea typeface="Roboto Light" pitchFamily="2" charset="0"/>
              </a:rPr>
              <a:t>Give everyone healthcare by mandating insurance.</a:t>
            </a:r>
          </a:p>
        </p:txBody>
      </p:sp>
      <p:sp>
        <p:nvSpPr>
          <p:cNvPr id="8" name="TextBox 7">
            <a:extLst>
              <a:ext uri="{FF2B5EF4-FFF2-40B4-BE49-F238E27FC236}">
                <a16:creationId xmlns:a16="http://schemas.microsoft.com/office/drawing/2014/main" id="{B66F3890-D779-1F47-8F1A-AFE8C8553C79}"/>
              </a:ext>
            </a:extLst>
          </p:cNvPr>
          <p:cNvSpPr txBox="1"/>
          <p:nvPr/>
        </p:nvSpPr>
        <p:spPr>
          <a:xfrm>
            <a:off x="9029700" y="4452035"/>
            <a:ext cx="2006599" cy="1200329"/>
          </a:xfrm>
          <a:prstGeom prst="rect">
            <a:avLst/>
          </a:prstGeom>
          <a:noFill/>
        </p:spPr>
        <p:txBody>
          <a:bodyPr wrap="square" rtlCol="0">
            <a:spAutoFit/>
          </a:bodyPr>
          <a:lstStyle/>
          <a:p>
            <a:pPr algn="r"/>
            <a:r>
              <a:rPr lang="en-US" dirty="0">
                <a:latin typeface="Roboto Light" pitchFamily="2" charset="0"/>
                <a:ea typeface="Roboto Light" pitchFamily="2" charset="0"/>
              </a:rPr>
              <a:t>Let People Make Their Own Decisions About Healthcare</a:t>
            </a:r>
          </a:p>
        </p:txBody>
      </p:sp>
      <p:cxnSp>
        <p:nvCxnSpPr>
          <p:cNvPr id="9" name="Straight Connector 8">
            <a:extLst>
              <a:ext uri="{FF2B5EF4-FFF2-40B4-BE49-F238E27FC236}">
                <a16:creationId xmlns:a16="http://schemas.microsoft.com/office/drawing/2014/main" id="{6F1CF39D-DF28-414E-A8C4-1EC400439AB3}"/>
              </a:ext>
            </a:extLst>
          </p:cNvPr>
          <p:cNvCxnSpPr/>
          <p:nvPr/>
        </p:nvCxnSpPr>
        <p:spPr>
          <a:xfrm>
            <a:off x="3149600" y="3086100"/>
            <a:ext cx="76962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15262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CCBA67-538C-6E43-82FC-68116F592CAB}"/>
              </a:ext>
            </a:extLst>
          </p:cNvPr>
          <p:cNvSpPr txBox="1"/>
          <p:nvPr/>
        </p:nvSpPr>
        <p:spPr>
          <a:xfrm>
            <a:off x="3035299" y="469900"/>
            <a:ext cx="8423883" cy="1015663"/>
          </a:xfrm>
          <a:prstGeom prst="rect">
            <a:avLst/>
          </a:prstGeom>
          <a:noFill/>
        </p:spPr>
        <p:txBody>
          <a:bodyPr wrap="square" rtlCol="0">
            <a:spAutoFit/>
          </a:bodyPr>
          <a:lstStyle/>
          <a:p>
            <a:r>
              <a:rPr lang="en-US" sz="6000" dirty="0">
                <a:solidFill>
                  <a:srgbClr val="00B0F0"/>
                </a:solidFill>
                <a:latin typeface="Roboto Medium" pitchFamily="2" charset="0"/>
                <a:ea typeface="Roboto Medium" pitchFamily="2" charset="0"/>
              </a:rPr>
              <a:t>Example 2: Gun Control</a:t>
            </a:r>
          </a:p>
        </p:txBody>
      </p:sp>
      <p:sp>
        <p:nvSpPr>
          <p:cNvPr id="11" name="Rectangle 10">
            <a:extLst>
              <a:ext uri="{FF2B5EF4-FFF2-40B4-BE49-F238E27FC236}">
                <a16:creationId xmlns:a16="http://schemas.microsoft.com/office/drawing/2014/main" id="{2D90CD75-C0D9-9E49-8E78-DFA185D56393}"/>
              </a:ext>
            </a:extLst>
          </p:cNvPr>
          <p:cNvSpPr/>
          <p:nvPr/>
        </p:nvSpPr>
        <p:spPr>
          <a:xfrm>
            <a:off x="0" y="0"/>
            <a:ext cx="24765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4E78920-677A-0046-865F-6445DCD92AA9}"/>
              </a:ext>
            </a:extLst>
          </p:cNvPr>
          <p:cNvSpPr txBox="1"/>
          <p:nvPr/>
        </p:nvSpPr>
        <p:spPr>
          <a:xfrm>
            <a:off x="3035300" y="3429000"/>
            <a:ext cx="1402948" cy="461665"/>
          </a:xfrm>
          <a:prstGeom prst="rect">
            <a:avLst/>
          </a:prstGeom>
          <a:noFill/>
        </p:spPr>
        <p:txBody>
          <a:bodyPr wrap="none" rtlCol="0">
            <a:spAutoFit/>
          </a:bodyPr>
          <a:lstStyle/>
          <a:p>
            <a:r>
              <a:rPr lang="en-US" sz="2400" dirty="0">
                <a:latin typeface="Roboto Medium" pitchFamily="2" charset="0"/>
                <a:ea typeface="Roboto Medium" pitchFamily="2" charset="0"/>
              </a:rPr>
              <a:t>Empathy</a:t>
            </a:r>
          </a:p>
        </p:txBody>
      </p:sp>
      <p:sp>
        <p:nvSpPr>
          <p:cNvPr id="6" name="TextBox 5">
            <a:extLst>
              <a:ext uri="{FF2B5EF4-FFF2-40B4-BE49-F238E27FC236}">
                <a16:creationId xmlns:a16="http://schemas.microsoft.com/office/drawing/2014/main" id="{390E78DF-A525-4B44-917E-3052E507CF97}"/>
              </a:ext>
            </a:extLst>
          </p:cNvPr>
          <p:cNvSpPr txBox="1"/>
          <p:nvPr/>
        </p:nvSpPr>
        <p:spPr>
          <a:xfrm>
            <a:off x="9423399" y="3429000"/>
            <a:ext cx="1612899" cy="461665"/>
          </a:xfrm>
          <a:prstGeom prst="rect">
            <a:avLst/>
          </a:prstGeom>
          <a:noFill/>
        </p:spPr>
        <p:txBody>
          <a:bodyPr wrap="square" rtlCol="0">
            <a:spAutoFit/>
          </a:bodyPr>
          <a:lstStyle/>
          <a:p>
            <a:pPr algn="r"/>
            <a:r>
              <a:rPr lang="en-US" sz="2400" dirty="0">
                <a:latin typeface="Roboto Medium" pitchFamily="2" charset="0"/>
                <a:ea typeface="Roboto Medium" pitchFamily="2" charset="0"/>
              </a:rPr>
              <a:t>Choice</a:t>
            </a:r>
          </a:p>
        </p:txBody>
      </p:sp>
      <p:sp>
        <p:nvSpPr>
          <p:cNvPr id="7" name="TextBox 6">
            <a:extLst>
              <a:ext uri="{FF2B5EF4-FFF2-40B4-BE49-F238E27FC236}">
                <a16:creationId xmlns:a16="http://schemas.microsoft.com/office/drawing/2014/main" id="{2CC268DB-92F7-2C44-840A-40145CA5C3EF}"/>
              </a:ext>
            </a:extLst>
          </p:cNvPr>
          <p:cNvSpPr txBox="1"/>
          <p:nvPr/>
        </p:nvSpPr>
        <p:spPr>
          <a:xfrm>
            <a:off x="3035300" y="4452035"/>
            <a:ext cx="2359660" cy="923330"/>
          </a:xfrm>
          <a:prstGeom prst="rect">
            <a:avLst/>
          </a:prstGeom>
          <a:noFill/>
        </p:spPr>
        <p:txBody>
          <a:bodyPr wrap="square" rtlCol="0">
            <a:spAutoFit/>
          </a:bodyPr>
          <a:lstStyle/>
          <a:p>
            <a:r>
              <a:rPr lang="en-US" dirty="0">
                <a:latin typeface="Roboto Light" pitchFamily="2" charset="0"/>
                <a:ea typeface="Roboto Light" pitchFamily="2" charset="0"/>
              </a:rPr>
              <a:t>Get Guns Away From Citizens Because Guns Lead to Death</a:t>
            </a:r>
          </a:p>
        </p:txBody>
      </p:sp>
      <p:sp>
        <p:nvSpPr>
          <p:cNvPr id="8" name="TextBox 7">
            <a:extLst>
              <a:ext uri="{FF2B5EF4-FFF2-40B4-BE49-F238E27FC236}">
                <a16:creationId xmlns:a16="http://schemas.microsoft.com/office/drawing/2014/main" id="{B66F3890-D779-1F47-8F1A-AFE8C8553C79}"/>
              </a:ext>
            </a:extLst>
          </p:cNvPr>
          <p:cNvSpPr txBox="1"/>
          <p:nvPr/>
        </p:nvSpPr>
        <p:spPr>
          <a:xfrm>
            <a:off x="8613648" y="4452035"/>
            <a:ext cx="2422651" cy="923330"/>
          </a:xfrm>
          <a:prstGeom prst="rect">
            <a:avLst/>
          </a:prstGeom>
          <a:noFill/>
        </p:spPr>
        <p:txBody>
          <a:bodyPr wrap="square" rtlCol="0">
            <a:spAutoFit/>
          </a:bodyPr>
          <a:lstStyle/>
          <a:p>
            <a:pPr algn="r"/>
            <a:r>
              <a:rPr lang="en-US" dirty="0">
                <a:latin typeface="Roboto Light" pitchFamily="2" charset="0"/>
                <a:ea typeface="Roboto Light" pitchFamily="2" charset="0"/>
              </a:rPr>
              <a:t>Guns Are A Safeguard Against Government Corruption</a:t>
            </a:r>
          </a:p>
        </p:txBody>
      </p:sp>
      <p:cxnSp>
        <p:nvCxnSpPr>
          <p:cNvPr id="9" name="Straight Connector 8">
            <a:extLst>
              <a:ext uri="{FF2B5EF4-FFF2-40B4-BE49-F238E27FC236}">
                <a16:creationId xmlns:a16="http://schemas.microsoft.com/office/drawing/2014/main" id="{6F1CF39D-DF28-414E-A8C4-1EC400439AB3}"/>
              </a:ext>
            </a:extLst>
          </p:cNvPr>
          <p:cNvCxnSpPr/>
          <p:nvPr/>
        </p:nvCxnSpPr>
        <p:spPr>
          <a:xfrm>
            <a:off x="3149600" y="3086100"/>
            <a:ext cx="76962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07847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CCBA67-538C-6E43-82FC-68116F592CAB}"/>
              </a:ext>
            </a:extLst>
          </p:cNvPr>
          <p:cNvSpPr txBox="1"/>
          <p:nvPr/>
        </p:nvSpPr>
        <p:spPr>
          <a:xfrm>
            <a:off x="3035299" y="469900"/>
            <a:ext cx="8423883" cy="1938992"/>
          </a:xfrm>
          <a:prstGeom prst="rect">
            <a:avLst/>
          </a:prstGeom>
          <a:noFill/>
        </p:spPr>
        <p:txBody>
          <a:bodyPr wrap="square" rtlCol="0">
            <a:spAutoFit/>
          </a:bodyPr>
          <a:lstStyle/>
          <a:p>
            <a:r>
              <a:rPr lang="en-US" sz="6000" dirty="0">
                <a:solidFill>
                  <a:srgbClr val="00B0F0"/>
                </a:solidFill>
                <a:latin typeface="Roboto Medium" pitchFamily="2" charset="0"/>
                <a:ea typeface="Roboto Medium" pitchFamily="2" charset="0"/>
              </a:rPr>
              <a:t>Example 3: Unhealthy Foods</a:t>
            </a:r>
          </a:p>
        </p:txBody>
      </p:sp>
      <p:sp>
        <p:nvSpPr>
          <p:cNvPr id="11" name="Rectangle 10">
            <a:extLst>
              <a:ext uri="{FF2B5EF4-FFF2-40B4-BE49-F238E27FC236}">
                <a16:creationId xmlns:a16="http://schemas.microsoft.com/office/drawing/2014/main" id="{2D90CD75-C0D9-9E49-8E78-DFA185D56393}"/>
              </a:ext>
            </a:extLst>
          </p:cNvPr>
          <p:cNvSpPr/>
          <p:nvPr/>
        </p:nvSpPr>
        <p:spPr>
          <a:xfrm>
            <a:off x="0" y="0"/>
            <a:ext cx="24765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4E78920-677A-0046-865F-6445DCD92AA9}"/>
              </a:ext>
            </a:extLst>
          </p:cNvPr>
          <p:cNvSpPr txBox="1"/>
          <p:nvPr/>
        </p:nvSpPr>
        <p:spPr>
          <a:xfrm>
            <a:off x="3035300" y="3429000"/>
            <a:ext cx="1402948" cy="461665"/>
          </a:xfrm>
          <a:prstGeom prst="rect">
            <a:avLst/>
          </a:prstGeom>
          <a:noFill/>
        </p:spPr>
        <p:txBody>
          <a:bodyPr wrap="none" rtlCol="0">
            <a:spAutoFit/>
          </a:bodyPr>
          <a:lstStyle/>
          <a:p>
            <a:r>
              <a:rPr lang="en-US" sz="2400" dirty="0">
                <a:latin typeface="Roboto Medium" pitchFamily="2" charset="0"/>
                <a:ea typeface="Roboto Medium" pitchFamily="2" charset="0"/>
              </a:rPr>
              <a:t>Empathy</a:t>
            </a:r>
          </a:p>
        </p:txBody>
      </p:sp>
      <p:sp>
        <p:nvSpPr>
          <p:cNvPr id="6" name="TextBox 5">
            <a:extLst>
              <a:ext uri="{FF2B5EF4-FFF2-40B4-BE49-F238E27FC236}">
                <a16:creationId xmlns:a16="http://schemas.microsoft.com/office/drawing/2014/main" id="{390E78DF-A525-4B44-917E-3052E507CF97}"/>
              </a:ext>
            </a:extLst>
          </p:cNvPr>
          <p:cNvSpPr txBox="1"/>
          <p:nvPr/>
        </p:nvSpPr>
        <p:spPr>
          <a:xfrm>
            <a:off x="9423399" y="3429000"/>
            <a:ext cx="1612899" cy="461665"/>
          </a:xfrm>
          <a:prstGeom prst="rect">
            <a:avLst/>
          </a:prstGeom>
          <a:noFill/>
        </p:spPr>
        <p:txBody>
          <a:bodyPr wrap="square" rtlCol="0">
            <a:spAutoFit/>
          </a:bodyPr>
          <a:lstStyle/>
          <a:p>
            <a:pPr algn="r"/>
            <a:r>
              <a:rPr lang="en-US" sz="2400" dirty="0">
                <a:latin typeface="Roboto Medium" pitchFamily="2" charset="0"/>
                <a:ea typeface="Roboto Medium" pitchFamily="2" charset="0"/>
              </a:rPr>
              <a:t>Choice</a:t>
            </a:r>
          </a:p>
        </p:txBody>
      </p:sp>
      <p:sp>
        <p:nvSpPr>
          <p:cNvPr id="7" name="TextBox 6">
            <a:extLst>
              <a:ext uri="{FF2B5EF4-FFF2-40B4-BE49-F238E27FC236}">
                <a16:creationId xmlns:a16="http://schemas.microsoft.com/office/drawing/2014/main" id="{2CC268DB-92F7-2C44-840A-40145CA5C3EF}"/>
              </a:ext>
            </a:extLst>
          </p:cNvPr>
          <p:cNvSpPr txBox="1"/>
          <p:nvPr/>
        </p:nvSpPr>
        <p:spPr>
          <a:xfrm>
            <a:off x="3035300" y="4452035"/>
            <a:ext cx="2057399" cy="646331"/>
          </a:xfrm>
          <a:prstGeom prst="rect">
            <a:avLst/>
          </a:prstGeom>
          <a:noFill/>
        </p:spPr>
        <p:txBody>
          <a:bodyPr wrap="square" rtlCol="0">
            <a:spAutoFit/>
          </a:bodyPr>
          <a:lstStyle/>
          <a:p>
            <a:r>
              <a:rPr lang="en-US" dirty="0">
                <a:latin typeface="Roboto Light" pitchFamily="2" charset="0"/>
                <a:ea typeface="Roboto Light" pitchFamily="2" charset="0"/>
              </a:rPr>
              <a:t>Ban Trans Fats +</a:t>
            </a:r>
          </a:p>
          <a:p>
            <a:r>
              <a:rPr lang="en-US" dirty="0">
                <a:latin typeface="Roboto Light" pitchFamily="2" charset="0"/>
                <a:ea typeface="Roboto Light" pitchFamily="2" charset="0"/>
              </a:rPr>
              <a:t>Tax Soda/Sugar</a:t>
            </a:r>
          </a:p>
        </p:txBody>
      </p:sp>
      <p:sp>
        <p:nvSpPr>
          <p:cNvPr id="8" name="TextBox 7">
            <a:extLst>
              <a:ext uri="{FF2B5EF4-FFF2-40B4-BE49-F238E27FC236}">
                <a16:creationId xmlns:a16="http://schemas.microsoft.com/office/drawing/2014/main" id="{B66F3890-D779-1F47-8F1A-AFE8C8553C79}"/>
              </a:ext>
            </a:extLst>
          </p:cNvPr>
          <p:cNvSpPr txBox="1"/>
          <p:nvPr/>
        </p:nvSpPr>
        <p:spPr>
          <a:xfrm>
            <a:off x="9029700" y="4452035"/>
            <a:ext cx="2006599" cy="646331"/>
          </a:xfrm>
          <a:prstGeom prst="rect">
            <a:avLst/>
          </a:prstGeom>
          <a:noFill/>
        </p:spPr>
        <p:txBody>
          <a:bodyPr wrap="square" rtlCol="0">
            <a:spAutoFit/>
          </a:bodyPr>
          <a:lstStyle/>
          <a:p>
            <a:pPr algn="r"/>
            <a:r>
              <a:rPr lang="en-US" dirty="0">
                <a:latin typeface="Roboto Light" pitchFamily="2" charset="0"/>
                <a:ea typeface="Roboto Light" pitchFamily="2" charset="0"/>
              </a:rPr>
              <a:t>Let People Eat What They Want</a:t>
            </a:r>
          </a:p>
        </p:txBody>
      </p:sp>
      <p:cxnSp>
        <p:nvCxnSpPr>
          <p:cNvPr id="9" name="Straight Connector 8">
            <a:extLst>
              <a:ext uri="{FF2B5EF4-FFF2-40B4-BE49-F238E27FC236}">
                <a16:creationId xmlns:a16="http://schemas.microsoft.com/office/drawing/2014/main" id="{6F1CF39D-DF28-414E-A8C4-1EC400439AB3}"/>
              </a:ext>
            </a:extLst>
          </p:cNvPr>
          <p:cNvCxnSpPr/>
          <p:nvPr/>
        </p:nvCxnSpPr>
        <p:spPr>
          <a:xfrm>
            <a:off x="3149600" y="3086100"/>
            <a:ext cx="76962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78496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CCBA67-538C-6E43-82FC-68116F592CAB}"/>
              </a:ext>
            </a:extLst>
          </p:cNvPr>
          <p:cNvSpPr txBox="1"/>
          <p:nvPr/>
        </p:nvSpPr>
        <p:spPr>
          <a:xfrm>
            <a:off x="3035299" y="469900"/>
            <a:ext cx="8423883" cy="1015663"/>
          </a:xfrm>
          <a:prstGeom prst="rect">
            <a:avLst/>
          </a:prstGeom>
          <a:noFill/>
        </p:spPr>
        <p:txBody>
          <a:bodyPr wrap="square" rtlCol="0">
            <a:spAutoFit/>
          </a:bodyPr>
          <a:lstStyle/>
          <a:p>
            <a:r>
              <a:rPr lang="en-US" sz="6000" dirty="0">
                <a:solidFill>
                  <a:srgbClr val="00B0F0"/>
                </a:solidFill>
                <a:latin typeface="Roboto Medium" pitchFamily="2" charset="0"/>
                <a:ea typeface="Roboto Medium" pitchFamily="2" charset="0"/>
              </a:rPr>
              <a:t>Example 4: Salary</a:t>
            </a:r>
          </a:p>
        </p:txBody>
      </p:sp>
      <p:sp>
        <p:nvSpPr>
          <p:cNvPr id="11" name="Rectangle 10">
            <a:extLst>
              <a:ext uri="{FF2B5EF4-FFF2-40B4-BE49-F238E27FC236}">
                <a16:creationId xmlns:a16="http://schemas.microsoft.com/office/drawing/2014/main" id="{2D90CD75-C0D9-9E49-8E78-DFA185D56393}"/>
              </a:ext>
            </a:extLst>
          </p:cNvPr>
          <p:cNvSpPr/>
          <p:nvPr/>
        </p:nvSpPr>
        <p:spPr>
          <a:xfrm>
            <a:off x="0" y="0"/>
            <a:ext cx="24765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4E78920-677A-0046-865F-6445DCD92AA9}"/>
              </a:ext>
            </a:extLst>
          </p:cNvPr>
          <p:cNvSpPr txBox="1"/>
          <p:nvPr/>
        </p:nvSpPr>
        <p:spPr>
          <a:xfrm>
            <a:off x="3035300" y="3429000"/>
            <a:ext cx="1402948" cy="461665"/>
          </a:xfrm>
          <a:prstGeom prst="rect">
            <a:avLst/>
          </a:prstGeom>
          <a:noFill/>
        </p:spPr>
        <p:txBody>
          <a:bodyPr wrap="none" rtlCol="0">
            <a:spAutoFit/>
          </a:bodyPr>
          <a:lstStyle/>
          <a:p>
            <a:r>
              <a:rPr lang="en-US" sz="2400" dirty="0">
                <a:latin typeface="Roboto Medium" pitchFamily="2" charset="0"/>
                <a:ea typeface="Roboto Medium" pitchFamily="2" charset="0"/>
              </a:rPr>
              <a:t>Empathy</a:t>
            </a:r>
          </a:p>
        </p:txBody>
      </p:sp>
      <p:sp>
        <p:nvSpPr>
          <p:cNvPr id="6" name="TextBox 5">
            <a:extLst>
              <a:ext uri="{FF2B5EF4-FFF2-40B4-BE49-F238E27FC236}">
                <a16:creationId xmlns:a16="http://schemas.microsoft.com/office/drawing/2014/main" id="{390E78DF-A525-4B44-917E-3052E507CF97}"/>
              </a:ext>
            </a:extLst>
          </p:cNvPr>
          <p:cNvSpPr txBox="1"/>
          <p:nvPr/>
        </p:nvSpPr>
        <p:spPr>
          <a:xfrm>
            <a:off x="9423399" y="3429000"/>
            <a:ext cx="1612899" cy="461665"/>
          </a:xfrm>
          <a:prstGeom prst="rect">
            <a:avLst/>
          </a:prstGeom>
          <a:noFill/>
        </p:spPr>
        <p:txBody>
          <a:bodyPr wrap="square" rtlCol="0">
            <a:spAutoFit/>
          </a:bodyPr>
          <a:lstStyle/>
          <a:p>
            <a:pPr algn="r"/>
            <a:r>
              <a:rPr lang="en-US" sz="2400" dirty="0">
                <a:latin typeface="Roboto Medium" pitchFamily="2" charset="0"/>
                <a:ea typeface="Roboto Medium" pitchFamily="2" charset="0"/>
              </a:rPr>
              <a:t>Choice</a:t>
            </a:r>
          </a:p>
        </p:txBody>
      </p:sp>
      <p:sp>
        <p:nvSpPr>
          <p:cNvPr id="7" name="TextBox 6">
            <a:extLst>
              <a:ext uri="{FF2B5EF4-FFF2-40B4-BE49-F238E27FC236}">
                <a16:creationId xmlns:a16="http://schemas.microsoft.com/office/drawing/2014/main" id="{2CC268DB-92F7-2C44-840A-40145CA5C3EF}"/>
              </a:ext>
            </a:extLst>
          </p:cNvPr>
          <p:cNvSpPr txBox="1"/>
          <p:nvPr/>
        </p:nvSpPr>
        <p:spPr>
          <a:xfrm>
            <a:off x="3035300" y="4452035"/>
            <a:ext cx="2057399" cy="646331"/>
          </a:xfrm>
          <a:prstGeom prst="rect">
            <a:avLst/>
          </a:prstGeom>
          <a:noFill/>
        </p:spPr>
        <p:txBody>
          <a:bodyPr wrap="square" rtlCol="0">
            <a:spAutoFit/>
          </a:bodyPr>
          <a:lstStyle/>
          <a:p>
            <a:r>
              <a:rPr lang="en-US" dirty="0">
                <a:latin typeface="Roboto Light" pitchFamily="2" charset="0"/>
                <a:ea typeface="Roboto Light" pitchFamily="2" charset="0"/>
              </a:rPr>
              <a:t>To Protect Others You Can’t Know</a:t>
            </a:r>
          </a:p>
        </p:txBody>
      </p:sp>
      <p:sp>
        <p:nvSpPr>
          <p:cNvPr id="8" name="TextBox 7">
            <a:extLst>
              <a:ext uri="{FF2B5EF4-FFF2-40B4-BE49-F238E27FC236}">
                <a16:creationId xmlns:a16="http://schemas.microsoft.com/office/drawing/2014/main" id="{B66F3890-D779-1F47-8F1A-AFE8C8553C79}"/>
              </a:ext>
            </a:extLst>
          </p:cNvPr>
          <p:cNvSpPr txBox="1"/>
          <p:nvPr/>
        </p:nvSpPr>
        <p:spPr>
          <a:xfrm>
            <a:off x="9029700" y="4452035"/>
            <a:ext cx="2006599" cy="646331"/>
          </a:xfrm>
          <a:prstGeom prst="rect">
            <a:avLst/>
          </a:prstGeom>
          <a:noFill/>
        </p:spPr>
        <p:txBody>
          <a:bodyPr wrap="square" rtlCol="0">
            <a:spAutoFit/>
          </a:bodyPr>
          <a:lstStyle/>
          <a:p>
            <a:pPr algn="r"/>
            <a:r>
              <a:rPr lang="en-US" dirty="0">
                <a:latin typeface="Roboto Light" pitchFamily="2" charset="0"/>
                <a:ea typeface="Roboto Light" pitchFamily="2" charset="0"/>
              </a:rPr>
              <a:t>Verify There Is No Unfairness</a:t>
            </a:r>
          </a:p>
        </p:txBody>
      </p:sp>
      <p:cxnSp>
        <p:nvCxnSpPr>
          <p:cNvPr id="9" name="Straight Connector 8">
            <a:extLst>
              <a:ext uri="{FF2B5EF4-FFF2-40B4-BE49-F238E27FC236}">
                <a16:creationId xmlns:a16="http://schemas.microsoft.com/office/drawing/2014/main" id="{6F1CF39D-DF28-414E-A8C4-1EC400439AB3}"/>
              </a:ext>
            </a:extLst>
          </p:cNvPr>
          <p:cNvCxnSpPr/>
          <p:nvPr/>
        </p:nvCxnSpPr>
        <p:spPr>
          <a:xfrm>
            <a:off x="3149600" y="3086100"/>
            <a:ext cx="76962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81249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CCBA67-538C-6E43-82FC-68116F592CAB}"/>
              </a:ext>
            </a:extLst>
          </p:cNvPr>
          <p:cNvSpPr txBox="1"/>
          <p:nvPr/>
        </p:nvSpPr>
        <p:spPr>
          <a:xfrm>
            <a:off x="3035299" y="469900"/>
            <a:ext cx="8423883" cy="1015663"/>
          </a:xfrm>
          <a:prstGeom prst="rect">
            <a:avLst/>
          </a:prstGeom>
          <a:noFill/>
        </p:spPr>
        <p:txBody>
          <a:bodyPr wrap="square" rtlCol="0">
            <a:spAutoFit/>
          </a:bodyPr>
          <a:lstStyle/>
          <a:p>
            <a:r>
              <a:rPr lang="en-US" sz="6000" dirty="0">
                <a:solidFill>
                  <a:srgbClr val="00B0F0"/>
                </a:solidFill>
                <a:latin typeface="Roboto Medium" pitchFamily="2" charset="0"/>
                <a:ea typeface="Roboto Medium" pitchFamily="2" charset="0"/>
              </a:rPr>
              <a:t>Example 5: Clarity</a:t>
            </a:r>
          </a:p>
        </p:txBody>
      </p:sp>
      <p:sp>
        <p:nvSpPr>
          <p:cNvPr id="11" name="Rectangle 10">
            <a:extLst>
              <a:ext uri="{FF2B5EF4-FFF2-40B4-BE49-F238E27FC236}">
                <a16:creationId xmlns:a16="http://schemas.microsoft.com/office/drawing/2014/main" id="{2D90CD75-C0D9-9E49-8E78-DFA185D56393}"/>
              </a:ext>
            </a:extLst>
          </p:cNvPr>
          <p:cNvSpPr/>
          <p:nvPr/>
        </p:nvSpPr>
        <p:spPr>
          <a:xfrm>
            <a:off x="0" y="0"/>
            <a:ext cx="24765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4E78920-677A-0046-865F-6445DCD92AA9}"/>
              </a:ext>
            </a:extLst>
          </p:cNvPr>
          <p:cNvSpPr txBox="1"/>
          <p:nvPr/>
        </p:nvSpPr>
        <p:spPr>
          <a:xfrm>
            <a:off x="3035300" y="3429000"/>
            <a:ext cx="1402948" cy="461665"/>
          </a:xfrm>
          <a:prstGeom prst="rect">
            <a:avLst/>
          </a:prstGeom>
          <a:noFill/>
        </p:spPr>
        <p:txBody>
          <a:bodyPr wrap="none" rtlCol="0">
            <a:spAutoFit/>
          </a:bodyPr>
          <a:lstStyle/>
          <a:p>
            <a:r>
              <a:rPr lang="en-US" sz="2400" dirty="0">
                <a:latin typeface="Roboto Medium" pitchFamily="2" charset="0"/>
                <a:ea typeface="Roboto Medium" pitchFamily="2" charset="0"/>
              </a:rPr>
              <a:t>Empathy</a:t>
            </a:r>
          </a:p>
        </p:txBody>
      </p:sp>
      <p:sp>
        <p:nvSpPr>
          <p:cNvPr id="6" name="TextBox 5">
            <a:extLst>
              <a:ext uri="{FF2B5EF4-FFF2-40B4-BE49-F238E27FC236}">
                <a16:creationId xmlns:a16="http://schemas.microsoft.com/office/drawing/2014/main" id="{390E78DF-A525-4B44-917E-3052E507CF97}"/>
              </a:ext>
            </a:extLst>
          </p:cNvPr>
          <p:cNvSpPr txBox="1"/>
          <p:nvPr/>
        </p:nvSpPr>
        <p:spPr>
          <a:xfrm>
            <a:off x="7489371" y="3429000"/>
            <a:ext cx="3546927" cy="461665"/>
          </a:xfrm>
          <a:prstGeom prst="rect">
            <a:avLst/>
          </a:prstGeom>
          <a:noFill/>
        </p:spPr>
        <p:txBody>
          <a:bodyPr wrap="square" rtlCol="0">
            <a:spAutoFit/>
          </a:bodyPr>
          <a:lstStyle/>
          <a:p>
            <a:pPr algn="r"/>
            <a:r>
              <a:rPr lang="en-US" sz="2400" dirty="0">
                <a:latin typeface="Roboto Medium" pitchFamily="2" charset="0"/>
                <a:ea typeface="Roboto Medium" pitchFamily="2" charset="0"/>
              </a:rPr>
              <a:t>Choice</a:t>
            </a:r>
          </a:p>
        </p:txBody>
      </p:sp>
      <p:sp>
        <p:nvSpPr>
          <p:cNvPr id="7" name="TextBox 6">
            <a:extLst>
              <a:ext uri="{FF2B5EF4-FFF2-40B4-BE49-F238E27FC236}">
                <a16:creationId xmlns:a16="http://schemas.microsoft.com/office/drawing/2014/main" id="{2CC268DB-92F7-2C44-840A-40145CA5C3EF}"/>
              </a:ext>
            </a:extLst>
          </p:cNvPr>
          <p:cNvSpPr txBox="1"/>
          <p:nvPr/>
        </p:nvSpPr>
        <p:spPr>
          <a:xfrm>
            <a:off x="3035300" y="4452035"/>
            <a:ext cx="2057399" cy="369332"/>
          </a:xfrm>
          <a:prstGeom prst="rect">
            <a:avLst/>
          </a:prstGeom>
          <a:noFill/>
        </p:spPr>
        <p:txBody>
          <a:bodyPr wrap="square" rtlCol="0">
            <a:spAutoFit/>
          </a:bodyPr>
          <a:lstStyle/>
          <a:p>
            <a:r>
              <a:rPr lang="en-US" dirty="0">
                <a:latin typeface="Roboto Light" pitchFamily="2" charset="0"/>
                <a:ea typeface="Roboto Light" pitchFamily="2" charset="0"/>
              </a:rPr>
              <a:t>Prevent Bitterness</a:t>
            </a:r>
          </a:p>
        </p:txBody>
      </p:sp>
      <p:sp>
        <p:nvSpPr>
          <p:cNvPr id="8" name="TextBox 7">
            <a:extLst>
              <a:ext uri="{FF2B5EF4-FFF2-40B4-BE49-F238E27FC236}">
                <a16:creationId xmlns:a16="http://schemas.microsoft.com/office/drawing/2014/main" id="{B66F3890-D779-1F47-8F1A-AFE8C8553C79}"/>
              </a:ext>
            </a:extLst>
          </p:cNvPr>
          <p:cNvSpPr txBox="1"/>
          <p:nvPr/>
        </p:nvSpPr>
        <p:spPr>
          <a:xfrm>
            <a:off x="8503920" y="4452035"/>
            <a:ext cx="2532379" cy="923330"/>
          </a:xfrm>
          <a:prstGeom prst="rect">
            <a:avLst/>
          </a:prstGeom>
          <a:noFill/>
        </p:spPr>
        <p:txBody>
          <a:bodyPr wrap="square" rtlCol="0">
            <a:spAutoFit/>
          </a:bodyPr>
          <a:lstStyle/>
          <a:p>
            <a:pPr algn="r"/>
            <a:r>
              <a:rPr lang="en-US" dirty="0">
                <a:latin typeface="Roboto Light" pitchFamily="2" charset="0"/>
                <a:ea typeface="Roboto Light" pitchFamily="2" charset="0"/>
              </a:rPr>
              <a:t>Given The Information To Make Informed Decisions</a:t>
            </a:r>
          </a:p>
        </p:txBody>
      </p:sp>
      <p:cxnSp>
        <p:nvCxnSpPr>
          <p:cNvPr id="9" name="Straight Connector 8">
            <a:extLst>
              <a:ext uri="{FF2B5EF4-FFF2-40B4-BE49-F238E27FC236}">
                <a16:creationId xmlns:a16="http://schemas.microsoft.com/office/drawing/2014/main" id="{6F1CF39D-DF28-414E-A8C4-1EC400439AB3}"/>
              </a:ext>
            </a:extLst>
          </p:cNvPr>
          <p:cNvCxnSpPr/>
          <p:nvPr/>
        </p:nvCxnSpPr>
        <p:spPr>
          <a:xfrm>
            <a:off x="3149600" y="3086100"/>
            <a:ext cx="76962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92049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D90CD75-C0D9-9E49-8E78-DFA185D56393}"/>
              </a:ext>
            </a:extLst>
          </p:cNvPr>
          <p:cNvSpPr/>
          <p:nvPr/>
        </p:nvSpPr>
        <p:spPr>
          <a:xfrm>
            <a:off x="0" y="0"/>
            <a:ext cx="12192000" cy="6858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20CCBA67-538C-6E43-82FC-68116F592CAB}"/>
              </a:ext>
            </a:extLst>
          </p:cNvPr>
          <p:cNvSpPr txBox="1"/>
          <p:nvPr/>
        </p:nvSpPr>
        <p:spPr>
          <a:xfrm>
            <a:off x="706876" y="1804938"/>
            <a:ext cx="10778246" cy="2308324"/>
          </a:xfrm>
          <a:prstGeom prst="rect">
            <a:avLst/>
          </a:prstGeom>
          <a:noFill/>
        </p:spPr>
        <p:txBody>
          <a:bodyPr wrap="square" rtlCol="0">
            <a:spAutoFit/>
          </a:bodyPr>
          <a:lstStyle/>
          <a:p>
            <a:pPr algn="ctr"/>
            <a:r>
              <a:rPr lang="en-US" sz="7200" dirty="0">
                <a:solidFill>
                  <a:schemeClr val="bg1"/>
                </a:solidFill>
                <a:latin typeface="Roboto Medium" pitchFamily="2" charset="0"/>
                <a:ea typeface="Roboto Medium" pitchFamily="2" charset="0"/>
              </a:rPr>
              <a:t>The Nifty Way:</a:t>
            </a:r>
          </a:p>
          <a:p>
            <a:pPr algn="ctr"/>
            <a:r>
              <a:rPr lang="en-US" sz="7200" dirty="0">
                <a:solidFill>
                  <a:schemeClr val="bg1"/>
                </a:solidFill>
                <a:latin typeface="Roboto Medium" pitchFamily="2" charset="0"/>
                <a:ea typeface="Roboto Medium" pitchFamily="2" charset="0"/>
              </a:rPr>
              <a:t>Empathy Trumps All</a:t>
            </a:r>
          </a:p>
        </p:txBody>
      </p:sp>
      <p:sp>
        <p:nvSpPr>
          <p:cNvPr id="2" name="Heart 1">
            <a:extLst>
              <a:ext uri="{FF2B5EF4-FFF2-40B4-BE49-F238E27FC236}">
                <a16:creationId xmlns:a16="http://schemas.microsoft.com/office/drawing/2014/main" id="{8F76AFAA-160D-1D40-B00E-01B47C46159A}"/>
              </a:ext>
            </a:extLst>
          </p:cNvPr>
          <p:cNvSpPr/>
          <p:nvPr/>
        </p:nvSpPr>
        <p:spPr>
          <a:xfrm>
            <a:off x="5173362" y="4347494"/>
            <a:ext cx="1845273" cy="1845273"/>
          </a:xfrm>
          <a:prstGeom prst="heart">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9331475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D90CD75-C0D9-9E49-8E78-DFA185D56393}"/>
              </a:ext>
            </a:extLst>
          </p:cNvPr>
          <p:cNvSpPr/>
          <p:nvPr/>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20CCBA67-538C-6E43-82FC-68116F592CAB}"/>
              </a:ext>
            </a:extLst>
          </p:cNvPr>
          <p:cNvSpPr txBox="1"/>
          <p:nvPr/>
        </p:nvSpPr>
        <p:spPr>
          <a:xfrm>
            <a:off x="706876" y="1804938"/>
            <a:ext cx="10778246" cy="2308324"/>
          </a:xfrm>
          <a:prstGeom prst="rect">
            <a:avLst/>
          </a:prstGeom>
          <a:noFill/>
        </p:spPr>
        <p:txBody>
          <a:bodyPr wrap="square" rtlCol="0">
            <a:spAutoFit/>
          </a:bodyPr>
          <a:lstStyle/>
          <a:p>
            <a:pPr algn="ctr"/>
            <a:r>
              <a:rPr lang="en-US" sz="7200" dirty="0">
                <a:solidFill>
                  <a:schemeClr val="tx1">
                    <a:lumMod val="75000"/>
                    <a:lumOff val="25000"/>
                  </a:schemeClr>
                </a:solidFill>
                <a:latin typeface="Roboto Medium" pitchFamily="2" charset="0"/>
                <a:ea typeface="Roboto Medium" pitchFamily="2" charset="0"/>
              </a:rPr>
              <a:t>Is Empathy A </a:t>
            </a:r>
          </a:p>
          <a:p>
            <a:pPr algn="ctr"/>
            <a:r>
              <a:rPr lang="en-US" sz="7200" dirty="0">
                <a:solidFill>
                  <a:schemeClr val="tx1">
                    <a:lumMod val="75000"/>
                    <a:lumOff val="25000"/>
                  </a:schemeClr>
                </a:solidFill>
                <a:latin typeface="Roboto Medium" pitchFamily="2" charset="0"/>
                <a:ea typeface="Roboto Medium" pitchFamily="2" charset="0"/>
              </a:rPr>
              <a:t>Good Cornerstone?</a:t>
            </a:r>
          </a:p>
        </p:txBody>
      </p:sp>
      <p:sp>
        <p:nvSpPr>
          <p:cNvPr id="5" name="TextBox 4">
            <a:extLst>
              <a:ext uri="{FF2B5EF4-FFF2-40B4-BE49-F238E27FC236}">
                <a16:creationId xmlns:a16="http://schemas.microsoft.com/office/drawing/2014/main" id="{47B724BC-F16E-5243-AA5F-3C48AAE16324}"/>
              </a:ext>
            </a:extLst>
          </p:cNvPr>
          <p:cNvSpPr txBox="1"/>
          <p:nvPr/>
        </p:nvSpPr>
        <p:spPr>
          <a:xfrm>
            <a:off x="706876" y="4469967"/>
            <a:ext cx="10778246" cy="830997"/>
          </a:xfrm>
          <a:prstGeom prst="rect">
            <a:avLst/>
          </a:prstGeom>
          <a:noFill/>
        </p:spPr>
        <p:txBody>
          <a:bodyPr wrap="square" rtlCol="0">
            <a:spAutoFit/>
          </a:bodyPr>
          <a:lstStyle/>
          <a:p>
            <a:pPr algn="ctr"/>
            <a:r>
              <a:rPr lang="en-US" sz="4800" dirty="0">
                <a:solidFill>
                  <a:schemeClr val="tx1">
                    <a:lumMod val="75000"/>
                    <a:lumOff val="25000"/>
                  </a:schemeClr>
                </a:solidFill>
                <a:latin typeface="Roboto Light" pitchFamily="2" charset="0"/>
                <a:ea typeface="Roboto Light" pitchFamily="2" charset="0"/>
              </a:rPr>
              <a:t>The Downsides of Empathy</a:t>
            </a:r>
          </a:p>
        </p:txBody>
      </p:sp>
    </p:spTree>
    <p:extLst>
      <p:ext uri="{BB962C8B-B14F-4D97-AF65-F5344CB8AC3E}">
        <p14:creationId xmlns:p14="http://schemas.microsoft.com/office/powerpoint/2010/main" val="11409322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CCBA67-538C-6E43-82FC-68116F592CAB}"/>
              </a:ext>
            </a:extLst>
          </p:cNvPr>
          <p:cNvSpPr txBox="1"/>
          <p:nvPr/>
        </p:nvSpPr>
        <p:spPr>
          <a:xfrm>
            <a:off x="3035299" y="469900"/>
            <a:ext cx="8423883" cy="1015663"/>
          </a:xfrm>
          <a:prstGeom prst="rect">
            <a:avLst/>
          </a:prstGeom>
          <a:noFill/>
        </p:spPr>
        <p:txBody>
          <a:bodyPr wrap="square" rtlCol="0">
            <a:spAutoFit/>
          </a:bodyPr>
          <a:lstStyle/>
          <a:p>
            <a:r>
              <a:rPr lang="en-US" sz="6000" dirty="0">
                <a:solidFill>
                  <a:srgbClr val="00B0F0"/>
                </a:solidFill>
                <a:latin typeface="Roboto Medium" pitchFamily="2" charset="0"/>
                <a:ea typeface="Roboto Medium" pitchFamily="2" charset="0"/>
              </a:rPr>
              <a:t>Information Asymmetry Dangers</a:t>
            </a:r>
          </a:p>
        </p:txBody>
      </p:sp>
      <p:sp>
        <p:nvSpPr>
          <p:cNvPr id="11" name="Rectangle 10">
            <a:extLst>
              <a:ext uri="{FF2B5EF4-FFF2-40B4-BE49-F238E27FC236}">
                <a16:creationId xmlns:a16="http://schemas.microsoft.com/office/drawing/2014/main" id="{2D90CD75-C0D9-9E49-8E78-DFA185D56393}"/>
              </a:ext>
            </a:extLst>
          </p:cNvPr>
          <p:cNvSpPr/>
          <p:nvPr/>
        </p:nvSpPr>
        <p:spPr>
          <a:xfrm>
            <a:off x="0" y="0"/>
            <a:ext cx="24765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22384768-49A6-D742-A53C-E4D91FC56476}"/>
              </a:ext>
            </a:extLst>
          </p:cNvPr>
          <p:cNvSpPr txBox="1"/>
          <p:nvPr/>
        </p:nvSpPr>
        <p:spPr>
          <a:xfrm>
            <a:off x="3035301" y="3193446"/>
            <a:ext cx="8000998" cy="1508105"/>
          </a:xfrm>
          <a:prstGeom prst="rect">
            <a:avLst/>
          </a:prstGeom>
          <a:noFill/>
        </p:spPr>
        <p:txBody>
          <a:bodyPr wrap="square" rtlCol="0">
            <a:spAutoFit/>
          </a:bodyPr>
          <a:lstStyle/>
          <a:p>
            <a:pPr marL="342900" indent="-342900">
              <a:spcAft>
                <a:spcPts val="1200"/>
              </a:spcAft>
              <a:buFont typeface="Wingdings" pitchFamily="2" charset="2"/>
              <a:buChar char="ü"/>
            </a:pPr>
            <a:r>
              <a:rPr lang="en-US" sz="2400" dirty="0">
                <a:latin typeface="Roboto" pitchFamily="2" charset="0"/>
                <a:ea typeface="Roboto" pitchFamily="2" charset="0"/>
              </a:rPr>
              <a:t>Humans Are Imperfect</a:t>
            </a:r>
          </a:p>
          <a:p>
            <a:pPr marL="342900" indent="-342900">
              <a:spcAft>
                <a:spcPts val="1200"/>
              </a:spcAft>
              <a:buFont typeface="Wingdings" pitchFamily="2" charset="2"/>
              <a:buChar char="ü"/>
            </a:pPr>
            <a:r>
              <a:rPr lang="en-US" sz="2400" dirty="0">
                <a:latin typeface="Roboto" pitchFamily="2" charset="0"/>
                <a:ea typeface="Roboto" pitchFamily="2" charset="0"/>
              </a:rPr>
              <a:t>Corruption Is A Real Danger</a:t>
            </a:r>
          </a:p>
          <a:p>
            <a:pPr marL="342900" indent="-342900">
              <a:spcAft>
                <a:spcPts val="1200"/>
              </a:spcAft>
              <a:buFont typeface="Wingdings" pitchFamily="2" charset="2"/>
              <a:buChar char="ü"/>
            </a:pPr>
            <a:r>
              <a:rPr lang="en-US" sz="2400" dirty="0">
                <a:latin typeface="Roboto" pitchFamily="2" charset="0"/>
                <a:ea typeface="Roboto" pitchFamily="2" charset="0"/>
              </a:rPr>
              <a:t>Unconscious Biases </a:t>
            </a:r>
          </a:p>
        </p:txBody>
      </p:sp>
    </p:spTree>
    <p:extLst>
      <p:ext uri="{BB962C8B-B14F-4D97-AF65-F5344CB8AC3E}">
        <p14:creationId xmlns:p14="http://schemas.microsoft.com/office/powerpoint/2010/main" val="9067978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CCBA67-538C-6E43-82FC-68116F592CAB}"/>
              </a:ext>
            </a:extLst>
          </p:cNvPr>
          <p:cNvSpPr txBox="1"/>
          <p:nvPr/>
        </p:nvSpPr>
        <p:spPr>
          <a:xfrm>
            <a:off x="3035299" y="469900"/>
            <a:ext cx="8423883" cy="1015663"/>
          </a:xfrm>
          <a:prstGeom prst="rect">
            <a:avLst/>
          </a:prstGeom>
          <a:noFill/>
        </p:spPr>
        <p:txBody>
          <a:bodyPr wrap="square" rtlCol="0">
            <a:spAutoFit/>
          </a:bodyPr>
          <a:lstStyle/>
          <a:p>
            <a:r>
              <a:rPr lang="en-US" sz="6000" dirty="0">
                <a:solidFill>
                  <a:srgbClr val="00B0F0"/>
                </a:solidFill>
                <a:latin typeface="Roboto Medium" pitchFamily="2" charset="0"/>
                <a:ea typeface="Roboto Medium" pitchFamily="2" charset="0"/>
              </a:rPr>
              <a:t>Blind Trust Isn’t Good</a:t>
            </a:r>
          </a:p>
        </p:txBody>
      </p:sp>
      <p:sp>
        <p:nvSpPr>
          <p:cNvPr id="11" name="Rectangle 10">
            <a:extLst>
              <a:ext uri="{FF2B5EF4-FFF2-40B4-BE49-F238E27FC236}">
                <a16:creationId xmlns:a16="http://schemas.microsoft.com/office/drawing/2014/main" id="{2D90CD75-C0D9-9E49-8E78-DFA185D56393}"/>
              </a:ext>
            </a:extLst>
          </p:cNvPr>
          <p:cNvSpPr/>
          <p:nvPr/>
        </p:nvSpPr>
        <p:spPr>
          <a:xfrm>
            <a:off x="0" y="0"/>
            <a:ext cx="24765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50" name="Picture 2" descr="See the source image">
            <a:extLst>
              <a:ext uri="{FF2B5EF4-FFF2-40B4-BE49-F238E27FC236}">
                <a16:creationId xmlns:a16="http://schemas.microsoft.com/office/drawing/2014/main" id="{4DAE8D23-91C3-0646-A09D-DA8100BDC8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3315" y="1668443"/>
            <a:ext cx="6257261" cy="47105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0387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D90CD75-C0D9-9E49-8E78-DFA185D56393}"/>
              </a:ext>
            </a:extLst>
          </p:cNvPr>
          <p:cNvSpPr/>
          <p:nvPr/>
        </p:nvSpPr>
        <p:spPr>
          <a:xfrm>
            <a:off x="0" y="0"/>
            <a:ext cx="121920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20CCBA67-538C-6E43-82FC-68116F592CAB}"/>
              </a:ext>
            </a:extLst>
          </p:cNvPr>
          <p:cNvSpPr txBox="1"/>
          <p:nvPr/>
        </p:nvSpPr>
        <p:spPr>
          <a:xfrm>
            <a:off x="1164075" y="1804938"/>
            <a:ext cx="9863847" cy="2308324"/>
          </a:xfrm>
          <a:prstGeom prst="rect">
            <a:avLst/>
          </a:prstGeom>
          <a:noFill/>
        </p:spPr>
        <p:txBody>
          <a:bodyPr wrap="square" rtlCol="0">
            <a:spAutoFit/>
          </a:bodyPr>
          <a:lstStyle/>
          <a:p>
            <a:pPr algn="ctr"/>
            <a:r>
              <a:rPr lang="en-US" sz="7200" dirty="0">
                <a:solidFill>
                  <a:schemeClr val="bg1"/>
                </a:solidFill>
                <a:latin typeface="Roboto Medium" pitchFamily="2" charset="0"/>
                <a:ea typeface="Roboto Medium" pitchFamily="2" charset="0"/>
              </a:rPr>
              <a:t>Do We Really </a:t>
            </a:r>
          </a:p>
          <a:p>
            <a:pPr algn="ctr"/>
            <a:r>
              <a:rPr lang="en-US" sz="7200" dirty="0">
                <a:solidFill>
                  <a:schemeClr val="bg1"/>
                </a:solidFill>
                <a:latin typeface="Roboto Medium" pitchFamily="2" charset="0"/>
                <a:ea typeface="Roboto Medium" pitchFamily="2" charset="0"/>
              </a:rPr>
              <a:t>Have To Choose?</a:t>
            </a:r>
          </a:p>
        </p:txBody>
      </p:sp>
      <p:sp>
        <p:nvSpPr>
          <p:cNvPr id="5" name="TextBox 4">
            <a:extLst>
              <a:ext uri="{FF2B5EF4-FFF2-40B4-BE49-F238E27FC236}">
                <a16:creationId xmlns:a16="http://schemas.microsoft.com/office/drawing/2014/main" id="{08DC8EFE-D32D-1C49-90C4-7DA3214C1E84}"/>
              </a:ext>
            </a:extLst>
          </p:cNvPr>
          <p:cNvSpPr txBox="1"/>
          <p:nvPr/>
        </p:nvSpPr>
        <p:spPr>
          <a:xfrm>
            <a:off x="706876" y="4469967"/>
            <a:ext cx="10778246" cy="830997"/>
          </a:xfrm>
          <a:prstGeom prst="rect">
            <a:avLst/>
          </a:prstGeom>
          <a:noFill/>
        </p:spPr>
        <p:txBody>
          <a:bodyPr wrap="square" rtlCol="0">
            <a:spAutoFit/>
          </a:bodyPr>
          <a:lstStyle/>
          <a:p>
            <a:pPr algn="ctr"/>
            <a:r>
              <a:rPr lang="en-US" sz="4800" dirty="0">
                <a:solidFill>
                  <a:schemeClr val="bg1"/>
                </a:solidFill>
                <a:latin typeface="Roboto Light" pitchFamily="2" charset="0"/>
                <a:ea typeface="Roboto Light" pitchFamily="2" charset="0"/>
              </a:rPr>
              <a:t>False Dichotomies &amp; Balance</a:t>
            </a:r>
          </a:p>
        </p:txBody>
      </p:sp>
    </p:spTree>
    <p:extLst>
      <p:ext uri="{BB962C8B-B14F-4D97-AF65-F5344CB8AC3E}">
        <p14:creationId xmlns:p14="http://schemas.microsoft.com/office/powerpoint/2010/main" val="4996063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qph.ec.quoracdn.net/main-qimg-c3692b8ad6139cdbca1631807f8af109">
            <a:extLst>
              <a:ext uri="{FF2B5EF4-FFF2-40B4-BE49-F238E27FC236}">
                <a16:creationId xmlns:a16="http://schemas.microsoft.com/office/drawing/2014/main" id="{0DB00FFE-C5FB-F64A-8B93-CF7DC89033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240"/>
            <a:ext cx="12192000" cy="6888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53299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CCBA67-538C-6E43-82FC-68116F592CAB}"/>
              </a:ext>
            </a:extLst>
          </p:cNvPr>
          <p:cNvSpPr txBox="1"/>
          <p:nvPr/>
        </p:nvSpPr>
        <p:spPr>
          <a:xfrm>
            <a:off x="3035299" y="469900"/>
            <a:ext cx="8423883" cy="1938992"/>
          </a:xfrm>
          <a:prstGeom prst="rect">
            <a:avLst/>
          </a:prstGeom>
          <a:noFill/>
        </p:spPr>
        <p:txBody>
          <a:bodyPr wrap="square" rtlCol="0">
            <a:spAutoFit/>
          </a:bodyPr>
          <a:lstStyle/>
          <a:p>
            <a:r>
              <a:rPr lang="en-US" sz="6000" dirty="0">
                <a:solidFill>
                  <a:srgbClr val="00B0F0"/>
                </a:solidFill>
                <a:latin typeface="Roboto Medium" pitchFamily="2" charset="0"/>
                <a:ea typeface="Roboto Medium" pitchFamily="2" charset="0"/>
              </a:rPr>
              <a:t>Example 3: Unhealthy Foods</a:t>
            </a:r>
          </a:p>
        </p:txBody>
      </p:sp>
      <p:sp>
        <p:nvSpPr>
          <p:cNvPr id="11" name="Rectangle 10">
            <a:extLst>
              <a:ext uri="{FF2B5EF4-FFF2-40B4-BE49-F238E27FC236}">
                <a16:creationId xmlns:a16="http://schemas.microsoft.com/office/drawing/2014/main" id="{2D90CD75-C0D9-9E49-8E78-DFA185D56393}"/>
              </a:ext>
            </a:extLst>
          </p:cNvPr>
          <p:cNvSpPr/>
          <p:nvPr/>
        </p:nvSpPr>
        <p:spPr>
          <a:xfrm>
            <a:off x="0" y="0"/>
            <a:ext cx="24765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4E78920-677A-0046-865F-6445DCD92AA9}"/>
              </a:ext>
            </a:extLst>
          </p:cNvPr>
          <p:cNvSpPr txBox="1"/>
          <p:nvPr/>
        </p:nvSpPr>
        <p:spPr>
          <a:xfrm>
            <a:off x="3035300" y="3429000"/>
            <a:ext cx="1402948" cy="461665"/>
          </a:xfrm>
          <a:prstGeom prst="rect">
            <a:avLst/>
          </a:prstGeom>
          <a:noFill/>
        </p:spPr>
        <p:txBody>
          <a:bodyPr wrap="none" rtlCol="0">
            <a:spAutoFit/>
          </a:bodyPr>
          <a:lstStyle/>
          <a:p>
            <a:r>
              <a:rPr lang="en-US" sz="2400" dirty="0">
                <a:latin typeface="Roboto Medium" pitchFamily="2" charset="0"/>
                <a:ea typeface="Roboto Medium" pitchFamily="2" charset="0"/>
              </a:rPr>
              <a:t>Empathy</a:t>
            </a:r>
          </a:p>
        </p:txBody>
      </p:sp>
      <p:sp>
        <p:nvSpPr>
          <p:cNvPr id="6" name="TextBox 5">
            <a:extLst>
              <a:ext uri="{FF2B5EF4-FFF2-40B4-BE49-F238E27FC236}">
                <a16:creationId xmlns:a16="http://schemas.microsoft.com/office/drawing/2014/main" id="{390E78DF-A525-4B44-917E-3052E507CF97}"/>
              </a:ext>
            </a:extLst>
          </p:cNvPr>
          <p:cNvSpPr txBox="1"/>
          <p:nvPr/>
        </p:nvSpPr>
        <p:spPr>
          <a:xfrm>
            <a:off x="9423399" y="3429000"/>
            <a:ext cx="1612899" cy="830997"/>
          </a:xfrm>
          <a:prstGeom prst="rect">
            <a:avLst/>
          </a:prstGeom>
          <a:noFill/>
        </p:spPr>
        <p:txBody>
          <a:bodyPr wrap="square" rtlCol="0">
            <a:spAutoFit/>
          </a:bodyPr>
          <a:lstStyle/>
          <a:p>
            <a:pPr algn="r"/>
            <a:r>
              <a:rPr lang="en-US" sz="2400" dirty="0">
                <a:latin typeface="Roboto Medium" pitchFamily="2" charset="0"/>
                <a:ea typeface="Roboto Medium" pitchFamily="2" charset="0"/>
              </a:rPr>
              <a:t>Freedom/ Fairness</a:t>
            </a:r>
          </a:p>
        </p:txBody>
      </p:sp>
      <p:sp>
        <p:nvSpPr>
          <p:cNvPr id="7" name="TextBox 6">
            <a:extLst>
              <a:ext uri="{FF2B5EF4-FFF2-40B4-BE49-F238E27FC236}">
                <a16:creationId xmlns:a16="http://schemas.microsoft.com/office/drawing/2014/main" id="{2CC268DB-92F7-2C44-840A-40145CA5C3EF}"/>
              </a:ext>
            </a:extLst>
          </p:cNvPr>
          <p:cNvSpPr txBox="1"/>
          <p:nvPr/>
        </p:nvSpPr>
        <p:spPr>
          <a:xfrm>
            <a:off x="3035300" y="4452035"/>
            <a:ext cx="2057399" cy="646331"/>
          </a:xfrm>
          <a:prstGeom prst="rect">
            <a:avLst/>
          </a:prstGeom>
          <a:noFill/>
        </p:spPr>
        <p:txBody>
          <a:bodyPr wrap="square" rtlCol="0">
            <a:spAutoFit/>
          </a:bodyPr>
          <a:lstStyle/>
          <a:p>
            <a:r>
              <a:rPr lang="en-US" dirty="0">
                <a:latin typeface="Roboto Light" pitchFamily="2" charset="0"/>
                <a:ea typeface="Roboto Light" pitchFamily="2" charset="0"/>
              </a:rPr>
              <a:t>Ban Trans Fats +</a:t>
            </a:r>
          </a:p>
          <a:p>
            <a:r>
              <a:rPr lang="en-US" dirty="0">
                <a:latin typeface="Roboto Light" pitchFamily="2" charset="0"/>
                <a:ea typeface="Roboto Light" pitchFamily="2" charset="0"/>
              </a:rPr>
              <a:t>Tax Soda/Sugar</a:t>
            </a:r>
          </a:p>
        </p:txBody>
      </p:sp>
      <p:sp>
        <p:nvSpPr>
          <p:cNvPr id="8" name="TextBox 7">
            <a:extLst>
              <a:ext uri="{FF2B5EF4-FFF2-40B4-BE49-F238E27FC236}">
                <a16:creationId xmlns:a16="http://schemas.microsoft.com/office/drawing/2014/main" id="{B66F3890-D779-1F47-8F1A-AFE8C8553C79}"/>
              </a:ext>
            </a:extLst>
          </p:cNvPr>
          <p:cNvSpPr txBox="1"/>
          <p:nvPr/>
        </p:nvSpPr>
        <p:spPr>
          <a:xfrm>
            <a:off x="9029700" y="4452035"/>
            <a:ext cx="2006599" cy="646331"/>
          </a:xfrm>
          <a:prstGeom prst="rect">
            <a:avLst/>
          </a:prstGeom>
          <a:noFill/>
        </p:spPr>
        <p:txBody>
          <a:bodyPr wrap="square" rtlCol="0">
            <a:spAutoFit/>
          </a:bodyPr>
          <a:lstStyle/>
          <a:p>
            <a:pPr algn="r"/>
            <a:r>
              <a:rPr lang="en-US" dirty="0">
                <a:latin typeface="Roboto Light" pitchFamily="2" charset="0"/>
                <a:ea typeface="Roboto Light" pitchFamily="2" charset="0"/>
              </a:rPr>
              <a:t>Let People Eat What They Want</a:t>
            </a:r>
          </a:p>
        </p:txBody>
      </p:sp>
      <p:cxnSp>
        <p:nvCxnSpPr>
          <p:cNvPr id="9" name="Straight Connector 8">
            <a:extLst>
              <a:ext uri="{FF2B5EF4-FFF2-40B4-BE49-F238E27FC236}">
                <a16:creationId xmlns:a16="http://schemas.microsoft.com/office/drawing/2014/main" id="{6F1CF39D-DF28-414E-A8C4-1EC400439AB3}"/>
              </a:ext>
            </a:extLst>
          </p:cNvPr>
          <p:cNvCxnSpPr/>
          <p:nvPr/>
        </p:nvCxnSpPr>
        <p:spPr>
          <a:xfrm>
            <a:off x="3149600" y="3086100"/>
            <a:ext cx="7696200"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A8E92B6-D430-4647-802E-7026EA7011DE}"/>
              </a:ext>
            </a:extLst>
          </p:cNvPr>
          <p:cNvSpPr txBox="1"/>
          <p:nvPr/>
        </p:nvSpPr>
        <p:spPr>
          <a:xfrm>
            <a:off x="6125972" y="3429000"/>
            <a:ext cx="1548822" cy="461665"/>
          </a:xfrm>
          <a:prstGeom prst="rect">
            <a:avLst/>
          </a:prstGeom>
          <a:noFill/>
        </p:spPr>
        <p:txBody>
          <a:bodyPr wrap="none" rtlCol="0">
            <a:spAutoFit/>
          </a:bodyPr>
          <a:lstStyle/>
          <a:p>
            <a:r>
              <a:rPr lang="en-US" sz="2400" dirty="0">
                <a:latin typeface="Roboto Medium" pitchFamily="2" charset="0"/>
                <a:ea typeface="Roboto Medium" pitchFamily="2" charset="0"/>
              </a:rPr>
              <a:t>BALANCE</a:t>
            </a:r>
          </a:p>
        </p:txBody>
      </p:sp>
      <p:sp>
        <p:nvSpPr>
          <p:cNvPr id="13" name="TextBox 12">
            <a:extLst>
              <a:ext uri="{FF2B5EF4-FFF2-40B4-BE49-F238E27FC236}">
                <a16:creationId xmlns:a16="http://schemas.microsoft.com/office/drawing/2014/main" id="{1258FA0F-6971-2C4B-846D-799126D17540}"/>
              </a:ext>
            </a:extLst>
          </p:cNvPr>
          <p:cNvSpPr txBox="1"/>
          <p:nvPr/>
        </p:nvSpPr>
        <p:spPr>
          <a:xfrm>
            <a:off x="5906516" y="4452035"/>
            <a:ext cx="2057399" cy="646331"/>
          </a:xfrm>
          <a:prstGeom prst="rect">
            <a:avLst/>
          </a:prstGeom>
          <a:noFill/>
        </p:spPr>
        <p:txBody>
          <a:bodyPr wrap="square" rtlCol="0">
            <a:spAutoFit/>
          </a:bodyPr>
          <a:lstStyle/>
          <a:p>
            <a:pPr algn="ctr"/>
            <a:r>
              <a:rPr lang="en-US" dirty="0">
                <a:latin typeface="Roboto Light" pitchFamily="2" charset="0"/>
                <a:ea typeface="Roboto Light" pitchFamily="2" charset="0"/>
              </a:rPr>
              <a:t>Educate People + Retain Choices</a:t>
            </a:r>
          </a:p>
        </p:txBody>
      </p:sp>
    </p:spTree>
    <p:extLst>
      <p:ext uri="{BB962C8B-B14F-4D97-AF65-F5344CB8AC3E}">
        <p14:creationId xmlns:p14="http://schemas.microsoft.com/office/powerpoint/2010/main" val="6143222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D90CD75-C0D9-9E49-8E78-DFA185D56393}"/>
              </a:ext>
            </a:extLst>
          </p:cNvPr>
          <p:cNvSpPr/>
          <p:nvPr/>
        </p:nvSpPr>
        <p:spPr>
          <a:xfrm>
            <a:off x="0" y="0"/>
            <a:ext cx="121920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DC60BE28-BB86-ED44-B93E-4B6FE50B9FF4}"/>
              </a:ext>
            </a:extLst>
          </p:cNvPr>
          <p:cNvSpPr txBox="1"/>
          <p:nvPr/>
        </p:nvSpPr>
        <p:spPr>
          <a:xfrm>
            <a:off x="0" y="1804938"/>
            <a:ext cx="12191999" cy="1200329"/>
          </a:xfrm>
          <a:prstGeom prst="rect">
            <a:avLst/>
          </a:prstGeom>
          <a:noFill/>
        </p:spPr>
        <p:txBody>
          <a:bodyPr wrap="square" rtlCol="0">
            <a:spAutoFit/>
          </a:bodyPr>
          <a:lstStyle/>
          <a:p>
            <a:pPr algn="ctr"/>
            <a:r>
              <a:rPr lang="en-US" sz="7200" dirty="0">
                <a:solidFill>
                  <a:schemeClr val="bg1"/>
                </a:solidFill>
                <a:latin typeface="Roboto Medium" pitchFamily="2" charset="0"/>
                <a:ea typeface="Roboto Medium" pitchFamily="2" charset="0"/>
              </a:rPr>
              <a:t>Is Empathy a Disguise?</a:t>
            </a:r>
          </a:p>
        </p:txBody>
      </p:sp>
      <p:sp>
        <p:nvSpPr>
          <p:cNvPr id="6" name="TextBox 5">
            <a:extLst>
              <a:ext uri="{FF2B5EF4-FFF2-40B4-BE49-F238E27FC236}">
                <a16:creationId xmlns:a16="http://schemas.microsoft.com/office/drawing/2014/main" id="{0525D3C0-539D-894F-A370-065814B371C0}"/>
              </a:ext>
            </a:extLst>
          </p:cNvPr>
          <p:cNvSpPr txBox="1"/>
          <p:nvPr/>
        </p:nvSpPr>
        <p:spPr>
          <a:xfrm>
            <a:off x="706876" y="3775023"/>
            <a:ext cx="10778246" cy="1569660"/>
          </a:xfrm>
          <a:prstGeom prst="rect">
            <a:avLst/>
          </a:prstGeom>
          <a:noFill/>
        </p:spPr>
        <p:txBody>
          <a:bodyPr wrap="square" rtlCol="0">
            <a:spAutoFit/>
          </a:bodyPr>
          <a:lstStyle/>
          <a:p>
            <a:pPr algn="ctr"/>
            <a:r>
              <a:rPr lang="en-US" sz="4800" dirty="0">
                <a:solidFill>
                  <a:schemeClr val="bg1"/>
                </a:solidFill>
                <a:latin typeface="Roboto Light" pitchFamily="2" charset="0"/>
                <a:ea typeface="Roboto Light" pitchFamily="2" charset="0"/>
              </a:rPr>
              <a:t>There Are Three </a:t>
            </a:r>
          </a:p>
          <a:p>
            <a:pPr algn="ctr"/>
            <a:r>
              <a:rPr lang="en-US" sz="4800" dirty="0">
                <a:solidFill>
                  <a:schemeClr val="bg1"/>
                </a:solidFill>
                <a:latin typeface="Roboto Light" pitchFamily="2" charset="0"/>
                <a:ea typeface="Roboto Light" pitchFamily="2" charset="0"/>
              </a:rPr>
              <a:t>Reasons For Everything</a:t>
            </a:r>
          </a:p>
        </p:txBody>
      </p:sp>
    </p:spTree>
    <p:extLst>
      <p:ext uri="{BB962C8B-B14F-4D97-AF65-F5344CB8AC3E}">
        <p14:creationId xmlns:p14="http://schemas.microsoft.com/office/powerpoint/2010/main" val="28514105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CCBA67-538C-6E43-82FC-68116F592CAB}"/>
              </a:ext>
            </a:extLst>
          </p:cNvPr>
          <p:cNvSpPr txBox="1"/>
          <p:nvPr/>
        </p:nvSpPr>
        <p:spPr>
          <a:xfrm>
            <a:off x="3035299" y="469900"/>
            <a:ext cx="8423883" cy="1015663"/>
          </a:xfrm>
          <a:prstGeom prst="rect">
            <a:avLst/>
          </a:prstGeom>
          <a:noFill/>
        </p:spPr>
        <p:txBody>
          <a:bodyPr wrap="square" rtlCol="0">
            <a:spAutoFit/>
          </a:bodyPr>
          <a:lstStyle/>
          <a:p>
            <a:r>
              <a:rPr lang="en-US" sz="6000" dirty="0">
                <a:solidFill>
                  <a:srgbClr val="00B0F0"/>
                </a:solidFill>
                <a:latin typeface="Roboto Medium" pitchFamily="2" charset="0"/>
                <a:ea typeface="Roboto Medium" pitchFamily="2" charset="0"/>
              </a:rPr>
              <a:t>Abortion</a:t>
            </a:r>
          </a:p>
        </p:txBody>
      </p:sp>
      <p:sp>
        <p:nvSpPr>
          <p:cNvPr id="11" name="Rectangle 10">
            <a:extLst>
              <a:ext uri="{FF2B5EF4-FFF2-40B4-BE49-F238E27FC236}">
                <a16:creationId xmlns:a16="http://schemas.microsoft.com/office/drawing/2014/main" id="{2D90CD75-C0D9-9E49-8E78-DFA185D56393}"/>
              </a:ext>
            </a:extLst>
          </p:cNvPr>
          <p:cNvSpPr/>
          <p:nvPr/>
        </p:nvSpPr>
        <p:spPr>
          <a:xfrm>
            <a:off x="0" y="0"/>
            <a:ext cx="24765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4E78920-677A-0046-865F-6445DCD92AA9}"/>
              </a:ext>
            </a:extLst>
          </p:cNvPr>
          <p:cNvSpPr txBox="1"/>
          <p:nvPr/>
        </p:nvSpPr>
        <p:spPr>
          <a:xfrm>
            <a:off x="3035300" y="1957786"/>
            <a:ext cx="745717" cy="461665"/>
          </a:xfrm>
          <a:prstGeom prst="rect">
            <a:avLst/>
          </a:prstGeom>
          <a:noFill/>
        </p:spPr>
        <p:txBody>
          <a:bodyPr wrap="none" rtlCol="0">
            <a:spAutoFit/>
          </a:bodyPr>
          <a:lstStyle/>
          <a:p>
            <a:r>
              <a:rPr lang="en-US" sz="2400" dirty="0">
                <a:latin typeface="Roboto Medium" pitchFamily="2" charset="0"/>
                <a:ea typeface="Roboto Medium" pitchFamily="2" charset="0"/>
              </a:rPr>
              <a:t>YES</a:t>
            </a:r>
          </a:p>
        </p:txBody>
      </p:sp>
      <p:sp>
        <p:nvSpPr>
          <p:cNvPr id="6" name="TextBox 5">
            <a:extLst>
              <a:ext uri="{FF2B5EF4-FFF2-40B4-BE49-F238E27FC236}">
                <a16:creationId xmlns:a16="http://schemas.microsoft.com/office/drawing/2014/main" id="{390E78DF-A525-4B44-917E-3052E507CF97}"/>
              </a:ext>
            </a:extLst>
          </p:cNvPr>
          <p:cNvSpPr txBox="1"/>
          <p:nvPr/>
        </p:nvSpPr>
        <p:spPr>
          <a:xfrm>
            <a:off x="9423399" y="1957786"/>
            <a:ext cx="1612899" cy="461665"/>
          </a:xfrm>
          <a:prstGeom prst="rect">
            <a:avLst/>
          </a:prstGeom>
          <a:noFill/>
        </p:spPr>
        <p:txBody>
          <a:bodyPr wrap="square" rtlCol="0">
            <a:spAutoFit/>
          </a:bodyPr>
          <a:lstStyle/>
          <a:p>
            <a:pPr algn="r"/>
            <a:r>
              <a:rPr lang="en-US" sz="2400" dirty="0">
                <a:latin typeface="Roboto Medium" pitchFamily="2" charset="0"/>
                <a:ea typeface="Roboto Medium" pitchFamily="2" charset="0"/>
              </a:rPr>
              <a:t>NO</a:t>
            </a:r>
          </a:p>
        </p:txBody>
      </p:sp>
      <p:sp>
        <p:nvSpPr>
          <p:cNvPr id="7" name="TextBox 6">
            <a:extLst>
              <a:ext uri="{FF2B5EF4-FFF2-40B4-BE49-F238E27FC236}">
                <a16:creationId xmlns:a16="http://schemas.microsoft.com/office/drawing/2014/main" id="{2CC268DB-92F7-2C44-840A-40145CA5C3EF}"/>
              </a:ext>
            </a:extLst>
          </p:cNvPr>
          <p:cNvSpPr txBox="1"/>
          <p:nvPr/>
        </p:nvSpPr>
        <p:spPr>
          <a:xfrm>
            <a:off x="3035300" y="4644644"/>
            <a:ext cx="3511804" cy="369332"/>
          </a:xfrm>
          <a:prstGeom prst="rect">
            <a:avLst/>
          </a:prstGeom>
          <a:noFill/>
        </p:spPr>
        <p:txBody>
          <a:bodyPr wrap="square" rtlCol="0">
            <a:spAutoFit/>
          </a:bodyPr>
          <a:lstStyle/>
          <a:p>
            <a:r>
              <a:rPr lang="en-US" dirty="0">
                <a:solidFill>
                  <a:schemeClr val="accent2"/>
                </a:solidFill>
                <a:latin typeface="Roboto Light" pitchFamily="2" charset="0"/>
                <a:ea typeface="Roboto Light" pitchFamily="2" charset="0"/>
              </a:rPr>
              <a:t>Have Sex Without Consequence</a:t>
            </a:r>
          </a:p>
        </p:txBody>
      </p:sp>
      <p:sp>
        <p:nvSpPr>
          <p:cNvPr id="8" name="TextBox 7">
            <a:extLst>
              <a:ext uri="{FF2B5EF4-FFF2-40B4-BE49-F238E27FC236}">
                <a16:creationId xmlns:a16="http://schemas.microsoft.com/office/drawing/2014/main" id="{B66F3890-D779-1F47-8F1A-AFE8C8553C79}"/>
              </a:ext>
            </a:extLst>
          </p:cNvPr>
          <p:cNvSpPr txBox="1"/>
          <p:nvPr/>
        </p:nvSpPr>
        <p:spPr>
          <a:xfrm>
            <a:off x="9029700" y="4644644"/>
            <a:ext cx="2006599" cy="369332"/>
          </a:xfrm>
          <a:prstGeom prst="rect">
            <a:avLst/>
          </a:prstGeom>
          <a:noFill/>
        </p:spPr>
        <p:txBody>
          <a:bodyPr wrap="square" rtlCol="0">
            <a:spAutoFit/>
          </a:bodyPr>
          <a:lstStyle/>
          <a:p>
            <a:pPr algn="r"/>
            <a:r>
              <a:rPr lang="en-US" dirty="0">
                <a:solidFill>
                  <a:schemeClr val="accent2"/>
                </a:solidFill>
                <a:latin typeface="Roboto Light" pitchFamily="2" charset="0"/>
                <a:ea typeface="Roboto Light" pitchFamily="2" charset="0"/>
              </a:rPr>
              <a:t>Protect People</a:t>
            </a:r>
          </a:p>
        </p:txBody>
      </p:sp>
      <p:cxnSp>
        <p:nvCxnSpPr>
          <p:cNvPr id="9" name="Straight Connector 8">
            <a:extLst>
              <a:ext uri="{FF2B5EF4-FFF2-40B4-BE49-F238E27FC236}">
                <a16:creationId xmlns:a16="http://schemas.microsoft.com/office/drawing/2014/main" id="{6F1CF39D-DF28-414E-A8C4-1EC400439AB3}"/>
              </a:ext>
            </a:extLst>
          </p:cNvPr>
          <p:cNvCxnSpPr/>
          <p:nvPr/>
        </p:nvCxnSpPr>
        <p:spPr>
          <a:xfrm>
            <a:off x="3149600" y="1881355"/>
            <a:ext cx="7696200"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FA07DB9-35C7-6244-B1D0-8F61AB8E6694}"/>
              </a:ext>
            </a:extLst>
          </p:cNvPr>
          <p:cNvSpPr txBox="1"/>
          <p:nvPr/>
        </p:nvSpPr>
        <p:spPr>
          <a:xfrm>
            <a:off x="3035300" y="4133673"/>
            <a:ext cx="1915909" cy="461665"/>
          </a:xfrm>
          <a:prstGeom prst="rect">
            <a:avLst/>
          </a:prstGeom>
          <a:noFill/>
        </p:spPr>
        <p:txBody>
          <a:bodyPr wrap="none" rtlCol="0">
            <a:spAutoFit/>
          </a:bodyPr>
          <a:lstStyle/>
          <a:p>
            <a:r>
              <a:rPr lang="en-US" sz="2400" dirty="0">
                <a:solidFill>
                  <a:schemeClr val="accent2"/>
                </a:solidFill>
                <a:latin typeface="Roboto Medium" pitchFamily="2" charset="0"/>
                <a:ea typeface="Roboto Medium" pitchFamily="2" charset="0"/>
              </a:rPr>
              <a:t>Real Reason</a:t>
            </a:r>
          </a:p>
        </p:txBody>
      </p:sp>
      <p:sp>
        <p:nvSpPr>
          <p:cNvPr id="13" name="TextBox 12">
            <a:extLst>
              <a:ext uri="{FF2B5EF4-FFF2-40B4-BE49-F238E27FC236}">
                <a16:creationId xmlns:a16="http://schemas.microsoft.com/office/drawing/2014/main" id="{C92FB6C5-0A0A-6A43-838D-FE391C17B52D}"/>
              </a:ext>
            </a:extLst>
          </p:cNvPr>
          <p:cNvSpPr txBox="1"/>
          <p:nvPr/>
        </p:nvSpPr>
        <p:spPr>
          <a:xfrm>
            <a:off x="8540497" y="4133673"/>
            <a:ext cx="2495802" cy="461665"/>
          </a:xfrm>
          <a:prstGeom prst="rect">
            <a:avLst/>
          </a:prstGeom>
          <a:noFill/>
        </p:spPr>
        <p:txBody>
          <a:bodyPr wrap="square" rtlCol="0">
            <a:spAutoFit/>
          </a:bodyPr>
          <a:lstStyle/>
          <a:p>
            <a:pPr algn="r"/>
            <a:r>
              <a:rPr lang="en-US" sz="2400" dirty="0">
                <a:solidFill>
                  <a:schemeClr val="accent2"/>
                </a:solidFill>
                <a:latin typeface="Roboto Medium" pitchFamily="2" charset="0"/>
                <a:ea typeface="Roboto Medium" pitchFamily="2" charset="0"/>
              </a:rPr>
              <a:t>Real Reason</a:t>
            </a:r>
          </a:p>
        </p:txBody>
      </p:sp>
      <p:sp>
        <p:nvSpPr>
          <p:cNvPr id="14" name="TextBox 13">
            <a:extLst>
              <a:ext uri="{FF2B5EF4-FFF2-40B4-BE49-F238E27FC236}">
                <a16:creationId xmlns:a16="http://schemas.microsoft.com/office/drawing/2014/main" id="{1352CB3A-1805-D74A-8CEC-4D183BB5E82D}"/>
              </a:ext>
            </a:extLst>
          </p:cNvPr>
          <p:cNvSpPr txBox="1"/>
          <p:nvPr/>
        </p:nvSpPr>
        <p:spPr>
          <a:xfrm>
            <a:off x="3035300" y="5805085"/>
            <a:ext cx="2057399" cy="369332"/>
          </a:xfrm>
          <a:prstGeom prst="rect">
            <a:avLst/>
          </a:prstGeom>
          <a:noFill/>
        </p:spPr>
        <p:txBody>
          <a:bodyPr wrap="square" rtlCol="0">
            <a:spAutoFit/>
          </a:bodyPr>
          <a:lstStyle/>
          <a:p>
            <a:r>
              <a:rPr lang="en-US" dirty="0">
                <a:solidFill>
                  <a:srgbClr val="C00000"/>
                </a:solidFill>
                <a:latin typeface="Roboto Light" pitchFamily="2" charset="0"/>
                <a:ea typeface="Roboto Light" pitchFamily="2" charset="0"/>
              </a:rPr>
              <a:t>You Hate Women!</a:t>
            </a:r>
          </a:p>
        </p:txBody>
      </p:sp>
      <p:sp>
        <p:nvSpPr>
          <p:cNvPr id="15" name="TextBox 14">
            <a:extLst>
              <a:ext uri="{FF2B5EF4-FFF2-40B4-BE49-F238E27FC236}">
                <a16:creationId xmlns:a16="http://schemas.microsoft.com/office/drawing/2014/main" id="{E627D642-3CDE-AC49-A976-33D69A41759D}"/>
              </a:ext>
            </a:extLst>
          </p:cNvPr>
          <p:cNvSpPr txBox="1"/>
          <p:nvPr/>
        </p:nvSpPr>
        <p:spPr>
          <a:xfrm>
            <a:off x="9029700" y="5805085"/>
            <a:ext cx="2006599" cy="369332"/>
          </a:xfrm>
          <a:prstGeom prst="rect">
            <a:avLst/>
          </a:prstGeom>
          <a:noFill/>
        </p:spPr>
        <p:txBody>
          <a:bodyPr wrap="square" rtlCol="0">
            <a:spAutoFit/>
          </a:bodyPr>
          <a:lstStyle/>
          <a:p>
            <a:pPr algn="r"/>
            <a:r>
              <a:rPr lang="en-US" dirty="0">
                <a:solidFill>
                  <a:srgbClr val="C00000"/>
                </a:solidFill>
                <a:latin typeface="Roboto Light" pitchFamily="2" charset="0"/>
                <a:ea typeface="Roboto Light" pitchFamily="2" charset="0"/>
              </a:rPr>
              <a:t>You Hate Babies!</a:t>
            </a:r>
          </a:p>
        </p:txBody>
      </p:sp>
      <p:sp>
        <p:nvSpPr>
          <p:cNvPr id="16" name="TextBox 15">
            <a:extLst>
              <a:ext uri="{FF2B5EF4-FFF2-40B4-BE49-F238E27FC236}">
                <a16:creationId xmlns:a16="http://schemas.microsoft.com/office/drawing/2014/main" id="{55D69580-2CA5-C146-9CCA-06889085E5A7}"/>
              </a:ext>
            </a:extLst>
          </p:cNvPr>
          <p:cNvSpPr txBox="1"/>
          <p:nvPr/>
        </p:nvSpPr>
        <p:spPr>
          <a:xfrm>
            <a:off x="3035300" y="5294114"/>
            <a:ext cx="1973617" cy="461665"/>
          </a:xfrm>
          <a:prstGeom prst="rect">
            <a:avLst/>
          </a:prstGeom>
          <a:noFill/>
        </p:spPr>
        <p:txBody>
          <a:bodyPr wrap="none" rtlCol="0">
            <a:spAutoFit/>
          </a:bodyPr>
          <a:lstStyle/>
          <a:p>
            <a:r>
              <a:rPr lang="en-US" sz="2400" dirty="0">
                <a:solidFill>
                  <a:srgbClr val="C00000"/>
                </a:solidFill>
                <a:latin typeface="Roboto Medium" pitchFamily="2" charset="0"/>
                <a:ea typeface="Roboto Medium" pitchFamily="2" charset="0"/>
              </a:rPr>
              <a:t>Fake Reason</a:t>
            </a:r>
          </a:p>
        </p:txBody>
      </p:sp>
      <p:sp>
        <p:nvSpPr>
          <p:cNvPr id="17" name="TextBox 16">
            <a:extLst>
              <a:ext uri="{FF2B5EF4-FFF2-40B4-BE49-F238E27FC236}">
                <a16:creationId xmlns:a16="http://schemas.microsoft.com/office/drawing/2014/main" id="{615BE68A-C1C3-C944-9D31-CBF2B39D842C}"/>
              </a:ext>
            </a:extLst>
          </p:cNvPr>
          <p:cNvSpPr txBox="1"/>
          <p:nvPr/>
        </p:nvSpPr>
        <p:spPr>
          <a:xfrm>
            <a:off x="8540497" y="5294114"/>
            <a:ext cx="2495802" cy="461665"/>
          </a:xfrm>
          <a:prstGeom prst="rect">
            <a:avLst/>
          </a:prstGeom>
          <a:noFill/>
        </p:spPr>
        <p:txBody>
          <a:bodyPr wrap="square" rtlCol="0">
            <a:spAutoFit/>
          </a:bodyPr>
          <a:lstStyle/>
          <a:p>
            <a:pPr algn="r"/>
            <a:r>
              <a:rPr lang="en-US" sz="2400" dirty="0">
                <a:solidFill>
                  <a:srgbClr val="C00000"/>
                </a:solidFill>
                <a:latin typeface="Roboto Medium" pitchFamily="2" charset="0"/>
                <a:ea typeface="Roboto Medium" pitchFamily="2" charset="0"/>
              </a:rPr>
              <a:t>Fake Reason</a:t>
            </a:r>
          </a:p>
        </p:txBody>
      </p:sp>
      <p:sp>
        <p:nvSpPr>
          <p:cNvPr id="18" name="TextBox 17">
            <a:extLst>
              <a:ext uri="{FF2B5EF4-FFF2-40B4-BE49-F238E27FC236}">
                <a16:creationId xmlns:a16="http://schemas.microsoft.com/office/drawing/2014/main" id="{E5ACD0C2-7405-974C-907F-C8ADBA22D11E}"/>
              </a:ext>
            </a:extLst>
          </p:cNvPr>
          <p:cNvSpPr txBox="1"/>
          <p:nvPr/>
        </p:nvSpPr>
        <p:spPr>
          <a:xfrm>
            <a:off x="3035300" y="3484203"/>
            <a:ext cx="4865116" cy="369332"/>
          </a:xfrm>
          <a:prstGeom prst="rect">
            <a:avLst/>
          </a:prstGeom>
          <a:noFill/>
        </p:spPr>
        <p:txBody>
          <a:bodyPr wrap="square" rtlCol="0">
            <a:spAutoFit/>
          </a:bodyPr>
          <a:lstStyle/>
          <a:p>
            <a:r>
              <a:rPr lang="en-US" dirty="0">
                <a:solidFill>
                  <a:srgbClr val="00B050"/>
                </a:solidFill>
                <a:latin typeface="Roboto Light" pitchFamily="2" charset="0"/>
                <a:ea typeface="Roboto Light" pitchFamily="2" charset="0"/>
              </a:rPr>
              <a:t>Give Women Choice and Prevent  Poverty</a:t>
            </a:r>
          </a:p>
        </p:txBody>
      </p:sp>
      <p:sp>
        <p:nvSpPr>
          <p:cNvPr id="19" name="TextBox 18">
            <a:extLst>
              <a:ext uri="{FF2B5EF4-FFF2-40B4-BE49-F238E27FC236}">
                <a16:creationId xmlns:a16="http://schemas.microsoft.com/office/drawing/2014/main" id="{A1ECDAC2-5999-5D44-9555-1F597F85917C}"/>
              </a:ext>
            </a:extLst>
          </p:cNvPr>
          <p:cNvSpPr txBox="1"/>
          <p:nvPr/>
        </p:nvSpPr>
        <p:spPr>
          <a:xfrm>
            <a:off x="9029700" y="3484203"/>
            <a:ext cx="2006599" cy="369332"/>
          </a:xfrm>
          <a:prstGeom prst="rect">
            <a:avLst/>
          </a:prstGeom>
          <a:noFill/>
        </p:spPr>
        <p:txBody>
          <a:bodyPr wrap="square" rtlCol="0">
            <a:spAutoFit/>
          </a:bodyPr>
          <a:lstStyle/>
          <a:p>
            <a:pPr algn="r"/>
            <a:r>
              <a:rPr lang="en-US" dirty="0">
                <a:solidFill>
                  <a:srgbClr val="00B050"/>
                </a:solidFill>
                <a:latin typeface="Roboto Light" pitchFamily="2" charset="0"/>
                <a:ea typeface="Roboto Light" pitchFamily="2" charset="0"/>
              </a:rPr>
              <a:t>Save Human Life</a:t>
            </a:r>
          </a:p>
        </p:txBody>
      </p:sp>
      <p:sp>
        <p:nvSpPr>
          <p:cNvPr id="20" name="TextBox 19">
            <a:extLst>
              <a:ext uri="{FF2B5EF4-FFF2-40B4-BE49-F238E27FC236}">
                <a16:creationId xmlns:a16="http://schemas.microsoft.com/office/drawing/2014/main" id="{3B8F5C72-A5DC-6945-B321-E6E279A6D792}"/>
              </a:ext>
            </a:extLst>
          </p:cNvPr>
          <p:cNvSpPr txBox="1"/>
          <p:nvPr/>
        </p:nvSpPr>
        <p:spPr>
          <a:xfrm>
            <a:off x="3035300" y="2973232"/>
            <a:ext cx="2036135" cy="461665"/>
          </a:xfrm>
          <a:prstGeom prst="rect">
            <a:avLst/>
          </a:prstGeom>
          <a:noFill/>
        </p:spPr>
        <p:txBody>
          <a:bodyPr wrap="none" rtlCol="0">
            <a:spAutoFit/>
          </a:bodyPr>
          <a:lstStyle/>
          <a:p>
            <a:r>
              <a:rPr lang="en-US" sz="2400" dirty="0">
                <a:solidFill>
                  <a:srgbClr val="00B050"/>
                </a:solidFill>
                <a:latin typeface="Roboto Medium" pitchFamily="2" charset="0"/>
                <a:ea typeface="Roboto Medium" pitchFamily="2" charset="0"/>
              </a:rPr>
              <a:t>Good Reason</a:t>
            </a:r>
          </a:p>
        </p:txBody>
      </p:sp>
      <p:sp>
        <p:nvSpPr>
          <p:cNvPr id="21" name="TextBox 20">
            <a:extLst>
              <a:ext uri="{FF2B5EF4-FFF2-40B4-BE49-F238E27FC236}">
                <a16:creationId xmlns:a16="http://schemas.microsoft.com/office/drawing/2014/main" id="{1A84742D-3BDA-8D44-96BE-A18517FADE1A}"/>
              </a:ext>
            </a:extLst>
          </p:cNvPr>
          <p:cNvSpPr txBox="1"/>
          <p:nvPr/>
        </p:nvSpPr>
        <p:spPr>
          <a:xfrm>
            <a:off x="8540497" y="2973232"/>
            <a:ext cx="2495802" cy="461665"/>
          </a:xfrm>
          <a:prstGeom prst="rect">
            <a:avLst/>
          </a:prstGeom>
          <a:noFill/>
        </p:spPr>
        <p:txBody>
          <a:bodyPr wrap="square" rtlCol="0">
            <a:spAutoFit/>
          </a:bodyPr>
          <a:lstStyle/>
          <a:p>
            <a:pPr algn="r"/>
            <a:r>
              <a:rPr lang="en-US" sz="2400" dirty="0">
                <a:solidFill>
                  <a:srgbClr val="00B050"/>
                </a:solidFill>
                <a:latin typeface="Roboto Medium" pitchFamily="2" charset="0"/>
                <a:ea typeface="Roboto Medium" pitchFamily="2" charset="0"/>
              </a:rPr>
              <a:t>Good Reason</a:t>
            </a:r>
          </a:p>
        </p:txBody>
      </p:sp>
    </p:spTree>
    <p:extLst>
      <p:ext uri="{BB962C8B-B14F-4D97-AF65-F5344CB8AC3E}">
        <p14:creationId xmlns:p14="http://schemas.microsoft.com/office/powerpoint/2010/main" val="38651143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CCBA67-538C-6E43-82FC-68116F592CAB}"/>
              </a:ext>
            </a:extLst>
          </p:cNvPr>
          <p:cNvSpPr txBox="1"/>
          <p:nvPr/>
        </p:nvSpPr>
        <p:spPr>
          <a:xfrm>
            <a:off x="3035299" y="469900"/>
            <a:ext cx="8423883" cy="1015663"/>
          </a:xfrm>
          <a:prstGeom prst="rect">
            <a:avLst/>
          </a:prstGeom>
          <a:noFill/>
        </p:spPr>
        <p:txBody>
          <a:bodyPr wrap="square" rtlCol="0">
            <a:spAutoFit/>
          </a:bodyPr>
          <a:lstStyle/>
          <a:p>
            <a:r>
              <a:rPr lang="en-US" sz="6000" dirty="0">
                <a:solidFill>
                  <a:srgbClr val="00B0F0"/>
                </a:solidFill>
                <a:latin typeface="Roboto Medium" pitchFamily="2" charset="0"/>
                <a:ea typeface="Roboto Medium" pitchFamily="2" charset="0"/>
              </a:rPr>
              <a:t>Salary Transparency</a:t>
            </a:r>
          </a:p>
        </p:txBody>
      </p:sp>
      <p:sp>
        <p:nvSpPr>
          <p:cNvPr id="11" name="Rectangle 10">
            <a:extLst>
              <a:ext uri="{FF2B5EF4-FFF2-40B4-BE49-F238E27FC236}">
                <a16:creationId xmlns:a16="http://schemas.microsoft.com/office/drawing/2014/main" id="{2D90CD75-C0D9-9E49-8E78-DFA185D56393}"/>
              </a:ext>
            </a:extLst>
          </p:cNvPr>
          <p:cNvSpPr/>
          <p:nvPr/>
        </p:nvSpPr>
        <p:spPr>
          <a:xfrm>
            <a:off x="0" y="0"/>
            <a:ext cx="24765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4E78920-677A-0046-865F-6445DCD92AA9}"/>
              </a:ext>
            </a:extLst>
          </p:cNvPr>
          <p:cNvSpPr txBox="1"/>
          <p:nvPr/>
        </p:nvSpPr>
        <p:spPr>
          <a:xfrm>
            <a:off x="3035300" y="1957786"/>
            <a:ext cx="617477" cy="461665"/>
          </a:xfrm>
          <a:prstGeom prst="rect">
            <a:avLst/>
          </a:prstGeom>
          <a:noFill/>
        </p:spPr>
        <p:txBody>
          <a:bodyPr wrap="none" rtlCol="0">
            <a:spAutoFit/>
          </a:bodyPr>
          <a:lstStyle/>
          <a:p>
            <a:r>
              <a:rPr lang="en-US" sz="2400" dirty="0">
                <a:latin typeface="Roboto Medium" pitchFamily="2" charset="0"/>
                <a:ea typeface="Roboto Medium" pitchFamily="2" charset="0"/>
              </a:rPr>
              <a:t>NO</a:t>
            </a:r>
          </a:p>
        </p:txBody>
      </p:sp>
      <p:sp>
        <p:nvSpPr>
          <p:cNvPr id="6" name="TextBox 5">
            <a:extLst>
              <a:ext uri="{FF2B5EF4-FFF2-40B4-BE49-F238E27FC236}">
                <a16:creationId xmlns:a16="http://schemas.microsoft.com/office/drawing/2014/main" id="{390E78DF-A525-4B44-917E-3052E507CF97}"/>
              </a:ext>
            </a:extLst>
          </p:cNvPr>
          <p:cNvSpPr txBox="1"/>
          <p:nvPr/>
        </p:nvSpPr>
        <p:spPr>
          <a:xfrm>
            <a:off x="9423399" y="1957786"/>
            <a:ext cx="1612899" cy="461665"/>
          </a:xfrm>
          <a:prstGeom prst="rect">
            <a:avLst/>
          </a:prstGeom>
          <a:noFill/>
        </p:spPr>
        <p:txBody>
          <a:bodyPr wrap="square" rtlCol="0">
            <a:spAutoFit/>
          </a:bodyPr>
          <a:lstStyle/>
          <a:p>
            <a:pPr algn="r"/>
            <a:r>
              <a:rPr lang="en-US" sz="2400" dirty="0">
                <a:latin typeface="Roboto Medium" pitchFamily="2" charset="0"/>
                <a:ea typeface="Roboto Medium" pitchFamily="2" charset="0"/>
              </a:rPr>
              <a:t>YES</a:t>
            </a:r>
          </a:p>
        </p:txBody>
      </p:sp>
      <p:sp>
        <p:nvSpPr>
          <p:cNvPr id="7" name="TextBox 6">
            <a:extLst>
              <a:ext uri="{FF2B5EF4-FFF2-40B4-BE49-F238E27FC236}">
                <a16:creationId xmlns:a16="http://schemas.microsoft.com/office/drawing/2014/main" id="{2CC268DB-92F7-2C44-840A-40145CA5C3EF}"/>
              </a:ext>
            </a:extLst>
          </p:cNvPr>
          <p:cNvSpPr txBox="1"/>
          <p:nvPr/>
        </p:nvSpPr>
        <p:spPr>
          <a:xfrm>
            <a:off x="3035300" y="4644644"/>
            <a:ext cx="3840988" cy="369332"/>
          </a:xfrm>
          <a:prstGeom prst="rect">
            <a:avLst/>
          </a:prstGeom>
          <a:noFill/>
        </p:spPr>
        <p:txBody>
          <a:bodyPr wrap="square" rtlCol="0">
            <a:spAutoFit/>
          </a:bodyPr>
          <a:lstStyle/>
          <a:p>
            <a:r>
              <a:rPr lang="en-US" dirty="0">
                <a:solidFill>
                  <a:schemeClr val="accent2"/>
                </a:solidFill>
                <a:latin typeface="Roboto Light" pitchFamily="2" charset="0"/>
                <a:ea typeface="Roboto Light" pitchFamily="2" charset="0"/>
              </a:rPr>
              <a:t>I Don’t Want To Spend Money</a:t>
            </a:r>
          </a:p>
        </p:txBody>
      </p:sp>
      <p:sp>
        <p:nvSpPr>
          <p:cNvPr id="8" name="TextBox 7">
            <a:extLst>
              <a:ext uri="{FF2B5EF4-FFF2-40B4-BE49-F238E27FC236}">
                <a16:creationId xmlns:a16="http://schemas.microsoft.com/office/drawing/2014/main" id="{B66F3890-D779-1F47-8F1A-AFE8C8553C79}"/>
              </a:ext>
            </a:extLst>
          </p:cNvPr>
          <p:cNvSpPr txBox="1"/>
          <p:nvPr/>
        </p:nvSpPr>
        <p:spPr>
          <a:xfrm>
            <a:off x="8540498" y="4644644"/>
            <a:ext cx="2495802" cy="369332"/>
          </a:xfrm>
          <a:prstGeom prst="rect">
            <a:avLst/>
          </a:prstGeom>
          <a:noFill/>
        </p:spPr>
        <p:txBody>
          <a:bodyPr wrap="square" rtlCol="0">
            <a:spAutoFit/>
          </a:bodyPr>
          <a:lstStyle/>
          <a:p>
            <a:pPr algn="r"/>
            <a:r>
              <a:rPr lang="en-US" dirty="0">
                <a:solidFill>
                  <a:schemeClr val="accent2"/>
                </a:solidFill>
                <a:latin typeface="Roboto Light" pitchFamily="2" charset="0"/>
                <a:ea typeface="Roboto Light" pitchFamily="2" charset="0"/>
              </a:rPr>
              <a:t>I Want More Money</a:t>
            </a:r>
          </a:p>
        </p:txBody>
      </p:sp>
      <p:cxnSp>
        <p:nvCxnSpPr>
          <p:cNvPr id="9" name="Straight Connector 8">
            <a:extLst>
              <a:ext uri="{FF2B5EF4-FFF2-40B4-BE49-F238E27FC236}">
                <a16:creationId xmlns:a16="http://schemas.microsoft.com/office/drawing/2014/main" id="{6F1CF39D-DF28-414E-A8C4-1EC400439AB3}"/>
              </a:ext>
            </a:extLst>
          </p:cNvPr>
          <p:cNvCxnSpPr/>
          <p:nvPr/>
        </p:nvCxnSpPr>
        <p:spPr>
          <a:xfrm>
            <a:off x="3149600" y="1881355"/>
            <a:ext cx="7696200"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FA07DB9-35C7-6244-B1D0-8F61AB8E6694}"/>
              </a:ext>
            </a:extLst>
          </p:cNvPr>
          <p:cNvSpPr txBox="1"/>
          <p:nvPr/>
        </p:nvSpPr>
        <p:spPr>
          <a:xfrm>
            <a:off x="3035300" y="4133673"/>
            <a:ext cx="1915909" cy="461665"/>
          </a:xfrm>
          <a:prstGeom prst="rect">
            <a:avLst/>
          </a:prstGeom>
          <a:noFill/>
        </p:spPr>
        <p:txBody>
          <a:bodyPr wrap="none" rtlCol="0">
            <a:spAutoFit/>
          </a:bodyPr>
          <a:lstStyle/>
          <a:p>
            <a:r>
              <a:rPr lang="en-US" sz="2400" dirty="0">
                <a:solidFill>
                  <a:schemeClr val="accent2"/>
                </a:solidFill>
                <a:latin typeface="Roboto Medium" pitchFamily="2" charset="0"/>
                <a:ea typeface="Roboto Medium" pitchFamily="2" charset="0"/>
              </a:rPr>
              <a:t>Real Reason</a:t>
            </a:r>
          </a:p>
        </p:txBody>
      </p:sp>
      <p:sp>
        <p:nvSpPr>
          <p:cNvPr id="13" name="TextBox 12">
            <a:extLst>
              <a:ext uri="{FF2B5EF4-FFF2-40B4-BE49-F238E27FC236}">
                <a16:creationId xmlns:a16="http://schemas.microsoft.com/office/drawing/2014/main" id="{C92FB6C5-0A0A-6A43-838D-FE391C17B52D}"/>
              </a:ext>
            </a:extLst>
          </p:cNvPr>
          <p:cNvSpPr txBox="1"/>
          <p:nvPr/>
        </p:nvSpPr>
        <p:spPr>
          <a:xfrm>
            <a:off x="8540497" y="4133673"/>
            <a:ext cx="2495802" cy="461665"/>
          </a:xfrm>
          <a:prstGeom prst="rect">
            <a:avLst/>
          </a:prstGeom>
          <a:noFill/>
        </p:spPr>
        <p:txBody>
          <a:bodyPr wrap="square" rtlCol="0">
            <a:spAutoFit/>
          </a:bodyPr>
          <a:lstStyle/>
          <a:p>
            <a:pPr algn="r"/>
            <a:r>
              <a:rPr lang="en-US" sz="2400" dirty="0">
                <a:solidFill>
                  <a:schemeClr val="accent2"/>
                </a:solidFill>
                <a:latin typeface="Roboto Medium" pitchFamily="2" charset="0"/>
                <a:ea typeface="Roboto Medium" pitchFamily="2" charset="0"/>
              </a:rPr>
              <a:t>Real Reason</a:t>
            </a:r>
          </a:p>
        </p:txBody>
      </p:sp>
      <p:sp>
        <p:nvSpPr>
          <p:cNvPr id="14" name="TextBox 13">
            <a:extLst>
              <a:ext uri="{FF2B5EF4-FFF2-40B4-BE49-F238E27FC236}">
                <a16:creationId xmlns:a16="http://schemas.microsoft.com/office/drawing/2014/main" id="{1352CB3A-1805-D74A-8CEC-4D183BB5E82D}"/>
              </a:ext>
            </a:extLst>
          </p:cNvPr>
          <p:cNvSpPr txBox="1"/>
          <p:nvPr/>
        </p:nvSpPr>
        <p:spPr>
          <a:xfrm>
            <a:off x="3035300" y="5805085"/>
            <a:ext cx="2432812" cy="369332"/>
          </a:xfrm>
          <a:prstGeom prst="rect">
            <a:avLst/>
          </a:prstGeom>
          <a:noFill/>
        </p:spPr>
        <p:txBody>
          <a:bodyPr wrap="square" rtlCol="0">
            <a:spAutoFit/>
          </a:bodyPr>
          <a:lstStyle/>
          <a:p>
            <a:r>
              <a:rPr lang="en-US" dirty="0">
                <a:solidFill>
                  <a:srgbClr val="C00000"/>
                </a:solidFill>
                <a:latin typeface="Roboto Light" pitchFamily="2" charset="0"/>
                <a:ea typeface="Roboto Light" pitchFamily="2" charset="0"/>
              </a:rPr>
              <a:t>You Hate Employees!</a:t>
            </a:r>
          </a:p>
        </p:txBody>
      </p:sp>
      <p:sp>
        <p:nvSpPr>
          <p:cNvPr id="15" name="TextBox 14">
            <a:extLst>
              <a:ext uri="{FF2B5EF4-FFF2-40B4-BE49-F238E27FC236}">
                <a16:creationId xmlns:a16="http://schemas.microsoft.com/office/drawing/2014/main" id="{E627D642-3CDE-AC49-A976-33D69A41759D}"/>
              </a:ext>
            </a:extLst>
          </p:cNvPr>
          <p:cNvSpPr txBox="1"/>
          <p:nvPr/>
        </p:nvSpPr>
        <p:spPr>
          <a:xfrm>
            <a:off x="7699248" y="5805085"/>
            <a:ext cx="3337051" cy="369332"/>
          </a:xfrm>
          <a:prstGeom prst="rect">
            <a:avLst/>
          </a:prstGeom>
          <a:noFill/>
        </p:spPr>
        <p:txBody>
          <a:bodyPr wrap="square" rtlCol="0">
            <a:spAutoFit/>
          </a:bodyPr>
          <a:lstStyle/>
          <a:p>
            <a:pPr algn="r"/>
            <a:r>
              <a:rPr lang="en-US" dirty="0">
                <a:solidFill>
                  <a:srgbClr val="C00000"/>
                </a:solidFill>
                <a:latin typeface="Roboto Light" pitchFamily="2" charset="0"/>
                <a:ea typeface="Roboto Light" pitchFamily="2" charset="0"/>
              </a:rPr>
              <a:t>Employees Are Acting </a:t>
            </a:r>
            <a:r>
              <a:rPr lang="en-US" dirty="0" err="1">
                <a:solidFill>
                  <a:srgbClr val="C00000"/>
                </a:solidFill>
                <a:latin typeface="Roboto Light" pitchFamily="2" charset="0"/>
                <a:ea typeface="Roboto Light" pitchFamily="2" charset="0"/>
              </a:rPr>
              <a:t>Entitiled</a:t>
            </a:r>
            <a:endParaRPr lang="en-US" dirty="0">
              <a:solidFill>
                <a:srgbClr val="C00000"/>
              </a:solidFill>
              <a:latin typeface="Roboto Light" pitchFamily="2" charset="0"/>
              <a:ea typeface="Roboto Light" pitchFamily="2" charset="0"/>
            </a:endParaRPr>
          </a:p>
        </p:txBody>
      </p:sp>
      <p:sp>
        <p:nvSpPr>
          <p:cNvPr id="16" name="TextBox 15">
            <a:extLst>
              <a:ext uri="{FF2B5EF4-FFF2-40B4-BE49-F238E27FC236}">
                <a16:creationId xmlns:a16="http://schemas.microsoft.com/office/drawing/2014/main" id="{55D69580-2CA5-C146-9CCA-06889085E5A7}"/>
              </a:ext>
            </a:extLst>
          </p:cNvPr>
          <p:cNvSpPr txBox="1"/>
          <p:nvPr/>
        </p:nvSpPr>
        <p:spPr>
          <a:xfrm>
            <a:off x="3035300" y="5294114"/>
            <a:ext cx="1973617" cy="461665"/>
          </a:xfrm>
          <a:prstGeom prst="rect">
            <a:avLst/>
          </a:prstGeom>
          <a:noFill/>
        </p:spPr>
        <p:txBody>
          <a:bodyPr wrap="none" rtlCol="0">
            <a:spAutoFit/>
          </a:bodyPr>
          <a:lstStyle/>
          <a:p>
            <a:r>
              <a:rPr lang="en-US" sz="2400" dirty="0">
                <a:solidFill>
                  <a:srgbClr val="C00000"/>
                </a:solidFill>
                <a:latin typeface="Roboto Medium" pitchFamily="2" charset="0"/>
                <a:ea typeface="Roboto Medium" pitchFamily="2" charset="0"/>
              </a:rPr>
              <a:t>Fake Reason</a:t>
            </a:r>
          </a:p>
        </p:txBody>
      </p:sp>
      <p:sp>
        <p:nvSpPr>
          <p:cNvPr id="17" name="TextBox 16">
            <a:extLst>
              <a:ext uri="{FF2B5EF4-FFF2-40B4-BE49-F238E27FC236}">
                <a16:creationId xmlns:a16="http://schemas.microsoft.com/office/drawing/2014/main" id="{615BE68A-C1C3-C944-9D31-CBF2B39D842C}"/>
              </a:ext>
            </a:extLst>
          </p:cNvPr>
          <p:cNvSpPr txBox="1"/>
          <p:nvPr/>
        </p:nvSpPr>
        <p:spPr>
          <a:xfrm>
            <a:off x="8540497" y="5294114"/>
            <a:ext cx="2495802" cy="461665"/>
          </a:xfrm>
          <a:prstGeom prst="rect">
            <a:avLst/>
          </a:prstGeom>
          <a:noFill/>
        </p:spPr>
        <p:txBody>
          <a:bodyPr wrap="square" rtlCol="0">
            <a:spAutoFit/>
          </a:bodyPr>
          <a:lstStyle/>
          <a:p>
            <a:pPr algn="r"/>
            <a:r>
              <a:rPr lang="en-US" sz="2400" dirty="0">
                <a:solidFill>
                  <a:srgbClr val="C00000"/>
                </a:solidFill>
                <a:latin typeface="Roboto Medium" pitchFamily="2" charset="0"/>
                <a:ea typeface="Roboto Medium" pitchFamily="2" charset="0"/>
              </a:rPr>
              <a:t>Fake Reason</a:t>
            </a:r>
          </a:p>
        </p:txBody>
      </p:sp>
      <p:sp>
        <p:nvSpPr>
          <p:cNvPr id="18" name="TextBox 17">
            <a:extLst>
              <a:ext uri="{FF2B5EF4-FFF2-40B4-BE49-F238E27FC236}">
                <a16:creationId xmlns:a16="http://schemas.microsoft.com/office/drawing/2014/main" id="{E5ACD0C2-7405-974C-907F-C8ADBA22D11E}"/>
              </a:ext>
            </a:extLst>
          </p:cNvPr>
          <p:cNvSpPr txBox="1"/>
          <p:nvPr/>
        </p:nvSpPr>
        <p:spPr>
          <a:xfrm>
            <a:off x="3035300" y="3484203"/>
            <a:ext cx="3456940" cy="369332"/>
          </a:xfrm>
          <a:prstGeom prst="rect">
            <a:avLst/>
          </a:prstGeom>
          <a:noFill/>
        </p:spPr>
        <p:txBody>
          <a:bodyPr wrap="square" rtlCol="0">
            <a:spAutoFit/>
          </a:bodyPr>
          <a:lstStyle/>
          <a:p>
            <a:r>
              <a:rPr lang="en-US" dirty="0">
                <a:solidFill>
                  <a:srgbClr val="00B050"/>
                </a:solidFill>
                <a:latin typeface="Roboto Light" pitchFamily="2" charset="0"/>
                <a:ea typeface="Roboto Light" pitchFamily="2" charset="0"/>
              </a:rPr>
              <a:t>We Care About Your Feelings</a:t>
            </a:r>
          </a:p>
        </p:txBody>
      </p:sp>
      <p:sp>
        <p:nvSpPr>
          <p:cNvPr id="19" name="TextBox 18">
            <a:extLst>
              <a:ext uri="{FF2B5EF4-FFF2-40B4-BE49-F238E27FC236}">
                <a16:creationId xmlns:a16="http://schemas.microsoft.com/office/drawing/2014/main" id="{A1ECDAC2-5999-5D44-9555-1F597F85917C}"/>
              </a:ext>
            </a:extLst>
          </p:cNvPr>
          <p:cNvSpPr txBox="1"/>
          <p:nvPr/>
        </p:nvSpPr>
        <p:spPr>
          <a:xfrm>
            <a:off x="7022592" y="3484203"/>
            <a:ext cx="4013708" cy="369332"/>
          </a:xfrm>
          <a:prstGeom prst="rect">
            <a:avLst/>
          </a:prstGeom>
          <a:noFill/>
        </p:spPr>
        <p:txBody>
          <a:bodyPr wrap="square" rtlCol="0">
            <a:spAutoFit/>
          </a:bodyPr>
          <a:lstStyle/>
          <a:p>
            <a:pPr algn="r"/>
            <a:r>
              <a:rPr lang="en-US" dirty="0">
                <a:solidFill>
                  <a:srgbClr val="00B050"/>
                </a:solidFill>
                <a:latin typeface="Roboto Light" pitchFamily="2" charset="0"/>
                <a:ea typeface="Roboto Light" pitchFamily="2" charset="0"/>
              </a:rPr>
              <a:t>I’ve Been Giving X-Amount Of Value</a:t>
            </a:r>
          </a:p>
        </p:txBody>
      </p:sp>
      <p:sp>
        <p:nvSpPr>
          <p:cNvPr id="20" name="TextBox 19">
            <a:extLst>
              <a:ext uri="{FF2B5EF4-FFF2-40B4-BE49-F238E27FC236}">
                <a16:creationId xmlns:a16="http://schemas.microsoft.com/office/drawing/2014/main" id="{3B8F5C72-A5DC-6945-B321-E6E279A6D792}"/>
              </a:ext>
            </a:extLst>
          </p:cNvPr>
          <p:cNvSpPr txBox="1"/>
          <p:nvPr/>
        </p:nvSpPr>
        <p:spPr>
          <a:xfrm>
            <a:off x="3035300" y="2973232"/>
            <a:ext cx="2036135" cy="461665"/>
          </a:xfrm>
          <a:prstGeom prst="rect">
            <a:avLst/>
          </a:prstGeom>
          <a:noFill/>
        </p:spPr>
        <p:txBody>
          <a:bodyPr wrap="none" rtlCol="0">
            <a:spAutoFit/>
          </a:bodyPr>
          <a:lstStyle/>
          <a:p>
            <a:r>
              <a:rPr lang="en-US" sz="2400" dirty="0">
                <a:solidFill>
                  <a:srgbClr val="00B050"/>
                </a:solidFill>
                <a:latin typeface="Roboto Medium" pitchFamily="2" charset="0"/>
                <a:ea typeface="Roboto Medium" pitchFamily="2" charset="0"/>
              </a:rPr>
              <a:t>Good Reason</a:t>
            </a:r>
          </a:p>
        </p:txBody>
      </p:sp>
      <p:sp>
        <p:nvSpPr>
          <p:cNvPr id="21" name="TextBox 20">
            <a:extLst>
              <a:ext uri="{FF2B5EF4-FFF2-40B4-BE49-F238E27FC236}">
                <a16:creationId xmlns:a16="http://schemas.microsoft.com/office/drawing/2014/main" id="{1A84742D-3BDA-8D44-96BE-A18517FADE1A}"/>
              </a:ext>
            </a:extLst>
          </p:cNvPr>
          <p:cNvSpPr txBox="1"/>
          <p:nvPr/>
        </p:nvSpPr>
        <p:spPr>
          <a:xfrm>
            <a:off x="8540497" y="2973232"/>
            <a:ext cx="2495802" cy="461665"/>
          </a:xfrm>
          <a:prstGeom prst="rect">
            <a:avLst/>
          </a:prstGeom>
          <a:noFill/>
        </p:spPr>
        <p:txBody>
          <a:bodyPr wrap="square" rtlCol="0">
            <a:spAutoFit/>
          </a:bodyPr>
          <a:lstStyle/>
          <a:p>
            <a:pPr algn="r"/>
            <a:r>
              <a:rPr lang="en-US" sz="2400" dirty="0">
                <a:solidFill>
                  <a:srgbClr val="00B050"/>
                </a:solidFill>
                <a:latin typeface="Roboto Medium" pitchFamily="2" charset="0"/>
                <a:ea typeface="Roboto Medium" pitchFamily="2" charset="0"/>
              </a:rPr>
              <a:t>Good Reason</a:t>
            </a:r>
          </a:p>
        </p:txBody>
      </p:sp>
    </p:spTree>
    <p:extLst>
      <p:ext uri="{BB962C8B-B14F-4D97-AF65-F5344CB8AC3E}">
        <p14:creationId xmlns:p14="http://schemas.microsoft.com/office/powerpoint/2010/main" val="10693018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D90CD75-C0D9-9E49-8E78-DFA185D56393}"/>
              </a:ext>
            </a:extLst>
          </p:cNvPr>
          <p:cNvSpPr/>
          <p:nvPr/>
        </p:nvSpPr>
        <p:spPr>
          <a:xfrm>
            <a:off x="0" y="0"/>
            <a:ext cx="121920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DC60BE28-BB86-ED44-B93E-4B6FE50B9FF4}"/>
              </a:ext>
            </a:extLst>
          </p:cNvPr>
          <p:cNvSpPr txBox="1"/>
          <p:nvPr/>
        </p:nvSpPr>
        <p:spPr>
          <a:xfrm>
            <a:off x="0" y="1804938"/>
            <a:ext cx="12191999" cy="1200329"/>
          </a:xfrm>
          <a:prstGeom prst="rect">
            <a:avLst/>
          </a:prstGeom>
          <a:noFill/>
        </p:spPr>
        <p:txBody>
          <a:bodyPr wrap="square" rtlCol="0">
            <a:spAutoFit/>
          </a:bodyPr>
          <a:lstStyle/>
          <a:p>
            <a:pPr algn="ctr"/>
            <a:r>
              <a:rPr lang="en-US" sz="7200" dirty="0">
                <a:solidFill>
                  <a:schemeClr val="bg1"/>
                </a:solidFill>
                <a:latin typeface="Roboto Medium" pitchFamily="2" charset="0"/>
                <a:ea typeface="Roboto Medium" pitchFamily="2" charset="0"/>
              </a:rPr>
              <a:t>Trust</a:t>
            </a:r>
          </a:p>
        </p:txBody>
      </p:sp>
      <p:sp>
        <p:nvSpPr>
          <p:cNvPr id="6" name="TextBox 5">
            <a:extLst>
              <a:ext uri="{FF2B5EF4-FFF2-40B4-BE49-F238E27FC236}">
                <a16:creationId xmlns:a16="http://schemas.microsoft.com/office/drawing/2014/main" id="{0525D3C0-539D-894F-A370-065814B371C0}"/>
              </a:ext>
            </a:extLst>
          </p:cNvPr>
          <p:cNvSpPr txBox="1"/>
          <p:nvPr/>
        </p:nvSpPr>
        <p:spPr>
          <a:xfrm>
            <a:off x="706876" y="3775023"/>
            <a:ext cx="10778246" cy="830997"/>
          </a:xfrm>
          <a:prstGeom prst="rect">
            <a:avLst/>
          </a:prstGeom>
          <a:noFill/>
        </p:spPr>
        <p:txBody>
          <a:bodyPr wrap="square" rtlCol="0">
            <a:spAutoFit/>
          </a:bodyPr>
          <a:lstStyle/>
          <a:p>
            <a:pPr algn="ctr"/>
            <a:r>
              <a:rPr lang="en-US" sz="4800" dirty="0">
                <a:solidFill>
                  <a:schemeClr val="bg1"/>
                </a:solidFill>
                <a:latin typeface="Roboto Light" pitchFamily="2" charset="0"/>
                <a:ea typeface="Roboto Light" pitchFamily="2" charset="0"/>
              </a:rPr>
              <a:t>A Better Cornerstone</a:t>
            </a:r>
          </a:p>
        </p:txBody>
      </p:sp>
    </p:spTree>
    <p:extLst>
      <p:ext uri="{BB962C8B-B14F-4D97-AF65-F5344CB8AC3E}">
        <p14:creationId xmlns:p14="http://schemas.microsoft.com/office/powerpoint/2010/main" val="7655705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D90CD75-C0D9-9E49-8E78-DFA185D56393}"/>
              </a:ext>
            </a:extLst>
          </p:cNvPr>
          <p:cNvSpPr/>
          <p:nvPr/>
        </p:nvSpPr>
        <p:spPr>
          <a:xfrm>
            <a:off x="0" y="0"/>
            <a:ext cx="121920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DC60BE28-BB86-ED44-B93E-4B6FE50B9FF4}"/>
              </a:ext>
            </a:extLst>
          </p:cNvPr>
          <p:cNvSpPr txBox="1"/>
          <p:nvPr/>
        </p:nvSpPr>
        <p:spPr>
          <a:xfrm>
            <a:off x="0" y="1804938"/>
            <a:ext cx="12191999" cy="3416320"/>
          </a:xfrm>
          <a:prstGeom prst="rect">
            <a:avLst/>
          </a:prstGeom>
          <a:noFill/>
        </p:spPr>
        <p:txBody>
          <a:bodyPr wrap="square" rtlCol="0">
            <a:spAutoFit/>
          </a:bodyPr>
          <a:lstStyle/>
          <a:p>
            <a:pPr algn="ctr"/>
            <a:r>
              <a:rPr lang="en-US" sz="7200" dirty="0">
                <a:solidFill>
                  <a:schemeClr val="bg1"/>
                </a:solidFill>
                <a:latin typeface="Roboto Medium" pitchFamily="2" charset="0"/>
                <a:ea typeface="Roboto Medium" pitchFamily="2" charset="0"/>
              </a:rPr>
              <a:t>The Key To </a:t>
            </a:r>
          </a:p>
          <a:p>
            <a:pPr algn="ctr"/>
            <a:r>
              <a:rPr lang="en-US" sz="7200" dirty="0">
                <a:solidFill>
                  <a:schemeClr val="accent4">
                    <a:lumMod val="20000"/>
                    <a:lumOff val="80000"/>
                  </a:schemeClr>
                </a:solidFill>
                <a:latin typeface="Roboto Medium" pitchFamily="2" charset="0"/>
                <a:ea typeface="Roboto Medium" pitchFamily="2" charset="0"/>
              </a:rPr>
              <a:t>Ethical</a:t>
            </a:r>
            <a:r>
              <a:rPr lang="en-US" sz="7200" dirty="0">
                <a:solidFill>
                  <a:schemeClr val="bg1"/>
                </a:solidFill>
                <a:latin typeface="Roboto Medium" pitchFamily="2" charset="0"/>
                <a:ea typeface="Roboto Medium" pitchFamily="2" charset="0"/>
              </a:rPr>
              <a:t> Retention of </a:t>
            </a:r>
          </a:p>
          <a:p>
            <a:pPr algn="ctr"/>
            <a:r>
              <a:rPr lang="en-US" sz="7200" dirty="0">
                <a:solidFill>
                  <a:schemeClr val="bg1"/>
                </a:solidFill>
                <a:latin typeface="Roboto Medium" pitchFamily="2" charset="0"/>
                <a:ea typeface="Roboto Medium" pitchFamily="2" charset="0"/>
              </a:rPr>
              <a:t>the </a:t>
            </a:r>
            <a:r>
              <a:rPr lang="en-US" sz="7200" dirty="0">
                <a:solidFill>
                  <a:schemeClr val="accent4">
                    <a:lumMod val="20000"/>
                    <a:lumOff val="80000"/>
                  </a:schemeClr>
                </a:solidFill>
                <a:latin typeface="Roboto Medium" pitchFamily="2" charset="0"/>
                <a:ea typeface="Roboto Medium" pitchFamily="2" charset="0"/>
              </a:rPr>
              <a:t>Right</a:t>
            </a:r>
            <a:r>
              <a:rPr lang="en-US" sz="7200" dirty="0">
                <a:solidFill>
                  <a:schemeClr val="bg1"/>
                </a:solidFill>
                <a:latin typeface="Roboto Medium" pitchFamily="2" charset="0"/>
                <a:ea typeface="Roboto Medium" pitchFamily="2" charset="0"/>
              </a:rPr>
              <a:t> People is Trust</a:t>
            </a:r>
          </a:p>
        </p:txBody>
      </p:sp>
    </p:spTree>
    <p:extLst>
      <p:ext uri="{BB962C8B-B14F-4D97-AF65-F5344CB8AC3E}">
        <p14:creationId xmlns:p14="http://schemas.microsoft.com/office/powerpoint/2010/main" val="20920273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D90CD75-C0D9-9E49-8E78-DFA185D56393}"/>
              </a:ext>
            </a:extLst>
          </p:cNvPr>
          <p:cNvSpPr/>
          <p:nvPr/>
        </p:nvSpPr>
        <p:spPr>
          <a:xfrm>
            <a:off x="0" y="0"/>
            <a:ext cx="121920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DC60BE28-BB86-ED44-B93E-4B6FE50B9FF4}"/>
              </a:ext>
            </a:extLst>
          </p:cNvPr>
          <p:cNvSpPr txBox="1"/>
          <p:nvPr/>
        </p:nvSpPr>
        <p:spPr>
          <a:xfrm>
            <a:off x="0" y="1804938"/>
            <a:ext cx="12191999" cy="2185214"/>
          </a:xfrm>
          <a:prstGeom prst="rect">
            <a:avLst/>
          </a:prstGeom>
          <a:noFill/>
        </p:spPr>
        <p:txBody>
          <a:bodyPr wrap="square" rtlCol="0">
            <a:spAutoFit/>
          </a:bodyPr>
          <a:lstStyle/>
          <a:p>
            <a:pPr algn="ctr"/>
            <a:r>
              <a:rPr lang="en-US" sz="7200" dirty="0">
                <a:solidFill>
                  <a:schemeClr val="bg1"/>
                </a:solidFill>
                <a:latin typeface="Roboto Medium" pitchFamily="2" charset="0"/>
                <a:ea typeface="Roboto Medium" pitchFamily="2" charset="0"/>
              </a:rPr>
              <a:t>Trust Equation</a:t>
            </a:r>
          </a:p>
          <a:p>
            <a:pPr algn="ctr"/>
            <a:endParaRPr lang="en-US" sz="3200" dirty="0">
              <a:solidFill>
                <a:schemeClr val="bg1"/>
              </a:solidFill>
              <a:latin typeface="Roboto Medium" pitchFamily="2" charset="0"/>
              <a:ea typeface="Roboto Medium" pitchFamily="2" charset="0"/>
            </a:endParaRPr>
          </a:p>
          <a:p>
            <a:pPr algn="ctr"/>
            <a:r>
              <a:rPr lang="en-US" sz="3200" dirty="0">
                <a:solidFill>
                  <a:schemeClr val="bg1"/>
                </a:solidFill>
                <a:latin typeface="Roboto Medium" pitchFamily="2" charset="0"/>
                <a:ea typeface="Roboto Medium" pitchFamily="2" charset="0"/>
              </a:rPr>
              <a:t> Confidence in Competency  </a:t>
            </a:r>
            <a:r>
              <a:rPr lang="en-US" sz="3200" dirty="0">
                <a:solidFill>
                  <a:schemeClr val="accent4">
                    <a:lumMod val="20000"/>
                    <a:lumOff val="80000"/>
                  </a:schemeClr>
                </a:solidFill>
                <a:latin typeface="Roboto Medium" pitchFamily="2" charset="0"/>
                <a:ea typeface="Roboto Medium" pitchFamily="2" charset="0"/>
              </a:rPr>
              <a:t>×</a:t>
            </a:r>
            <a:r>
              <a:rPr lang="en-US" sz="3200" dirty="0">
                <a:solidFill>
                  <a:schemeClr val="bg1"/>
                </a:solidFill>
                <a:latin typeface="Roboto Medium" pitchFamily="2" charset="0"/>
                <a:ea typeface="Roboto Medium" pitchFamily="2" charset="0"/>
              </a:rPr>
              <a:t>  Confidence in Character</a:t>
            </a:r>
          </a:p>
        </p:txBody>
      </p:sp>
    </p:spTree>
    <p:extLst>
      <p:ext uri="{BB962C8B-B14F-4D97-AF65-F5344CB8AC3E}">
        <p14:creationId xmlns:p14="http://schemas.microsoft.com/office/powerpoint/2010/main" val="10871453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D90CD75-C0D9-9E49-8E78-DFA185D56393}"/>
              </a:ext>
            </a:extLst>
          </p:cNvPr>
          <p:cNvSpPr/>
          <p:nvPr/>
        </p:nvSpPr>
        <p:spPr>
          <a:xfrm>
            <a:off x="0" y="0"/>
            <a:ext cx="121920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DC60BE28-BB86-ED44-B93E-4B6FE50B9FF4}"/>
              </a:ext>
            </a:extLst>
          </p:cNvPr>
          <p:cNvSpPr txBox="1"/>
          <p:nvPr/>
        </p:nvSpPr>
        <p:spPr>
          <a:xfrm>
            <a:off x="0" y="1804938"/>
            <a:ext cx="12191999" cy="2308324"/>
          </a:xfrm>
          <a:prstGeom prst="rect">
            <a:avLst/>
          </a:prstGeom>
          <a:noFill/>
        </p:spPr>
        <p:txBody>
          <a:bodyPr wrap="square" rtlCol="0">
            <a:spAutoFit/>
          </a:bodyPr>
          <a:lstStyle/>
          <a:p>
            <a:pPr algn="ctr"/>
            <a:r>
              <a:rPr lang="en-US" sz="7200" dirty="0">
                <a:solidFill>
                  <a:schemeClr val="bg1"/>
                </a:solidFill>
                <a:latin typeface="Roboto Medium" pitchFamily="2" charset="0"/>
                <a:ea typeface="Roboto Medium" pitchFamily="2" charset="0"/>
              </a:rPr>
              <a:t>Why Don’t We Communicate?</a:t>
            </a:r>
          </a:p>
        </p:txBody>
      </p:sp>
      <p:sp>
        <p:nvSpPr>
          <p:cNvPr id="6" name="TextBox 5">
            <a:extLst>
              <a:ext uri="{FF2B5EF4-FFF2-40B4-BE49-F238E27FC236}">
                <a16:creationId xmlns:a16="http://schemas.microsoft.com/office/drawing/2014/main" id="{0525D3C0-539D-894F-A370-065814B371C0}"/>
              </a:ext>
            </a:extLst>
          </p:cNvPr>
          <p:cNvSpPr txBox="1"/>
          <p:nvPr/>
        </p:nvSpPr>
        <p:spPr>
          <a:xfrm>
            <a:off x="706876" y="4524831"/>
            <a:ext cx="10778246" cy="830997"/>
          </a:xfrm>
          <a:prstGeom prst="rect">
            <a:avLst/>
          </a:prstGeom>
          <a:noFill/>
        </p:spPr>
        <p:txBody>
          <a:bodyPr wrap="square" rtlCol="0">
            <a:spAutoFit/>
          </a:bodyPr>
          <a:lstStyle/>
          <a:p>
            <a:pPr algn="ctr"/>
            <a:r>
              <a:rPr lang="en-US" sz="4800" dirty="0">
                <a:solidFill>
                  <a:schemeClr val="bg1"/>
                </a:solidFill>
                <a:latin typeface="Roboto Light" pitchFamily="2" charset="0"/>
                <a:ea typeface="Roboto Light" pitchFamily="2" charset="0"/>
              </a:rPr>
              <a:t>Power Imbalance</a:t>
            </a:r>
          </a:p>
        </p:txBody>
      </p:sp>
    </p:spTree>
    <p:extLst>
      <p:ext uri="{BB962C8B-B14F-4D97-AF65-F5344CB8AC3E}">
        <p14:creationId xmlns:p14="http://schemas.microsoft.com/office/powerpoint/2010/main" val="9488877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ttps://kellylowenstein.files.wordpress.com/2010/02/speed-of-trust.jpg">
            <a:extLst>
              <a:ext uri="{FF2B5EF4-FFF2-40B4-BE49-F238E27FC236}">
                <a16:creationId xmlns:a16="http://schemas.microsoft.com/office/drawing/2014/main" id="{8F65D86A-238F-FB41-A1FB-6EE02E477C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1612" y="801848"/>
            <a:ext cx="3508756" cy="5381528"/>
          </a:xfrm>
          <a:prstGeom prst="rect">
            <a:avLst/>
          </a:prstGeom>
          <a:noFill/>
          <a:ln>
            <a:solidFill>
              <a:schemeClr val="tx1">
                <a:lumMod val="50000"/>
                <a:lumOff val="50000"/>
              </a:schemeClr>
            </a:solidFill>
          </a:ln>
          <a:effectLst>
            <a:outerShdw blurRad="50800" dist="38100" dir="8100000" algn="tr" rotWithShape="0">
              <a:prstClr val="black">
                <a:alpha val="40000"/>
              </a:prstClr>
            </a:outerShdw>
          </a:effectLst>
          <a:scene3d>
            <a:camera prst="perspectiveFront"/>
            <a:lightRig rig="threePt" dir="t"/>
          </a:scene3d>
          <a:extLst>
            <a:ext uri="{909E8E84-426E-40DD-AFC4-6F175D3DCCD1}">
              <a14:hiddenFill xmlns:a14="http://schemas.microsoft.com/office/drawing/2010/main">
                <a:solidFill>
                  <a:srgbClr val="FFFFFF"/>
                </a:solidFill>
              </a14:hiddenFill>
            </a:ext>
          </a:extLst>
        </p:spPr>
      </p:pic>
      <p:pic>
        <p:nvPicPr>
          <p:cNvPr id="1030" name="Picture 6" descr="https://tse3.mm.bing.net/th?id=OIP.acmzbEHwCacpQevNXwm0BAHaI5&amp;pid=Api">
            <a:extLst>
              <a:ext uri="{FF2B5EF4-FFF2-40B4-BE49-F238E27FC236}">
                <a16:creationId xmlns:a16="http://schemas.microsoft.com/office/drawing/2014/main" id="{3FA860EF-94CF-CD46-8701-7AE86E56DC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1155" y="801848"/>
            <a:ext cx="4519228" cy="54245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61667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D90CD75-C0D9-9E49-8E78-DFA185D56393}"/>
              </a:ext>
            </a:extLst>
          </p:cNvPr>
          <p:cNvSpPr/>
          <p:nvPr/>
        </p:nvSpPr>
        <p:spPr>
          <a:xfrm>
            <a:off x="0" y="0"/>
            <a:ext cx="121920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20CCBA67-538C-6E43-82FC-68116F592CAB}"/>
              </a:ext>
            </a:extLst>
          </p:cNvPr>
          <p:cNvSpPr txBox="1"/>
          <p:nvPr/>
        </p:nvSpPr>
        <p:spPr>
          <a:xfrm>
            <a:off x="1164075" y="1510370"/>
            <a:ext cx="9863847" cy="4524315"/>
          </a:xfrm>
          <a:prstGeom prst="rect">
            <a:avLst/>
          </a:prstGeom>
          <a:noFill/>
        </p:spPr>
        <p:txBody>
          <a:bodyPr wrap="square" rtlCol="0">
            <a:spAutoFit/>
          </a:bodyPr>
          <a:lstStyle/>
          <a:p>
            <a:pPr algn="ctr"/>
            <a:r>
              <a:rPr lang="en-US" sz="4800" dirty="0">
                <a:solidFill>
                  <a:schemeClr val="bg1"/>
                </a:solidFill>
                <a:latin typeface="Roboto Medium" pitchFamily="2" charset="0"/>
                <a:ea typeface="Roboto Medium" pitchFamily="2" charset="0"/>
              </a:rPr>
              <a:t>I totally wish I could bring up certain dissatisfactions, but I’m all but certain that in doing so, I would be marked as a malcontent, prior organizational reputation notwithstanding.</a:t>
            </a:r>
          </a:p>
        </p:txBody>
      </p:sp>
      <p:sp>
        <p:nvSpPr>
          <p:cNvPr id="2" name="TextBox 1">
            <a:extLst>
              <a:ext uri="{FF2B5EF4-FFF2-40B4-BE49-F238E27FC236}">
                <a16:creationId xmlns:a16="http://schemas.microsoft.com/office/drawing/2014/main" id="{8C0AB078-697F-4C45-8AD5-40F1E52E758D}"/>
              </a:ext>
            </a:extLst>
          </p:cNvPr>
          <p:cNvSpPr txBox="1"/>
          <p:nvPr/>
        </p:nvSpPr>
        <p:spPr>
          <a:xfrm>
            <a:off x="1308453" y="860692"/>
            <a:ext cx="1227221" cy="1569660"/>
          </a:xfrm>
          <a:prstGeom prst="rect">
            <a:avLst/>
          </a:prstGeom>
          <a:noFill/>
        </p:spPr>
        <p:txBody>
          <a:bodyPr wrap="square" rtlCol="0">
            <a:spAutoFit/>
          </a:bodyPr>
          <a:lstStyle/>
          <a:p>
            <a:r>
              <a:rPr lang="en-US" sz="9600" dirty="0">
                <a:solidFill>
                  <a:schemeClr val="bg1"/>
                </a:solidFill>
                <a:latin typeface="Roboto Medium" pitchFamily="2" charset="0"/>
                <a:ea typeface="Roboto Medium" pitchFamily="2" charset="0"/>
              </a:rPr>
              <a:t>“</a:t>
            </a:r>
          </a:p>
        </p:txBody>
      </p:sp>
      <p:sp>
        <p:nvSpPr>
          <p:cNvPr id="5" name="TextBox 4">
            <a:extLst>
              <a:ext uri="{FF2B5EF4-FFF2-40B4-BE49-F238E27FC236}">
                <a16:creationId xmlns:a16="http://schemas.microsoft.com/office/drawing/2014/main" id="{B15139BD-7C0C-8A43-9A31-9A41C1432CD3}"/>
              </a:ext>
            </a:extLst>
          </p:cNvPr>
          <p:cNvSpPr txBox="1"/>
          <p:nvPr/>
        </p:nvSpPr>
        <p:spPr>
          <a:xfrm>
            <a:off x="8431148" y="4915168"/>
            <a:ext cx="1227221" cy="1569660"/>
          </a:xfrm>
          <a:prstGeom prst="rect">
            <a:avLst/>
          </a:prstGeom>
          <a:noFill/>
        </p:spPr>
        <p:txBody>
          <a:bodyPr wrap="square" rtlCol="0">
            <a:spAutoFit/>
          </a:bodyPr>
          <a:lstStyle/>
          <a:p>
            <a:r>
              <a:rPr lang="en-US" sz="9600" dirty="0">
                <a:solidFill>
                  <a:schemeClr val="bg1"/>
                </a:solidFill>
                <a:latin typeface="Roboto Medium" pitchFamily="2" charset="0"/>
                <a:ea typeface="Roboto Medium" pitchFamily="2" charset="0"/>
              </a:rPr>
              <a:t>”</a:t>
            </a:r>
          </a:p>
        </p:txBody>
      </p:sp>
      <p:sp>
        <p:nvSpPr>
          <p:cNvPr id="3" name="TextBox 2">
            <a:extLst>
              <a:ext uri="{FF2B5EF4-FFF2-40B4-BE49-F238E27FC236}">
                <a16:creationId xmlns:a16="http://schemas.microsoft.com/office/drawing/2014/main" id="{EC61069C-CB82-8E48-8B72-B26B0F252DAE}"/>
              </a:ext>
            </a:extLst>
          </p:cNvPr>
          <p:cNvSpPr txBox="1"/>
          <p:nvPr/>
        </p:nvSpPr>
        <p:spPr>
          <a:xfrm>
            <a:off x="10032953" y="5740323"/>
            <a:ext cx="1249060" cy="584775"/>
          </a:xfrm>
          <a:prstGeom prst="rect">
            <a:avLst/>
          </a:prstGeom>
          <a:noFill/>
        </p:spPr>
        <p:txBody>
          <a:bodyPr wrap="none" rtlCol="0">
            <a:spAutoFit/>
          </a:bodyPr>
          <a:lstStyle/>
          <a:p>
            <a:r>
              <a:rPr lang="en-US" sz="3200" dirty="0">
                <a:solidFill>
                  <a:schemeClr val="bg1"/>
                </a:solidFill>
                <a:latin typeface="Roboto Medium" pitchFamily="2" charset="0"/>
                <a:ea typeface="Roboto Medium" pitchFamily="2" charset="0"/>
              </a:rPr>
              <a:t>- Nick</a:t>
            </a:r>
          </a:p>
        </p:txBody>
      </p:sp>
    </p:spTree>
    <p:extLst>
      <p:ext uri="{BB962C8B-B14F-4D97-AF65-F5344CB8AC3E}">
        <p14:creationId xmlns:p14="http://schemas.microsoft.com/office/powerpoint/2010/main" val="32524536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D90CD75-C0D9-9E49-8E78-DFA185D56393}"/>
              </a:ext>
            </a:extLst>
          </p:cNvPr>
          <p:cNvSpPr/>
          <p:nvPr/>
        </p:nvSpPr>
        <p:spPr>
          <a:xfrm>
            <a:off x="0" y="0"/>
            <a:ext cx="121920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DC60BE28-BB86-ED44-B93E-4B6FE50B9FF4}"/>
              </a:ext>
            </a:extLst>
          </p:cNvPr>
          <p:cNvSpPr txBox="1"/>
          <p:nvPr/>
        </p:nvSpPr>
        <p:spPr>
          <a:xfrm>
            <a:off x="0" y="1804938"/>
            <a:ext cx="12191999" cy="1200329"/>
          </a:xfrm>
          <a:prstGeom prst="rect">
            <a:avLst/>
          </a:prstGeom>
          <a:noFill/>
        </p:spPr>
        <p:txBody>
          <a:bodyPr wrap="square" rtlCol="0">
            <a:spAutoFit/>
          </a:bodyPr>
          <a:lstStyle/>
          <a:p>
            <a:pPr algn="ctr"/>
            <a:r>
              <a:rPr lang="en-US" sz="7200" dirty="0">
                <a:solidFill>
                  <a:schemeClr val="bg1"/>
                </a:solidFill>
                <a:latin typeface="Roboto Medium" pitchFamily="2" charset="0"/>
                <a:ea typeface="Roboto Medium" pitchFamily="2" charset="0"/>
              </a:rPr>
              <a:t>So What?</a:t>
            </a:r>
          </a:p>
        </p:txBody>
      </p:sp>
      <p:sp>
        <p:nvSpPr>
          <p:cNvPr id="6" name="TextBox 5">
            <a:extLst>
              <a:ext uri="{FF2B5EF4-FFF2-40B4-BE49-F238E27FC236}">
                <a16:creationId xmlns:a16="http://schemas.microsoft.com/office/drawing/2014/main" id="{0525D3C0-539D-894F-A370-065814B371C0}"/>
              </a:ext>
            </a:extLst>
          </p:cNvPr>
          <p:cNvSpPr txBox="1"/>
          <p:nvPr/>
        </p:nvSpPr>
        <p:spPr>
          <a:xfrm>
            <a:off x="706876" y="3226383"/>
            <a:ext cx="10778246" cy="830997"/>
          </a:xfrm>
          <a:prstGeom prst="rect">
            <a:avLst/>
          </a:prstGeom>
          <a:noFill/>
        </p:spPr>
        <p:txBody>
          <a:bodyPr wrap="square" rtlCol="0">
            <a:spAutoFit/>
          </a:bodyPr>
          <a:lstStyle/>
          <a:p>
            <a:pPr algn="ctr"/>
            <a:r>
              <a:rPr lang="en-US" sz="4800" dirty="0">
                <a:solidFill>
                  <a:schemeClr val="bg1"/>
                </a:solidFill>
                <a:latin typeface="Roboto Light" pitchFamily="2" charset="0"/>
                <a:ea typeface="Roboto Light" pitchFamily="2" charset="0"/>
              </a:rPr>
              <a:t>Conclusions</a:t>
            </a:r>
          </a:p>
        </p:txBody>
      </p:sp>
    </p:spTree>
    <p:extLst>
      <p:ext uri="{BB962C8B-B14F-4D97-AF65-F5344CB8AC3E}">
        <p14:creationId xmlns:p14="http://schemas.microsoft.com/office/powerpoint/2010/main" val="8323565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CCBA67-538C-6E43-82FC-68116F592CAB}"/>
              </a:ext>
            </a:extLst>
          </p:cNvPr>
          <p:cNvSpPr txBox="1"/>
          <p:nvPr/>
        </p:nvSpPr>
        <p:spPr>
          <a:xfrm>
            <a:off x="3035299" y="469900"/>
            <a:ext cx="8423883" cy="1015663"/>
          </a:xfrm>
          <a:prstGeom prst="rect">
            <a:avLst/>
          </a:prstGeom>
          <a:noFill/>
        </p:spPr>
        <p:txBody>
          <a:bodyPr wrap="square" rtlCol="0">
            <a:spAutoFit/>
          </a:bodyPr>
          <a:lstStyle/>
          <a:p>
            <a:r>
              <a:rPr lang="en-US" sz="6000" dirty="0">
                <a:solidFill>
                  <a:srgbClr val="00B0F0"/>
                </a:solidFill>
                <a:latin typeface="Roboto Medium" pitchFamily="2" charset="0"/>
                <a:ea typeface="Roboto Medium" pitchFamily="2" charset="0"/>
              </a:rPr>
              <a:t>To Non-Management</a:t>
            </a:r>
          </a:p>
        </p:txBody>
      </p:sp>
      <p:sp>
        <p:nvSpPr>
          <p:cNvPr id="11" name="Rectangle 10">
            <a:extLst>
              <a:ext uri="{FF2B5EF4-FFF2-40B4-BE49-F238E27FC236}">
                <a16:creationId xmlns:a16="http://schemas.microsoft.com/office/drawing/2014/main" id="{2D90CD75-C0D9-9E49-8E78-DFA185D56393}"/>
              </a:ext>
            </a:extLst>
          </p:cNvPr>
          <p:cNvSpPr/>
          <p:nvPr/>
        </p:nvSpPr>
        <p:spPr>
          <a:xfrm>
            <a:off x="0" y="0"/>
            <a:ext cx="24765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22384768-49A6-D742-A53C-E4D91FC56476}"/>
              </a:ext>
            </a:extLst>
          </p:cNvPr>
          <p:cNvSpPr txBox="1"/>
          <p:nvPr/>
        </p:nvSpPr>
        <p:spPr>
          <a:xfrm>
            <a:off x="3035301" y="2197894"/>
            <a:ext cx="8000998" cy="1231106"/>
          </a:xfrm>
          <a:prstGeom prst="rect">
            <a:avLst/>
          </a:prstGeom>
          <a:noFill/>
        </p:spPr>
        <p:txBody>
          <a:bodyPr wrap="square" rtlCol="0">
            <a:spAutoFit/>
          </a:bodyPr>
          <a:lstStyle/>
          <a:p>
            <a:pPr marL="342900" indent="-342900">
              <a:spcAft>
                <a:spcPts val="1200"/>
              </a:spcAft>
              <a:buFont typeface="Wingdings" pitchFamily="2" charset="2"/>
              <a:buChar char="ü"/>
            </a:pPr>
            <a:r>
              <a:rPr lang="en-US" sz="3200" dirty="0">
                <a:latin typeface="Roboto" pitchFamily="2" charset="0"/>
                <a:ea typeface="Roboto" pitchFamily="2" charset="0"/>
              </a:rPr>
              <a:t>Give The Benefit of The Doubt</a:t>
            </a:r>
          </a:p>
          <a:p>
            <a:pPr marL="342900" indent="-342900">
              <a:spcAft>
                <a:spcPts val="1200"/>
              </a:spcAft>
              <a:buFont typeface="Wingdings" pitchFamily="2" charset="2"/>
              <a:buChar char="ü"/>
            </a:pPr>
            <a:r>
              <a:rPr lang="en-US" sz="3200" dirty="0">
                <a:latin typeface="Roboto" pitchFamily="2" charset="0"/>
                <a:ea typeface="Roboto" pitchFamily="2" charset="0"/>
              </a:rPr>
              <a:t>Communicate Your Concerns</a:t>
            </a:r>
          </a:p>
        </p:txBody>
      </p:sp>
    </p:spTree>
    <p:extLst>
      <p:ext uri="{BB962C8B-B14F-4D97-AF65-F5344CB8AC3E}">
        <p14:creationId xmlns:p14="http://schemas.microsoft.com/office/powerpoint/2010/main" val="3882096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CCBA67-538C-6E43-82FC-68116F592CAB}"/>
              </a:ext>
            </a:extLst>
          </p:cNvPr>
          <p:cNvSpPr txBox="1"/>
          <p:nvPr/>
        </p:nvSpPr>
        <p:spPr>
          <a:xfrm>
            <a:off x="3035299" y="469900"/>
            <a:ext cx="8423883" cy="1015663"/>
          </a:xfrm>
          <a:prstGeom prst="rect">
            <a:avLst/>
          </a:prstGeom>
          <a:noFill/>
        </p:spPr>
        <p:txBody>
          <a:bodyPr wrap="square" rtlCol="0">
            <a:spAutoFit/>
          </a:bodyPr>
          <a:lstStyle/>
          <a:p>
            <a:r>
              <a:rPr lang="en-US" sz="6000" dirty="0">
                <a:solidFill>
                  <a:srgbClr val="00B0F0"/>
                </a:solidFill>
                <a:latin typeface="Roboto Medium" pitchFamily="2" charset="0"/>
                <a:ea typeface="Roboto Medium" pitchFamily="2" charset="0"/>
              </a:rPr>
              <a:t>To Management</a:t>
            </a:r>
          </a:p>
        </p:txBody>
      </p:sp>
      <p:sp>
        <p:nvSpPr>
          <p:cNvPr id="11" name="Rectangle 10">
            <a:extLst>
              <a:ext uri="{FF2B5EF4-FFF2-40B4-BE49-F238E27FC236}">
                <a16:creationId xmlns:a16="http://schemas.microsoft.com/office/drawing/2014/main" id="{2D90CD75-C0D9-9E49-8E78-DFA185D56393}"/>
              </a:ext>
            </a:extLst>
          </p:cNvPr>
          <p:cNvSpPr/>
          <p:nvPr/>
        </p:nvSpPr>
        <p:spPr>
          <a:xfrm>
            <a:off x="0" y="0"/>
            <a:ext cx="24765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22384768-49A6-D742-A53C-E4D91FC56476}"/>
              </a:ext>
            </a:extLst>
          </p:cNvPr>
          <p:cNvSpPr txBox="1"/>
          <p:nvPr/>
        </p:nvSpPr>
        <p:spPr>
          <a:xfrm>
            <a:off x="3035301" y="2197894"/>
            <a:ext cx="8000998" cy="2369880"/>
          </a:xfrm>
          <a:prstGeom prst="rect">
            <a:avLst/>
          </a:prstGeom>
          <a:noFill/>
        </p:spPr>
        <p:txBody>
          <a:bodyPr wrap="square" rtlCol="0">
            <a:spAutoFit/>
          </a:bodyPr>
          <a:lstStyle/>
          <a:p>
            <a:pPr marL="342900" indent="-342900">
              <a:spcAft>
                <a:spcPts val="1200"/>
              </a:spcAft>
              <a:buFont typeface="Wingdings" pitchFamily="2" charset="2"/>
              <a:buChar char="ü"/>
            </a:pPr>
            <a:r>
              <a:rPr lang="en-US" sz="3200" dirty="0">
                <a:latin typeface="Roboto" pitchFamily="2" charset="0"/>
                <a:ea typeface="Roboto" pitchFamily="2" charset="0"/>
              </a:rPr>
              <a:t>Give Greater Emphasis to Communication</a:t>
            </a:r>
          </a:p>
          <a:p>
            <a:pPr marL="342900" indent="-342900">
              <a:spcAft>
                <a:spcPts val="1200"/>
              </a:spcAft>
              <a:buFont typeface="Wingdings" pitchFamily="2" charset="2"/>
              <a:buChar char="ü"/>
            </a:pPr>
            <a:r>
              <a:rPr lang="en-US" sz="3200" dirty="0">
                <a:latin typeface="Roboto" pitchFamily="2" charset="0"/>
                <a:ea typeface="Roboto" pitchFamily="2" charset="0"/>
              </a:rPr>
              <a:t>Give Context to Decisions</a:t>
            </a:r>
          </a:p>
          <a:p>
            <a:pPr marL="342900" indent="-342900">
              <a:spcAft>
                <a:spcPts val="1200"/>
              </a:spcAft>
              <a:buFont typeface="Wingdings" pitchFamily="2" charset="2"/>
              <a:buChar char="ü"/>
            </a:pPr>
            <a:r>
              <a:rPr lang="en-US" sz="3200" dirty="0">
                <a:latin typeface="Roboto" pitchFamily="2" charset="0"/>
                <a:ea typeface="Roboto" pitchFamily="2" charset="0"/>
              </a:rPr>
              <a:t>Seek Feedback From Employees</a:t>
            </a:r>
          </a:p>
        </p:txBody>
      </p:sp>
    </p:spTree>
    <p:extLst>
      <p:ext uri="{BB962C8B-B14F-4D97-AF65-F5344CB8AC3E}">
        <p14:creationId xmlns:p14="http://schemas.microsoft.com/office/powerpoint/2010/main" val="39845430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1553</TotalTime>
  <Words>935</Words>
  <Application>Microsoft Macintosh PowerPoint</Application>
  <PresentationFormat>Widescreen</PresentationFormat>
  <Paragraphs>220</Paragraphs>
  <Slides>41</Slides>
  <Notes>28</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41</vt:i4>
      </vt:variant>
    </vt:vector>
  </HeadingPairs>
  <TitlesOfParts>
    <vt:vector size="50" baseType="lpstr">
      <vt:lpstr>Arial</vt:lpstr>
      <vt:lpstr>Calibri</vt:lpstr>
      <vt:lpstr>Calibri Light</vt:lpstr>
      <vt:lpstr>Operator Mono Medium</vt:lpstr>
      <vt:lpstr>Roboto</vt:lpstr>
      <vt:lpstr>Roboto Light</vt:lpstr>
      <vt:lpstr>Roboto Medium</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16.0010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Amador Chavez</dc:creator>
  <cp:lastModifiedBy>Amador Chavez</cp:lastModifiedBy>
  <cp:revision>49</cp:revision>
  <dcterms:created xsi:type="dcterms:W3CDTF">2018-03-04T21:43:10Z</dcterms:created>
  <dcterms:modified xsi:type="dcterms:W3CDTF">2018-03-19T02:53:30Z</dcterms:modified>
</cp:coreProperties>
</file>