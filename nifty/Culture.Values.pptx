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63" r:id="rId5"/>
    <p:sldId id="259" r:id="rId6"/>
    <p:sldId id="282" r:id="rId7"/>
    <p:sldId id="261" r:id="rId8"/>
    <p:sldId id="262" r:id="rId9"/>
    <p:sldId id="260" r:id="rId10"/>
    <p:sldId id="264" r:id="rId11"/>
    <p:sldId id="265" r:id="rId12"/>
    <p:sldId id="267" r:id="rId13"/>
    <p:sldId id="268" r:id="rId14"/>
    <p:sldId id="269" r:id="rId15"/>
    <p:sldId id="270" r:id="rId16"/>
    <p:sldId id="271" r:id="rId17"/>
    <p:sldId id="272" r:id="rId18"/>
    <p:sldId id="273" r:id="rId19"/>
    <p:sldId id="274" r:id="rId20"/>
    <p:sldId id="280" r:id="rId21"/>
    <p:sldId id="281" r:id="rId22"/>
    <p:sldId id="275" r:id="rId23"/>
    <p:sldId id="276" r:id="rId24"/>
    <p:sldId id="278" r:id="rId25"/>
    <p:sldId id="277" r:id="rId26"/>
    <p:sldId id="279"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063"/>
    <p:restoredTop sz="82692"/>
  </p:normalViewPr>
  <p:slideViewPr>
    <p:cSldViewPr snapToGrid="0" snapToObjects="1">
      <p:cViewPr varScale="1">
        <p:scale>
          <a:sx n="88" d="100"/>
          <a:sy n="88" d="100"/>
        </p:scale>
        <p:origin x="216" y="176"/>
      </p:cViewPr>
      <p:guideLst/>
    </p:cSldViewPr>
  </p:slideViewPr>
  <p:notesTextViewPr>
    <p:cViewPr>
      <p:scale>
        <a:sx n="1" d="1"/>
        <a:sy n="1" d="1"/>
      </p:scale>
      <p:origin x="0" y="0"/>
    </p:cViewPr>
  </p:notesTextViewPr>
  <p:sorterViewPr>
    <p:cViewPr>
      <p:scale>
        <a:sx n="85" d="100"/>
        <a:sy n="85"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8D1310-3C92-9A45-87F9-254CBBB17F1A}" type="datetimeFigureOut">
              <a:rPr lang="en-US" smtClean="0"/>
              <a:t>3/5/18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F5C900-019F-564A-BE8C-9C5F5D279C81}" type="slidenum">
              <a:rPr lang="en-US" smtClean="0"/>
              <a:t>‹#›</a:t>
            </a:fld>
            <a:endParaRPr lang="en-US"/>
          </a:p>
        </p:txBody>
      </p:sp>
    </p:spTree>
    <p:extLst>
      <p:ext uri="{BB962C8B-B14F-4D97-AF65-F5344CB8AC3E}">
        <p14:creationId xmlns:p14="http://schemas.microsoft.com/office/powerpoint/2010/main" val="199861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6F5C900-019F-564A-BE8C-9C5F5D279C81}" type="slidenum">
              <a:rPr lang="en-US" smtClean="0"/>
              <a:t>5</a:t>
            </a:fld>
            <a:endParaRPr lang="en-US"/>
          </a:p>
        </p:txBody>
      </p:sp>
    </p:spTree>
    <p:extLst>
      <p:ext uri="{BB962C8B-B14F-4D97-AF65-F5344CB8AC3E}">
        <p14:creationId xmlns:p14="http://schemas.microsoft.com/office/powerpoint/2010/main" val="31162321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ASM2: Aunt May hides information to protect Peter's feelings</a:t>
            </a:r>
          </a:p>
          <a:p>
            <a:endParaRPr lang="en-US" dirty="0"/>
          </a:p>
        </p:txBody>
      </p:sp>
      <p:sp>
        <p:nvSpPr>
          <p:cNvPr id="4" name="Slide Number Placeholder 3"/>
          <p:cNvSpPr>
            <a:spLocks noGrp="1"/>
          </p:cNvSpPr>
          <p:nvPr>
            <p:ph type="sldNum" sz="quarter" idx="10"/>
          </p:nvPr>
        </p:nvSpPr>
        <p:spPr/>
        <p:txBody>
          <a:bodyPr/>
          <a:lstStyle/>
          <a:p>
            <a:fld id="{86F5C900-019F-564A-BE8C-9C5F5D279C81}" type="slidenum">
              <a:rPr lang="en-US" smtClean="0"/>
              <a:t>11</a:t>
            </a:fld>
            <a:endParaRPr lang="en-US"/>
          </a:p>
        </p:txBody>
      </p:sp>
    </p:spTree>
    <p:extLst>
      <p:ext uri="{BB962C8B-B14F-4D97-AF65-F5344CB8AC3E}">
        <p14:creationId xmlns:p14="http://schemas.microsoft.com/office/powerpoint/2010/main" val="3945943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President Taylor in 24 withholds information about </a:t>
            </a:r>
            <a:r>
              <a:rPr lang="en-US" sz="1200" kern="1200" dirty="0" err="1">
                <a:solidFill>
                  <a:schemeClr val="tx1"/>
                </a:solidFill>
                <a:effectLst/>
                <a:latin typeface="+mn-lt"/>
                <a:ea typeface="+mn-ea"/>
                <a:cs typeface="+mn-cs"/>
              </a:rPr>
              <a:t>Russion</a:t>
            </a:r>
            <a:r>
              <a:rPr lang="en-US" sz="1200" kern="1200" dirty="0">
                <a:solidFill>
                  <a:schemeClr val="tx1"/>
                </a:solidFill>
                <a:effectLst/>
                <a:latin typeface="+mn-lt"/>
                <a:ea typeface="+mn-ea"/>
                <a:cs typeface="+mn-cs"/>
              </a:rPr>
              <a:t> involvement to maintain the peace treaty.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lie to protect you</a:t>
            </a:r>
          </a:p>
          <a:p>
            <a:endParaRPr lang="en-US" dirty="0"/>
          </a:p>
        </p:txBody>
      </p:sp>
      <p:sp>
        <p:nvSpPr>
          <p:cNvPr id="4" name="Slide Number Placeholder 3"/>
          <p:cNvSpPr>
            <a:spLocks noGrp="1"/>
          </p:cNvSpPr>
          <p:nvPr>
            <p:ph type="sldNum" sz="quarter" idx="10"/>
          </p:nvPr>
        </p:nvSpPr>
        <p:spPr/>
        <p:txBody>
          <a:bodyPr/>
          <a:lstStyle/>
          <a:p>
            <a:fld id="{86F5C900-019F-564A-BE8C-9C5F5D279C81}" type="slidenum">
              <a:rPr lang="en-US" smtClean="0"/>
              <a:t>12</a:t>
            </a:fld>
            <a:endParaRPr lang="en-US"/>
          </a:p>
        </p:txBody>
      </p:sp>
    </p:spTree>
    <p:extLst>
      <p:ext uri="{BB962C8B-B14F-4D97-AF65-F5344CB8AC3E}">
        <p14:creationId xmlns:p14="http://schemas.microsoft.com/office/powerpoint/2010/main" val="646283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Way of The Liberal</a:t>
            </a:r>
          </a:p>
        </p:txBody>
      </p:sp>
      <p:sp>
        <p:nvSpPr>
          <p:cNvPr id="4" name="Slide Number Placeholder 3"/>
          <p:cNvSpPr>
            <a:spLocks noGrp="1"/>
          </p:cNvSpPr>
          <p:nvPr>
            <p:ph type="sldNum" sz="quarter" idx="10"/>
          </p:nvPr>
        </p:nvSpPr>
        <p:spPr/>
        <p:txBody>
          <a:bodyPr/>
          <a:lstStyle/>
          <a:p>
            <a:fld id="{86F5C900-019F-564A-BE8C-9C5F5D279C81}" type="slidenum">
              <a:rPr lang="en-US" smtClean="0"/>
              <a:t>14</a:t>
            </a:fld>
            <a:endParaRPr lang="en-US"/>
          </a:p>
        </p:txBody>
      </p:sp>
    </p:spTree>
    <p:extLst>
      <p:ext uri="{BB962C8B-B14F-4D97-AF65-F5344CB8AC3E}">
        <p14:creationId xmlns:p14="http://schemas.microsoft.com/office/powerpoint/2010/main" val="32678729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Duality of Values</a:t>
            </a:r>
          </a:p>
          <a:p>
            <a:r>
              <a:rPr lang="en-US" dirty="0"/>
              <a:t>Duel of the Values</a:t>
            </a:r>
          </a:p>
        </p:txBody>
      </p:sp>
      <p:sp>
        <p:nvSpPr>
          <p:cNvPr id="4" name="Slide Number Placeholder 3"/>
          <p:cNvSpPr>
            <a:spLocks noGrp="1"/>
          </p:cNvSpPr>
          <p:nvPr>
            <p:ph type="sldNum" sz="quarter" idx="10"/>
          </p:nvPr>
        </p:nvSpPr>
        <p:spPr/>
        <p:txBody>
          <a:bodyPr/>
          <a:lstStyle/>
          <a:p>
            <a:fld id="{86F5C900-019F-564A-BE8C-9C5F5D279C81}" type="slidenum">
              <a:rPr lang="en-US" smtClean="0"/>
              <a:t>17</a:t>
            </a:fld>
            <a:endParaRPr lang="en-US"/>
          </a:p>
        </p:txBody>
      </p:sp>
    </p:spTree>
    <p:extLst>
      <p:ext uri="{BB962C8B-B14F-4D97-AF65-F5344CB8AC3E}">
        <p14:creationId xmlns:p14="http://schemas.microsoft.com/office/powerpoint/2010/main" val="21764093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Duality of Values</a:t>
            </a:r>
          </a:p>
          <a:p>
            <a:r>
              <a:rPr lang="en-US" dirty="0"/>
              <a:t>Duel of the Values</a:t>
            </a:r>
          </a:p>
        </p:txBody>
      </p:sp>
      <p:sp>
        <p:nvSpPr>
          <p:cNvPr id="4" name="Slide Number Placeholder 3"/>
          <p:cNvSpPr>
            <a:spLocks noGrp="1"/>
          </p:cNvSpPr>
          <p:nvPr>
            <p:ph type="sldNum" sz="quarter" idx="10"/>
          </p:nvPr>
        </p:nvSpPr>
        <p:spPr/>
        <p:txBody>
          <a:bodyPr/>
          <a:lstStyle/>
          <a:p>
            <a:fld id="{86F5C900-019F-564A-BE8C-9C5F5D279C81}" type="slidenum">
              <a:rPr lang="en-US" smtClean="0"/>
              <a:t>18</a:t>
            </a:fld>
            <a:endParaRPr lang="en-US"/>
          </a:p>
        </p:txBody>
      </p:sp>
    </p:spTree>
    <p:extLst>
      <p:ext uri="{BB962C8B-B14F-4D97-AF65-F5344CB8AC3E}">
        <p14:creationId xmlns:p14="http://schemas.microsoft.com/office/powerpoint/2010/main" val="15674668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Duality of Values</a:t>
            </a:r>
          </a:p>
          <a:p>
            <a:r>
              <a:rPr lang="en-US" dirty="0"/>
              <a:t>Duel of the Values</a:t>
            </a:r>
          </a:p>
        </p:txBody>
      </p:sp>
      <p:sp>
        <p:nvSpPr>
          <p:cNvPr id="4" name="Slide Number Placeholder 3"/>
          <p:cNvSpPr>
            <a:spLocks noGrp="1"/>
          </p:cNvSpPr>
          <p:nvPr>
            <p:ph type="sldNum" sz="quarter" idx="10"/>
          </p:nvPr>
        </p:nvSpPr>
        <p:spPr/>
        <p:txBody>
          <a:bodyPr/>
          <a:lstStyle/>
          <a:p>
            <a:fld id="{86F5C900-019F-564A-BE8C-9C5F5D279C81}" type="slidenum">
              <a:rPr lang="en-US" smtClean="0"/>
              <a:t>19</a:t>
            </a:fld>
            <a:endParaRPr lang="en-US"/>
          </a:p>
        </p:txBody>
      </p:sp>
    </p:spTree>
    <p:extLst>
      <p:ext uri="{BB962C8B-B14F-4D97-AF65-F5344CB8AC3E}">
        <p14:creationId xmlns:p14="http://schemas.microsoft.com/office/powerpoint/2010/main" val="3764206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Duality of Values</a:t>
            </a:r>
          </a:p>
          <a:p>
            <a:r>
              <a:rPr lang="en-US" dirty="0"/>
              <a:t>Duel of the Values</a:t>
            </a:r>
          </a:p>
        </p:txBody>
      </p:sp>
      <p:sp>
        <p:nvSpPr>
          <p:cNvPr id="4" name="Slide Number Placeholder 3"/>
          <p:cNvSpPr>
            <a:spLocks noGrp="1"/>
          </p:cNvSpPr>
          <p:nvPr>
            <p:ph type="sldNum" sz="quarter" idx="10"/>
          </p:nvPr>
        </p:nvSpPr>
        <p:spPr/>
        <p:txBody>
          <a:bodyPr/>
          <a:lstStyle/>
          <a:p>
            <a:fld id="{86F5C900-019F-564A-BE8C-9C5F5D279C81}" type="slidenum">
              <a:rPr lang="en-US" smtClean="0"/>
              <a:t>20</a:t>
            </a:fld>
            <a:endParaRPr lang="en-US"/>
          </a:p>
        </p:txBody>
      </p:sp>
    </p:spTree>
    <p:extLst>
      <p:ext uri="{BB962C8B-B14F-4D97-AF65-F5344CB8AC3E}">
        <p14:creationId xmlns:p14="http://schemas.microsoft.com/office/powerpoint/2010/main" val="15559543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Duality of Values</a:t>
            </a:r>
          </a:p>
          <a:p>
            <a:r>
              <a:rPr lang="en-US" dirty="0"/>
              <a:t>Duel of the Values</a:t>
            </a:r>
          </a:p>
        </p:txBody>
      </p:sp>
      <p:sp>
        <p:nvSpPr>
          <p:cNvPr id="4" name="Slide Number Placeholder 3"/>
          <p:cNvSpPr>
            <a:spLocks noGrp="1"/>
          </p:cNvSpPr>
          <p:nvPr>
            <p:ph type="sldNum" sz="quarter" idx="10"/>
          </p:nvPr>
        </p:nvSpPr>
        <p:spPr/>
        <p:txBody>
          <a:bodyPr/>
          <a:lstStyle/>
          <a:p>
            <a:fld id="{86F5C900-019F-564A-BE8C-9C5F5D279C81}" type="slidenum">
              <a:rPr lang="en-US" smtClean="0"/>
              <a:t>21</a:t>
            </a:fld>
            <a:endParaRPr lang="en-US"/>
          </a:p>
        </p:txBody>
      </p:sp>
    </p:spTree>
    <p:extLst>
      <p:ext uri="{BB962C8B-B14F-4D97-AF65-F5344CB8AC3E}">
        <p14:creationId xmlns:p14="http://schemas.microsoft.com/office/powerpoint/2010/main" val="1731466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Way of The Liberal</a:t>
            </a:r>
          </a:p>
        </p:txBody>
      </p:sp>
      <p:sp>
        <p:nvSpPr>
          <p:cNvPr id="4" name="Slide Number Placeholder 3"/>
          <p:cNvSpPr>
            <a:spLocks noGrp="1"/>
          </p:cNvSpPr>
          <p:nvPr>
            <p:ph type="sldNum" sz="quarter" idx="10"/>
          </p:nvPr>
        </p:nvSpPr>
        <p:spPr/>
        <p:txBody>
          <a:bodyPr/>
          <a:lstStyle/>
          <a:p>
            <a:fld id="{86F5C900-019F-564A-BE8C-9C5F5D279C81}" type="slidenum">
              <a:rPr lang="en-US" smtClean="0"/>
              <a:t>22</a:t>
            </a:fld>
            <a:endParaRPr lang="en-US"/>
          </a:p>
        </p:txBody>
      </p:sp>
    </p:spTree>
    <p:extLst>
      <p:ext uri="{BB962C8B-B14F-4D97-AF65-F5344CB8AC3E}">
        <p14:creationId xmlns:p14="http://schemas.microsoft.com/office/powerpoint/2010/main" val="2537785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&lt;iframe width="560" height="315" </a:t>
            </a:r>
            <a:r>
              <a:rPr lang="en-US" dirty="0" err="1"/>
              <a:t>src</a:t>
            </a:r>
            <a:r>
              <a:rPr lang="en-US" dirty="0"/>
              <a:t>="https://</a:t>
            </a:r>
            <a:r>
              <a:rPr lang="en-US" dirty="0" err="1"/>
              <a:t>www.youtube.com</a:t>
            </a:r>
            <a:r>
              <a:rPr lang="en-US" dirty="0"/>
              <a:t>/embed/O7EZ-CBVgF8?start=72" </a:t>
            </a:r>
            <a:r>
              <a:rPr lang="en-US" dirty="0" err="1"/>
              <a:t>frameborder</a:t>
            </a:r>
            <a:r>
              <a:rPr lang="en-US" dirty="0"/>
              <a:t>="0" allow="</a:t>
            </a:r>
            <a:r>
              <a:rPr lang="en-US" dirty="0" err="1"/>
              <a:t>autoplay</a:t>
            </a:r>
            <a:r>
              <a:rPr lang="en-US" dirty="0"/>
              <a:t>; encrypted-media" </a:t>
            </a:r>
            <a:r>
              <a:rPr lang="en-US" dirty="0" err="1"/>
              <a:t>allowfullscreen</a:t>
            </a:r>
            <a:r>
              <a:rPr lang="en-US" dirty="0"/>
              <a:t>&gt;&lt;/iframe&gt;</a:t>
            </a:r>
          </a:p>
        </p:txBody>
      </p:sp>
      <p:sp>
        <p:nvSpPr>
          <p:cNvPr id="4" name="Slide Number Placeholder 3"/>
          <p:cNvSpPr>
            <a:spLocks noGrp="1"/>
          </p:cNvSpPr>
          <p:nvPr>
            <p:ph type="sldNum" sz="quarter" idx="10"/>
          </p:nvPr>
        </p:nvSpPr>
        <p:spPr/>
        <p:txBody>
          <a:bodyPr/>
          <a:lstStyle/>
          <a:p>
            <a:fld id="{86F5C900-019F-564A-BE8C-9C5F5D279C81}" type="slidenum">
              <a:rPr lang="en-US" smtClean="0"/>
              <a:t>23</a:t>
            </a:fld>
            <a:endParaRPr lang="en-US"/>
          </a:p>
        </p:txBody>
      </p:sp>
    </p:spTree>
    <p:extLst>
      <p:ext uri="{BB962C8B-B14F-4D97-AF65-F5344CB8AC3E}">
        <p14:creationId xmlns:p14="http://schemas.microsoft.com/office/powerpoint/2010/main" val="21473859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Duality of Values</a:t>
            </a:r>
          </a:p>
          <a:p>
            <a:r>
              <a:rPr lang="en-US" dirty="0"/>
              <a:t>Duel of the Values</a:t>
            </a:r>
          </a:p>
        </p:txBody>
      </p:sp>
      <p:sp>
        <p:nvSpPr>
          <p:cNvPr id="4" name="Slide Number Placeholder 3"/>
          <p:cNvSpPr>
            <a:spLocks noGrp="1"/>
          </p:cNvSpPr>
          <p:nvPr>
            <p:ph type="sldNum" sz="quarter" idx="10"/>
          </p:nvPr>
        </p:nvSpPr>
        <p:spPr/>
        <p:txBody>
          <a:bodyPr/>
          <a:lstStyle/>
          <a:p>
            <a:fld id="{86F5C900-019F-564A-BE8C-9C5F5D279C81}" type="slidenum">
              <a:rPr lang="en-US" smtClean="0"/>
              <a:t>24</a:t>
            </a:fld>
            <a:endParaRPr lang="en-US"/>
          </a:p>
        </p:txBody>
      </p:sp>
    </p:spTree>
    <p:extLst>
      <p:ext uri="{BB962C8B-B14F-4D97-AF65-F5344CB8AC3E}">
        <p14:creationId xmlns:p14="http://schemas.microsoft.com/office/powerpoint/2010/main" val="26903284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Way of The Liberal</a:t>
            </a:r>
          </a:p>
        </p:txBody>
      </p:sp>
      <p:sp>
        <p:nvSpPr>
          <p:cNvPr id="4" name="Slide Number Placeholder 3"/>
          <p:cNvSpPr>
            <a:spLocks noGrp="1"/>
          </p:cNvSpPr>
          <p:nvPr>
            <p:ph type="sldNum" sz="quarter" idx="10"/>
          </p:nvPr>
        </p:nvSpPr>
        <p:spPr/>
        <p:txBody>
          <a:bodyPr/>
          <a:lstStyle/>
          <a:p>
            <a:fld id="{86F5C900-019F-564A-BE8C-9C5F5D279C81}" type="slidenum">
              <a:rPr lang="en-US" smtClean="0"/>
              <a:t>25</a:t>
            </a:fld>
            <a:endParaRPr lang="en-US"/>
          </a:p>
        </p:txBody>
      </p:sp>
    </p:spTree>
    <p:extLst>
      <p:ext uri="{BB962C8B-B14F-4D97-AF65-F5344CB8AC3E}">
        <p14:creationId xmlns:p14="http://schemas.microsoft.com/office/powerpoint/2010/main" val="2795405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Way of The Liberal</a:t>
            </a:r>
          </a:p>
        </p:txBody>
      </p:sp>
      <p:sp>
        <p:nvSpPr>
          <p:cNvPr id="4" name="Slide Number Placeholder 3"/>
          <p:cNvSpPr>
            <a:spLocks noGrp="1"/>
          </p:cNvSpPr>
          <p:nvPr>
            <p:ph type="sldNum" sz="quarter" idx="10"/>
          </p:nvPr>
        </p:nvSpPr>
        <p:spPr/>
        <p:txBody>
          <a:bodyPr/>
          <a:lstStyle/>
          <a:p>
            <a:fld id="{86F5C900-019F-564A-BE8C-9C5F5D279C81}" type="slidenum">
              <a:rPr lang="en-US" smtClean="0"/>
              <a:t>26</a:t>
            </a:fld>
            <a:endParaRPr lang="en-US"/>
          </a:p>
        </p:txBody>
      </p:sp>
    </p:spTree>
    <p:extLst>
      <p:ext uri="{BB962C8B-B14F-4D97-AF65-F5344CB8AC3E}">
        <p14:creationId xmlns:p14="http://schemas.microsoft.com/office/powerpoint/2010/main" val="273849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3C3BC-796A-BD48-B38D-6750270C69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02E7234-07FB-484F-A91D-BCE16AE7E5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2128B34-B7AE-5D44-B12C-806A5D4B1A2A}"/>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5" name="Footer Placeholder 4">
            <a:extLst>
              <a:ext uri="{FF2B5EF4-FFF2-40B4-BE49-F238E27FC236}">
                <a16:creationId xmlns:a16="http://schemas.microsoft.com/office/drawing/2014/main" id="{17B67EF0-36B8-8D46-9E80-D62838871F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74957A-18E0-354D-8AB8-39C2844C874F}"/>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2039950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19A2F-AC93-C242-9378-C328618E31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BFAE0C-631B-C14C-B79B-63D97CBA6AD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79EF7C-63D3-EE45-AC6B-2D01FE915DCD}"/>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5" name="Footer Placeholder 4">
            <a:extLst>
              <a:ext uri="{FF2B5EF4-FFF2-40B4-BE49-F238E27FC236}">
                <a16:creationId xmlns:a16="http://schemas.microsoft.com/office/drawing/2014/main" id="{B15E8C47-F2EB-3345-84F9-16E368D8D0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97FB6E-082F-1248-B9F3-4946A6CE80AB}"/>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3987392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30794-2AAE-C644-B2E7-07A7C7B7C23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911B02-3FB9-8144-8F0E-EBCF84C61CA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19C5565-A0FF-C646-8C33-9B4F66E1F341}"/>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5" name="Footer Placeholder 4">
            <a:extLst>
              <a:ext uri="{FF2B5EF4-FFF2-40B4-BE49-F238E27FC236}">
                <a16:creationId xmlns:a16="http://schemas.microsoft.com/office/drawing/2014/main" id="{A89CBC98-DE18-B54D-A58E-57C6C50300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BE58C5-4B52-1946-B1B4-CD9A4EC95D1F}"/>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22518388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6EAE7-58DF-174D-841D-B73EAA47F5F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9B7CBC-A61B-9843-9C01-AE8D13687B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A85965-AD13-1F49-B3A6-3F055AF5423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61C300-0FA4-8040-A7C3-81A54FD74ED5}"/>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6" name="Footer Placeholder 5">
            <a:extLst>
              <a:ext uri="{FF2B5EF4-FFF2-40B4-BE49-F238E27FC236}">
                <a16:creationId xmlns:a16="http://schemas.microsoft.com/office/drawing/2014/main" id="{B95BDB38-7D12-C142-B804-0F44BF2A09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96CEA0F-4F0E-514D-AE94-B20146D06182}"/>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33583990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C871C-D2E4-514B-9FCB-EA91060E579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91B0B9-CE2D-104E-8764-E10356982F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A2D58666-BA20-DA4D-BE8B-26C1E9C73C9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D7524F-DED5-054F-9FF1-E0B2E9E3D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14CF6EA0-D580-534D-9740-0C2E51F905D6}"/>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70E2A2-E334-0E4A-9C29-7FEB08CA3072}"/>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8" name="Footer Placeholder 7">
            <a:extLst>
              <a:ext uri="{FF2B5EF4-FFF2-40B4-BE49-F238E27FC236}">
                <a16:creationId xmlns:a16="http://schemas.microsoft.com/office/drawing/2014/main" id="{B8F3CD18-00C7-714E-B767-7BDC67A0937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56FFF63-8268-AA4C-B582-33820CFB3B1E}"/>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1726571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A5623-F97A-B54C-828C-F3C81301148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46F478-4E9E-164D-81A3-AF7D9197EB9E}"/>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4" name="Footer Placeholder 3">
            <a:extLst>
              <a:ext uri="{FF2B5EF4-FFF2-40B4-BE49-F238E27FC236}">
                <a16:creationId xmlns:a16="http://schemas.microsoft.com/office/drawing/2014/main" id="{B6198F70-7869-3C49-962B-2A506F57BA1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0D45F51-E0F1-4440-A23C-B3EC3CA90CF3}"/>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19493251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6E6C3F-6F0A-2146-92C9-E71A820ED926}"/>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3" name="Footer Placeholder 2">
            <a:extLst>
              <a:ext uri="{FF2B5EF4-FFF2-40B4-BE49-F238E27FC236}">
                <a16:creationId xmlns:a16="http://schemas.microsoft.com/office/drawing/2014/main" id="{AAD73100-6DBF-4847-A3AD-C75BDBFB58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45BAB1-3276-2049-87D4-A837ACF99E06}"/>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12707557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5387D-F2C3-3A46-BB05-24B9F42DEA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4FA2655-F94A-0547-8166-A660D7A52A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1151E2-0A80-4A47-B8EB-D5A757195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8707E1C-0B96-5B4C-8FA3-C528B74A8E45}"/>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6" name="Footer Placeholder 5">
            <a:extLst>
              <a:ext uri="{FF2B5EF4-FFF2-40B4-BE49-F238E27FC236}">
                <a16:creationId xmlns:a16="http://schemas.microsoft.com/office/drawing/2014/main" id="{A0815FBC-2BD3-7848-A093-4F3AACD339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C97BA8-D91F-3342-ACA1-F633DCB38FBF}"/>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813753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3BA09-A4A9-CB4A-B7F9-2184342DDD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FABCCC1-2AEF-E54E-8043-F6863AD0E3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CF2820C-4F40-4145-A2AB-74910B85E7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AA92C1-E6A8-B44F-A93F-11CEFA6CCB2B}"/>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6" name="Footer Placeholder 5">
            <a:extLst>
              <a:ext uri="{FF2B5EF4-FFF2-40B4-BE49-F238E27FC236}">
                <a16:creationId xmlns:a16="http://schemas.microsoft.com/office/drawing/2014/main" id="{785EF0BC-2994-074B-8F8F-22EB287DAB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2975E7-A893-8441-9C8C-96E4E3B46E6B}"/>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10578205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CBB5A-E3E5-C941-933B-45A7E7AF711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A99D33E-8585-A24F-9F82-E8550E4A8DE6}"/>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41EBA2-F2CC-3442-82C8-A4BAC87068F8}"/>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5" name="Footer Placeholder 4">
            <a:extLst>
              <a:ext uri="{FF2B5EF4-FFF2-40B4-BE49-F238E27FC236}">
                <a16:creationId xmlns:a16="http://schemas.microsoft.com/office/drawing/2014/main" id="{029C85A1-6313-4743-839F-6BA20E6AE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F055A4-EDEC-F243-8051-1432C827D981}"/>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1752553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239382D-FC6E-6444-AFDC-0C07FF88EBA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1387EAC-4E64-3A4F-9762-50CD21324BC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2BE1FF-2370-954E-9243-2DC441B2D95A}"/>
              </a:ext>
            </a:extLst>
          </p:cNvPr>
          <p:cNvSpPr>
            <a:spLocks noGrp="1"/>
          </p:cNvSpPr>
          <p:nvPr>
            <p:ph type="dt" sz="half" idx="10"/>
          </p:nvPr>
        </p:nvSpPr>
        <p:spPr/>
        <p:txBody>
          <a:bodyPr/>
          <a:lstStyle/>
          <a:p>
            <a:fld id="{E50FB12C-B6FE-1946-9FB9-088D80316025}" type="datetimeFigureOut">
              <a:rPr lang="en-US" smtClean="0"/>
              <a:t>3/5/18</a:t>
            </a:fld>
            <a:endParaRPr lang="en-US"/>
          </a:p>
        </p:txBody>
      </p:sp>
      <p:sp>
        <p:nvSpPr>
          <p:cNvPr id="5" name="Footer Placeholder 4">
            <a:extLst>
              <a:ext uri="{FF2B5EF4-FFF2-40B4-BE49-F238E27FC236}">
                <a16:creationId xmlns:a16="http://schemas.microsoft.com/office/drawing/2014/main" id="{F360DDEB-BFFA-FC43-A008-B86A3CCEE8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AF4204-F2D5-CC46-B972-D4444E3EFB92}"/>
              </a:ext>
            </a:extLst>
          </p:cNvPr>
          <p:cNvSpPr>
            <a:spLocks noGrp="1"/>
          </p:cNvSpPr>
          <p:nvPr>
            <p:ph type="sldNum" sz="quarter" idx="12"/>
          </p:nvPr>
        </p:nvSpPr>
        <p:spPr/>
        <p:txBody>
          <a:bodyPr/>
          <a:lstStyle/>
          <a:p>
            <a:fld id="{24EDB04B-824A-034A-89D7-4A639FFBAB71}" type="slidenum">
              <a:rPr lang="en-US" smtClean="0"/>
              <a:t>‹#›</a:t>
            </a:fld>
            <a:endParaRPr lang="en-US"/>
          </a:p>
        </p:txBody>
      </p:sp>
    </p:spTree>
    <p:extLst>
      <p:ext uri="{BB962C8B-B14F-4D97-AF65-F5344CB8AC3E}">
        <p14:creationId xmlns:p14="http://schemas.microsoft.com/office/powerpoint/2010/main" val="3721874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7A9A0C-D356-D342-BFE0-3A6D800DBF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8C281-E85F-254D-94D2-499ED97ECE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9FF521-A436-F643-AE53-F02CDF0C8A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0FB12C-B6FE-1946-9FB9-088D80316025}" type="datetimeFigureOut">
              <a:rPr lang="en-US" smtClean="0"/>
              <a:t>3/5/18</a:t>
            </a:fld>
            <a:endParaRPr lang="en-US"/>
          </a:p>
        </p:txBody>
      </p:sp>
      <p:sp>
        <p:nvSpPr>
          <p:cNvPr id="5" name="Footer Placeholder 4">
            <a:extLst>
              <a:ext uri="{FF2B5EF4-FFF2-40B4-BE49-F238E27FC236}">
                <a16:creationId xmlns:a16="http://schemas.microsoft.com/office/drawing/2014/main" id="{8EF371C3-60E0-7A47-AFA1-73C708B4C0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5CFEF8A-6A4D-E943-B495-DAAF9EDA0B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EDB04B-824A-034A-89D7-4A639FFBAB71}" type="slidenum">
              <a:rPr lang="en-US" smtClean="0"/>
              <a:t>‹#›</a:t>
            </a:fld>
            <a:endParaRPr lang="en-US"/>
          </a:p>
        </p:txBody>
      </p:sp>
    </p:spTree>
    <p:extLst>
      <p:ext uri="{BB962C8B-B14F-4D97-AF65-F5344CB8AC3E}">
        <p14:creationId xmlns:p14="http://schemas.microsoft.com/office/powerpoint/2010/main" val="39454622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300" y="1193800"/>
            <a:ext cx="5994400" cy="1723549"/>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Culture + Values</a:t>
            </a:r>
          </a:p>
          <a:p>
            <a:endParaRPr lang="en-US" sz="1000" dirty="0">
              <a:solidFill>
                <a:schemeClr val="accent5">
                  <a:lumMod val="40000"/>
                  <a:lumOff val="60000"/>
                </a:schemeClr>
              </a:solidFill>
              <a:latin typeface="Roboto" pitchFamily="2" charset="0"/>
              <a:ea typeface="Roboto" pitchFamily="2" charset="0"/>
            </a:endParaRPr>
          </a:p>
          <a:p>
            <a:r>
              <a:rPr lang="en-US" sz="3600" dirty="0">
                <a:solidFill>
                  <a:schemeClr val="accent5">
                    <a:lumMod val="40000"/>
                    <a:lumOff val="60000"/>
                  </a:schemeClr>
                </a:solidFill>
                <a:latin typeface="Roboto" pitchFamily="2" charset="0"/>
                <a:ea typeface="Roboto" pitchFamily="2" charset="0"/>
              </a:rPr>
              <a:t>Amador Chavez</a:t>
            </a:r>
          </a:p>
        </p:txBody>
      </p:sp>
      <p:pic>
        <p:nvPicPr>
          <p:cNvPr id="10" name="Picture 9">
            <a:extLst>
              <a:ext uri="{FF2B5EF4-FFF2-40B4-BE49-F238E27FC236}">
                <a16:creationId xmlns:a16="http://schemas.microsoft.com/office/drawing/2014/main" id="{72658A92-72A0-BC45-9402-2B68D4B29250}"/>
              </a:ext>
            </a:extLst>
          </p:cNvPr>
          <p:cNvPicPr>
            <a:picLocks noChangeAspect="1"/>
          </p:cNvPicPr>
          <p:nvPr/>
        </p:nvPicPr>
        <p:blipFill>
          <a:blip r:embed="rId2">
            <a:alphaModFix amt="35000"/>
          </a:blip>
          <a:stretch>
            <a:fillRect/>
          </a:stretch>
        </p:blipFill>
        <p:spPr>
          <a:xfrm>
            <a:off x="9525001" y="4724400"/>
            <a:ext cx="2316896" cy="2316896"/>
          </a:xfrm>
          <a:prstGeom prst="rect">
            <a:avLst/>
          </a:prstGeom>
        </p:spPr>
      </p:pic>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22742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3098800" y="1804938"/>
            <a:ext cx="5994400" cy="1200329"/>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My Story</a:t>
            </a:r>
          </a:p>
        </p:txBody>
      </p:sp>
    </p:spTree>
    <p:extLst>
      <p:ext uri="{BB962C8B-B14F-4D97-AF65-F5344CB8AC3E}">
        <p14:creationId xmlns:p14="http://schemas.microsoft.com/office/powerpoint/2010/main" val="6289009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2336800" y="1804938"/>
            <a:ext cx="7518400" cy="2308324"/>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Have You Ever Been Frustrated?</a:t>
            </a:r>
          </a:p>
        </p:txBody>
      </p:sp>
      <p:sp>
        <p:nvSpPr>
          <p:cNvPr id="2" name="Smiley Face 1">
            <a:extLst>
              <a:ext uri="{FF2B5EF4-FFF2-40B4-BE49-F238E27FC236}">
                <a16:creationId xmlns:a16="http://schemas.microsoft.com/office/drawing/2014/main" id="{FEAECD70-133F-EF4E-BBC4-FD3C04537E59}"/>
              </a:ext>
            </a:extLst>
          </p:cNvPr>
          <p:cNvSpPr/>
          <p:nvPr/>
        </p:nvSpPr>
        <p:spPr>
          <a:xfrm>
            <a:off x="5035550" y="4241800"/>
            <a:ext cx="2120900" cy="2120900"/>
          </a:xfrm>
          <a:prstGeom prst="smileyFace">
            <a:avLst>
              <a:gd name="adj" fmla="val -4653"/>
            </a:avLst>
          </a:prstGeom>
          <a:solidFill>
            <a:srgbClr val="FFC000"/>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6" name="Straight Connector 5">
            <a:extLst>
              <a:ext uri="{FF2B5EF4-FFF2-40B4-BE49-F238E27FC236}">
                <a16:creationId xmlns:a16="http://schemas.microsoft.com/office/drawing/2014/main" id="{7E88F8AB-DCDA-4340-B121-45B8B40842CA}"/>
              </a:ext>
            </a:extLst>
          </p:cNvPr>
          <p:cNvCxnSpPr/>
          <p:nvPr/>
        </p:nvCxnSpPr>
        <p:spPr>
          <a:xfrm flipH="1" flipV="1">
            <a:off x="5702300" y="4597400"/>
            <a:ext cx="215900" cy="203200"/>
          </a:xfrm>
          <a:prstGeom prst="line">
            <a:avLst/>
          </a:prstGeom>
          <a:solidFill>
            <a:srgbClr val="00B0F0"/>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Connector 7">
            <a:extLst>
              <a:ext uri="{FF2B5EF4-FFF2-40B4-BE49-F238E27FC236}">
                <a16:creationId xmlns:a16="http://schemas.microsoft.com/office/drawing/2014/main" id="{B7C5BEDC-97BD-FD4F-9DE5-EA22071F8326}"/>
              </a:ext>
            </a:extLst>
          </p:cNvPr>
          <p:cNvCxnSpPr>
            <a:cxnSpLocks/>
          </p:cNvCxnSpPr>
          <p:nvPr/>
        </p:nvCxnSpPr>
        <p:spPr>
          <a:xfrm flipV="1">
            <a:off x="6311900" y="4597400"/>
            <a:ext cx="273050" cy="203200"/>
          </a:xfrm>
          <a:prstGeom prst="line">
            <a:avLst/>
          </a:prstGeom>
          <a:solidFill>
            <a:srgbClr val="00B0F0"/>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666457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3098800" y="1804938"/>
            <a:ext cx="5994400" cy="2308324"/>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Life Is About Trade-Offs</a:t>
            </a:r>
          </a:p>
        </p:txBody>
      </p:sp>
      <p:pic>
        <p:nvPicPr>
          <p:cNvPr id="3" name="Picture 2">
            <a:extLst>
              <a:ext uri="{FF2B5EF4-FFF2-40B4-BE49-F238E27FC236}">
                <a16:creationId xmlns:a16="http://schemas.microsoft.com/office/drawing/2014/main" id="{4AF45E97-278E-CD43-B9A6-7220202DF363}"/>
              </a:ext>
            </a:extLst>
          </p:cNvPr>
          <p:cNvPicPr>
            <a:picLocks noChangeAspect="1"/>
          </p:cNvPicPr>
          <p:nvPr/>
        </p:nvPicPr>
        <p:blipFill>
          <a:blip r:embed="rId2"/>
          <a:stretch>
            <a:fillRect/>
          </a:stretch>
        </p:blipFill>
        <p:spPr>
          <a:xfrm>
            <a:off x="4687182" y="4695056"/>
            <a:ext cx="2817635" cy="1581150"/>
          </a:xfrm>
          <a:prstGeom prst="rect">
            <a:avLst/>
          </a:prstGeom>
        </p:spPr>
      </p:pic>
    </p:spTree>
    <p:extLst>
      <p:ext uri="{BB962C8B-B14F-4D97-AF65-F5344CB8AC3E}">
        <p14:creationId xmlns:p14="http://schemas.microsoft.com/office/powerpoint/2010/main" val="816417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797510"/>
            <a:ext cx="8774079" cy="5262979"/>
          </a:xfrm>
          <a:prstGeom prst="rect">
            <a:avLst/>
          </a:prstGeom>
          <a:noFill/>
        </p:spPr>
        <p:txBody>
          <a:bodyPr wrap="square" rtlCol="0">
            <a:spAutoFit/>
          </a:bodyPr>
          <a:lstStyle/>
          <a:p>
            <a:r>
              <a:rPr lang="en-US" sz="4800" spc="300" dirty="0">
                <a:solidFill>
                  <a:srgbClr val="00B0F0"/>
                </a:solidFill>
                <a:latin typeface="Operator Mono Medium" panose="02000009000000000000" pitchFamily="49" charset="0"/>
                <a:ea typeface="Roboto Medium" pitchFamily="2" charset="0"/>
              </a:rPr>
              <a:t>A</a:t>
            </a:r>
            <a:r>
              <a:rPr lang="en-US" sz="4800" spc="300" dirty="0">
                <a:solidFill>
                  <a:schemeClr val="tx1">
                    <a:lumMod val="50000"/>
                    <a:lumOff val="50000"/>
                  </a:schemeClr>
                </a:solidFill>
                <a:latin typeface="Operator Mono Medium" panose="02000009000000000000" pitchFamily="49" charset="0"/>
                <a:ea typeface="Roboto Medium" pitchFamily="2" charset="0"/>
              </a:rPr>
              <a:t>mazing</a:t>
            </a:r>
          </a:p>
          <a:p>
            <a:r>
              <a:rPr lang="en-US" sz="4800" spc="300" dirty="0">
                <a:solidFill>
                  <a:srgbClr val="00B0F0"/>
                </a:solidFill>
                <a:latin typeface="Operator Mono Medium" panose="02000009000000000000" pitchFamily="49" charset="0"/>
                <a:ea typeface="Roboto Medium" pitchFamily="2" charset="0"/>
              </a:rPr>
              <a:t>W</a:t>
            </a:r>
            <a:r>
              <a:rPr lang="en-US" sz="4800" spc="300" dirty="0">
                <a:solidFill>
                  <a:schemeClr val="tx1">
                    <a:lumMod val="50000"/>
                    <a:lumOff val="50000"/>
                  </a:schemeClr>
                </a:solidFill>
                <a:latin typeface="Operator Mono Medium" panose="02000009000000000000" pitchFamily="49" charset="0"/>
                <a:ea typeface="Roboto Medium" pitchFamily="2" charset="0"/>
              </a:rPr>
              <a:t>illingly Naked</a:t>
            </a:r>
          </a:p>
          <a:p>
            <a:r>
              <a:rPr lang="en-US" sz="4800" spc="300" dirty="0">
                <a:solidFill>
                  <a:srgbClr val="00B0F0"/>
                </a:solidFill>
                <a:latin typeface="Operator Mono Medium" panose="02000009000000000000" pitchFamily="49" charset="0"/>
                <a:ea typeface="Roboto Medium" pitchFamily="2" charset="0"/>
              </a:rPr>
              <a:t>E</a:t>
            </a:r>
            <a:r>
              <a:rPr lang="en-US" sz="4800" spc="300" dirty="0">
                <a:solidFill>
                  <a:schemeClr val="tx1">
                    <a:lumMod val="50000"/>
                    <a:lumOff val="50000"/>
                  </a:schemeClr>
                </a:solidFill>
                <a:latin typeface="Operator Mono Medium" panose="02000009000000000000" pitchFamily="49" charset="0"/>
                <a:ea typeface="Roboto Medium" pitchFamily="2" charset="0"/>
              </a:rPr>
              <a:t>xact</a:t>
            </a:r>
          </a:p>
          <a:p>
            <a:r>
              <a:rPr lang="en-US" sz="4800" spc="300" dirty="0">
                <a:solidFill>
                  <a:srgbClr val="00B0F0"/>
                </a:solidFill>
                <a:latin typeface="Operator Mono Medium" panose="02000009000000000000" pitchFamily="49" charset="0"/>
                <a:ea typeface="Roboto Medium" pitchFamily="2" charset="0"/>
              </a:rPr>
              <a:t>S</a:t>
            </a:r>
            <a:r>
              <a:rPr lang="en-US" sz="4800" spc="300" dirty="0">
                <a:solidFill>
                  <a:schemeClr val="tx1">
                    <a:lumMod val="50000"/>
                    <a:lumOff val="50000"/>
                  </a:schemeClr>
                </a:solidFill>
                <a:latin typeface="Operator Mono Medium" panose="02000009000000000000" pitchFamily="49" charset="0"/>
                <a:ea typeface="Roboto Medium" pitchFamily="2" charset="0"/>
              </a:rPr>
              <a:t>eriously Responsive</a:t>
            </a:r>
          </a:p>
          <a:p>
            <a:r>
              <a:rPr lang="en-US" sz="4800" spc="300" dirty="0">
                <a:solidFill>
                  <a:srgbClr val="00B0F0"/>
                </a:solidFill>
                <a:latin typeface="Operator Mono Medium" panose="02000009000000000000" pitchFamily="49" charset="0"/>
                <a:ea typeface="Roboto Medium" pitchFamily="2" charset="0"/>
              </a:rPr>
              <a:t>O</a:t>
            </a:r>
            <a:r>
              <a:rPr lang="en-US" sz="4800" spc="300" dirty="0">
                <a:solidFill>
                  <a:schemeClr val="tx1">
                    <a:lumMod val="50000"/>
                    <a:lumOff val="50000"/>
                  </a:schemeClr>
                </a:solidFill>
                <a:latin typeface="Operator Mono Medium" panose="02000009000000000000" pitchFamily="49" charset="0"/>
                <a:ea typeface="Roboto Medium" pitchFamily="2" charset="0"/>
              </a:rPr>
              <a:t>riginal</a:t>
            </a:r>
          </a:p>
          <a:p>
            <a:r>
              <a:rPr lang="en-US" sz="4800" spc="300" dirty="0">
                <a:solidFill>
                  <a:srgbClr val="00B0F0"/>
                </a:solidFill>
                <a:latin typeface="Operator Mono Medium" panose="02000009000000000000" pitchFamily="49" charset="0"/>
                <a:ea typeface="Roboto Medium" pitchFamily="2" charset="0"/>
              </a:rPr>
              <a:t>M</a:t>
            </a:r>
            <a:r>
              <a:rPr lang="en-US" sz="4800" spc="300" dirty="0">
                <a:solidFill>
                  <a:schemeClr val="tx1">
                    <a:lumMod val="50000"/>
                    <a:lumOff val="50000"/>
                  </a:schemeClr>
                </a:solidFill>
                <a:latin typeface="Operator Mono Medium" panose="02000009000000000000" pitchFamily="49" charset="0"/>
                <a:ea typeface="Roboto Medium" pitchFamily="2" charset="0"/>
              </a:rPr>
              <a:t>erry</a:t>
            </a:r>
          </a:p>
          <a:p>
            <a:r>
              <a:rPr lang="en-US" sz="4800" spc="300" dirty="0">
                <a:solidFill>
                  <a:srgbClr val="00B0F0"/>
                </a:solidFill>
                <a:latin typeface="Operator Mono Medium" panose="02000009000000000000" pitchFamily="49" charset="0"/>
                <a:ea typeface="Roboto Medium" pitchFamily="2" charset="0"/>
              </a:rPr>
              <a:t>E</a:t>
            </a:r>
            <a:r>
              <a:rPr lang="en-US" sz="4800" spc="300" dirty="0">
                <a:solidFill>
                  <a:schemeClr val="tx1">
                    <a:lumMod val="50000"/>
                    <a:lumOff val="50000"/>
                  </a:schemeClr>
                </a:solidFill>
                <a:latin typeface="Operator Mono Medium" panose="02000009000000000000" pitchFamily="49" charset="0"/>
                <a:ea typeface="Roboto Medium" pitchFamily="2" charset="0"/>
              </a:rPr>
              <a:t>mpathetic</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6552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774079" cy="1938992"/>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We have strong feelings.</a:t>
            </a:r>
          </a:p>
          <a:p>
            <a:r>
              <a:rPr lang="en-US" sz="6000" dirty="0">
                <a:solidFill>
                  <a:srgbClr val="00B0F0"/>
                </a:solidFill>
                <a:latin typeface="Roboto Medium" pitchFamily="2" charset="0"/>
                <a:ea typeface="Roboto Medium" pitchFamily="2" charset="0"/>
              </a:rPr>
              <a:t>Should we be…</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22384768-49A6-D742-A53C-E4D91FC56476}"/>
              </a:ext>
            </a:extLst>
          </p:cNvPr>
          <p:cNvSpPr txBox="1"/>
          <p:nvPr/>
        </p:nvSpPr>
        <p:spPr>
          <a:xfrm>
            <a:off x="3035300" y="3429000"/>
            <a:ext cx="2323072" cy="461665"/>
          </a:xfrm>
          <a:prstGeom prst="rect">
            <a:avLst/>
          </a:prstGeom>
          <a:noFill/>
        </p:spPr>
        <p:txBody>
          <a:bodyPr wrap="none" rtlCol="0">
            <a:spAutoFit/>
          </a:bodyPr>
          <a:lstStyle/>
          <a:p>
            <a:r>
              <a:rPr lang="en-US" sz="2400" dirty="0">
                <a:latin typeface="Roboto Medium" pitchFamily="2" charset="0"/>
                <a:ea typeface="Roboto Medium" pitchFamily="2" charset="0"/>
              </a:rPr>
              <a:t>Willingly Naked</a:t>
            </a:r>
          </a:p>
        </p:txBody>
      </p:sp>
      <p:sp>
        <p:nvSpPr>
          <p:cNvPr id="6" name="TextBox 5">
            <a:extLst>
              <a:ext uri="{FF2B5EF4-FFF2-40B4-BE49-F238E27FC236}">
                <a16:creationId xmlns:a16="http://schemas.microsoft.com/office/drawing/2014/main" id="{A429ED71-6041-3F40-A14E-E7231DE789E8}"/>
              </a:ext>
            </a:extLst>
          </p:cNvPr>
          <p:cNvSpPr txBox="1"/>
          <p:nvPr/>
        </p:nvSpPr>
        <p:spPr>
          <a:xfrm>
            <a:off x="9029701" y="3429000"/>
            <a:ext cx="2006598" cy="461665"/>
          </a:xfrm>
          <a:prstGeom prst="rect">
            <a:avLst/>
          </a:prstGeom>
          <a:noFill/>
        </p:spPr>
        <p:txBody>
          <a:bodyPr wrap="square" rtlCol="0">
            <a:spAutoFit/>
          </a:bodyPr>
          <a:lstStyle/>
          <a:p>
            <a:pPr algn="r"/>
            <a:r>
              <a:rPr lang="en-US" sz="2400" dirty="0">
                <a:latin typeface="Roboto Medium" pitchFamily="2" charset="0"/>
                <a:ea typeface="Roboto Medium" pitchFamily="2" charset="0"/>
              </a:rPr>
              <a:t>Empathetic</a:t>
            </a:r>
          </a:p>
        </p:txBody>
      </p:sp>
      <p:sp>
        <p:nvSpPr>
          <p:cNvPr id="3" name="TextBox 2">
            <a:extLst>
              <a:ext uri="{FF2B5EF4-FFF2-40B4-BE49-F238E27FC236}">
                <a16:creationId xmlns:a16="http://schemas.microsoft.com/office/drawing/2014/main" id="{51633DDC-467D-4D46-BAC7-C357BCD193C5}"/>
              </a:ext>
            </a:extLst>
          </p:cNvPr>
          <p:cNvSpPr txBox="1"/>
          <p:nvPr/>
        </p:nvSpPr>
        <p:spPr>
          <a:xfrm>
            <a:off x="3035300" y="4452035"/>
            <a:ext cx="2057399" cy="1200329"/>
          </a:xfrm>
          <a:prstGeom prst="rect">
            <a:avLst/>
          </a:prstGeom>
          <a:noFill/>
        </p:spPr>
        <p:txBody>
          <a:bodyPr wrap="square" rtlCol="0">
            <a:spAutoFit/>
          </a:bodyPr>
          <a:lstStyle/>
          <a:p>
            <a:r>
              <a:rPr lang="en-US" dirty="0">
                <a:latin typeface="Roboto Light" pitchFamily="2" charset="0"/>
                <a:ea typeface="Roboto Light" pitchFamily="2" charset="0"/>
              </a:rPr>
              <a:t>Should we share everything, even the ugly, hurtful stuff?</a:t>
            </a:r>
          </a:p>
        </p:txBody>
      </p:sp>
      <p:sp>
        <p:nvSpPr>
          <p:cNvPr id="8" name="TextBox 7">
            <a:extLst>
              <a:ext uri="{FF2B5EF4-FFF2-40B4-BE49-F238E27FC236}">
                <a16:creationId xmlns:a16="http://schemas.microsoft.com/office/drawing/2014/main" id="{EE1C1730-59E2-3C47-A996-3FBA375F7CF1}"/>
              </a:ext>
            </a:extLst>
          </p:cNvPr>
          <p:cNvSpPr txBox="1"/>
          <p:nvPr/>
        </p:nvSpPr>
        <p:spPr>
          <a:xfrm>
            <a:off x="9029700" y="4452035"/>
            <a:ext cx="2006599" cy="923330"/>
          </a:xfrm>
          <a:prstGeom prst="rect">
            <a:avLst/>
          </a:prstGeom>
          <a:noFill/>
        </p:spPr>
        <p:txBody>
          <a:bodyPr wrap="square" rtlCol="0">
            <a:spAutoFit/>
          </a:bodyPr>
          <a:lstStyle/>
          <a:p>
            <a:pPr algn="r"/>
            <a:r>
              <a:rPr lang="en-US" dirty="0">
                <a:latin typeface="Roboto Light" pitchFamily="2" charset="0"/>
                <a:ea typeface="Roboto Light" pitchFamily="2" charset="0"/>
              </a:rPr>
              <a:t>Should we censor ourselves to protect people?</a:t>
            </a:r>
          </a:p>
        </p:txBody>
      </p:sp>
      <p:cxnSp>
        <p:nvCxnSpPr>
          <p:cNvPr id="7" name="Straight Connector 6">
            <a:extLst>
              <a:ext uri="{FF2B5EF4-FFF2-40B4-BE49-F238E27FC236}">
                <a16:creationId xmlns:a16="http://schemas.microsoft.com/office/drawing/2014/main" id="{BE1A0AB9-09FD-BD43-9E92-4C6A1547AD01}"/>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4086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501705" cy="1446550"/>
          </a:xfrm>
          <a:prstGeom prst="rect">
            <a:avLst/>
          </a:prstGeom>
          <a:noFill/>
        </p:spPr>
        <p:txBody>
          <a:bodyPr wrap="square" rtlCol="0">
            <a:spAutoFit/>
          </a:bodyPr>
          <a:lstStyle/>
          <a:p>
            <a:r>
              <a:rPr lang="en-US" sz="4800" dirty="0">
                <a:solidFill>
                  <a:srgbClr val="00B0F0"/>
                </a:solidFill>
                <a:latin typeface="Roboto Medium" pitchFamily="2" charset="0"/>
                <a:ea typeface="Roboto Medium" pitchFamily="2" charset="0"/>
              </a:rPr>
              <a:t>The client wants a plan</a:t>
            </a:r>
          </a:p>
          <a:p>
            <a:r>
              <a:rPr lang="en-US" sz="4000" dirty="0">
                <a:solidFill>
                  <a:srgbClr val="00B0F0"/>
                </a:solidFill>
                <a:latin typeface="Roboto Medium" pitchFamily="2" charset="0"/>
                <a:ea typeface="Roboto Medium" pitchFamily="2" charset="0"/>
              </a:rPr>
              <a:t>Should we be…</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22384768-49A6-D742-A53C-E4D91FC56476}"/>
              </a:ext>
            </a:extLst>
          </p:cNvPr>
          <p:cNvSpPr txBox="1"/>
          <p:nvPr/>
        </p:nvSpPr>
        <p:spPr>
          <a:xfrm>
            <a:off x="3035300" y="3429000"/>
            <a:ext cx="947695" cy="461665"/>
          </a:xfrm>
          <a:prstGeom prst="rect">
            <a:avLst/>
          </a:prstGeom>
          <a:noFill/>
        </p:spPr>
        <p:txBody>
          <a:bodyPr wrap="none" rtlCol="0">
            <a:spAutoFit/>
          </a:bodyPr>
          <a:lstStyle/>
          <a:p>
            <a:r>
              <a:rPr lang="en-US" sz="2400" dirty="0">
                <a:latin typeface="Roboto Medium" pitchFamily="2" charset="0"/>
                <a:ea typeface="Roboto Medium" pitchFamily="2" charset="0"/>
              </a:rPr>
              <a:t>Exact</a:t>
            </a:r>
          </a:p>
        </p:txBody>
      </p:sp>
      <p:sp>
        <p:nvSpPr>
          <p:cNvPr id="6" name="TextBox 5">
            <a:extLst>
              <a:ext uri="{FF2B5EF4-FFF2-40B4-BE49-F238E27FC236}">
                <a16:creationId xmlns:a16="http://schemas.microsoft.com/office/drawing/2014/main" id="{A429ED71-6041-3F40-A14E-E7231DE789E8}"/>
              </a:ext>
            </a:extLst>
          </p:cNvPr>
          <p:cNvSpPr txBox="1"/>
          <p:nvPr/>
        </p:nvSpPr>
        <p:spPr>
          <a:xfrm>
            <a:off x="9423399" y="3429000"/>
            <a:ext cx="1612899" cy="461665"/>
          </a:xfrm>
          <a:prstGeom prst="rect">
            <a:avLst/>
          </a:prstGeom>
          <a:noFill/>
        </p:spPr>
        <p:txBody>
          <a:bodyPr wrap="square" rtlCol="0">
            <a:spAutoFit/>
          </a:bodyPr>
          <a:lstStyle/>
          <a:p>
            <a:pPr algn="r"/>
            <a:r>
              <a:rPr lang="en-US" sz="2400" dirty="0">
                <a:latin typeface="Roboto Medium" pitchFamily="2" charset="0"/>
                <a:ea typeface="Roboto Medium" pitchFamily="2" charset="0"/>
              </a:rPr>
              <a:t>Original</a:t>
            </a:r>
          </a:p>
        </p:txBody>
      </p:sp>
      <p:sp>
        <p:nvSpPr>
          <p:cNvPr id="3" name="TextBox 2">
            <a:extLst>
              <a:ext uri="{FF2B5EF4-FFF2-40B4-BE49-F238E27FC236}">
                <a16:creationId xmlns:a16="http://schemas.microsoft.com/office/drawing/2014/main" id="{51633DDC-467D-4D46-BAC7-C357BCD193C5}"/>
              </a:ext>
            </a:extLst>
          </p:cNvPr>
          <p:cNvSpPr txBox="1"/>
          <p:nvPr/>
        </p:nvSpPr>
        <p:spPr>
          <a:xfrm>
            <a:off x="3035300" y="4452035"/>
            <a:ext cx="2057399" cy="923330"/>
          </a:xfrm>
          <a:prstGeom prst="rect">
            <a:avLst/>
          </a:prstGeom>
          <a:noFill/>
        </p:spPr>
        <p:txBody>
          <a:bodyPr wrap="square" rtlCol="0">
            <a:spAutoFit/>
          </a:bodyPr>
          <a:lstStyle/>
          <a:p>
            <a:r>
              <a:rPr lang="en-US" dirty="0">
                <a:latin typeface="Roboto Light" pitchFamily="2" charset="0"/>
                <a:ea typeface="Roboto Light" pitchFamily="2" charset="0"/>
              </a:rPr>
              <a:t>Should we be ‘by the book’ with everything we do?</a:t>
            </a:r>
          </a:p>
        </p:txBody>
      </p:sp>
      <p:sp>
        <p:nvSpPr>
          <p:cNvPr id="8" name="TextBox 7">
            <a:extLst>
              <a:ext uri="{FF2B5EF4-FFF2-40B4-BE49-F238E27FC236}">
                <a16:creationId xmlns:a16="http://schemas.microsoft.com/office/drawing/2014/main" id="{EE1C1730-59E2-3C47-A996-3FBA375F7CF1}"/>
              </a:ext>
            </a:extLst>
          </p:cNvPr>
          <p:cNvSpPr txBox="1"/>
          <p:nvPr/>
        </p:nvSpPr>
        <p:spPr>
          <a:xfrm>
            <a:off x="9029700" y="4452035"/>
            <a:ext cx="2006599" cy="1200329"/>
          </a:xfrm>
          <a:prstGeom prst="rect">
            <a:avLst/>
          </a:prstGeom>
          <a:noFill/>
        </p:spPr>
        <p:txBody>
          <a:bodyPr wrap="square" rtlCol="0">
            <a:spAutoFit/>
          </a:bodyPr>
          <a:lstStyle/>
          <a:p>
            <a:pPr algn="r"/>
            <a:r>
              <a:rPr lang="en-US" dirty="0">
                <a:latin typeface="Roboto Light" pitchFamily="2" charset="0"/>
                <a:ea typeface="Roboto Light" pitchFamily="2" charset="0"/>
              </a:rPr>
              <a:t>Should we be open-ended and willing to experiment?</a:t>
            </a:r>
          </a:p>
        </p:txBody>
      </p:sp>
      <p:cxnSp>
        <p:nvCxnSpPr>
          <p:cNvPr id="7" name="Straight Connector 6">
            <a:extLst>
              <a:ext uri="{FF2B5EF4-FFF2-40B4-BE49-F238E27FC236}">
                <a16:creationId xmlns:a16="http://schemas.microsoft.com/office/drawing/2014/main" id="{BE1A0AB9-09FD-BD43-9E92-4C6A1547AD01}"/>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32124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300" y="469900"/>
            <a:ext cx="7528938" cy="1446550"/>
          </a:xfrm>
          <a:prstGeom prst="rect">
            <a:avLst/>
          </a:prstGeom>
          <a:noFill/>
        </p:spPr>
        <p:txBody>
          <a:bodyPr wrap="square" rtlCol="0">
            <a:spAutoFit/>
          </a:bodyPr>
          <a:lstStyle/>
          <a:p>
            <a:r>
              <a:rPr lang="en-US" sz="4800" dirty="0">
                <a:solidFill>
                  <a:srgbClr val="00B0F0"/>
                </a:solidFill>
                <a:latin typeface="Roboto Medium" pitchFamily="2" charset="0"/>
                <a:ea typeface="Roboto Medium" pitchFamily="2" charset="0"/>
              </a:rPr>
              <a:t>Someone’s cat died. </a:t>
            </a:r>
          </a:p>
          <a:p>
            <a:r>
              <a:rPr lang="en-US" sz="4000" dirty="0">
                <a:solidFill>
                  <a:srgbClr val="00B0F0"/>
                </a:solidFill>
                <a:latin typeface="Roboto Medium" pitchFamily="2" charset="0"/>
                <a:ea typeface="Roboto Medium" pitchFamily="2" charset="0"/>
              </a:rPr>
              <a:t>Should we be…</a:t>
            </a:r>
            <a:endParaRPr lang="en-US" sz="4800" dirty="0">
              <a:solidFill>
                <a:srgbClr val="00B0F0"/>
              </a:solidFill>
              <a:latin typeface="Roboto Medium" pitchFamily="2" charset="0"/>
              <a:ea typeface="Roboto Medium" pitchFamily="2" charset="0"/>
            </a:endParaRP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22384768-49A6-D742-A53C-E4D91FC56476}"/>
              </a:ext>
            </a:extLst>
          </p:cNvPr>
          <p:cNvSpPr txBox="1"/>
          <p:nvPr/>
        </p:nvSpPr>
        <p:spPr>
          <a:xfrm>
            <a:off x="3035300" y="3429000"/>
            <a:ext cx="990977" cy="461665"/>
          </a:xfrm>
          <a:prstGeom prst="rect">
            <a:avLst/>
          </a:prstGeom>
          <a:noFill/>
        </p:spPr>
        <p:txBody>
          <a:bodyPr wrap="none" rtlCol="0">
            <a:spAutoFit/>
          </a:bodyPr>
          <a:lstStyle/>
          <a:p>
            <a:r>
              <a:rPr lang="en-US" sz="2400" dirty="0">
                <a:latin typeface="Roboto Medium" pitchFamily="2" charset="0"/>
                <a:ea typeface="Roboto Medium" pitchFamily="2" charset="0"/>
              </a:rPr>
              <a:t>Merry</a:t>
            </a:r>
          </a:p>
        </p:txBody>
      </p:sp>
      <p:sp>
        <p:nvSpPr>
          <p:cNvPr id="6" name="TextBox 5">
            <a:extLst>
              <a:ext uri="{FF2B5EF4-FFF2-40B4-BE49-F238E27FC236}">
                <a16:creationId xmlns:a16="http://schemas.microsoft.com/office/drawing/2014/main" id="{A429ED71-6041-3F40-A14E-E7231DE789E8}"/>
              </a:ext>
            </a:extLst>
          </p:cNvPr>
          <p:cNvSpPr txBox="1"/>
          <p:nvPr/>
        </p:nvSpPr>
        <p:spPr>
          <a:xfrm>
            <a:off x="9029701" y="3429000"/>
            <a:ext cx="2006598" cy="461665"/>
          </a:xfrm>
          <a:prstGeom prst="rect">
            <a:avLst/>
          </a:prstGeom>
          <a:noFill/>
        </p:spPr>
        <p:txBody>
          <a:bodyPr wrap="square" rtlCol="0">
            <a:spAutoFit/>
          </a:bodyPr>
          <a:lstStyle/>
          <a:p>
            <a:pPr algn="r"/>
            <a:r>
              <a:rPr lang="en-US" sz="2400" dirty="0">
                <a:latin typeface="Roboto Medium" pitchFamily="2" charset="0"/>
                <a:ea typeface="Roboto Medium" pitchFamily="2" charset="0"/>
              </a:rPr>
              <a:t>Empathetic</a:t>
            </a:r>
          </a:p>
        </p:txBody>
      </p:sp>
      <p:sp>
        <p:nvSpPr>
          <p:cNvPr id="3" name="TextBox 2">
            <a:extLst>
              <a:ext uri="{FF2B5EF4-FFF2-40B4-BE49-F238E27FC236}">
                <a16:creationId xmlns:a16="http://schemas.microsoft.com/office/drawing/2014/main" id="{51633DDC-467D-4D46-BAC7-C357BCD193C5}"/>
              </a:ext>
            </a:extLst>
          </p:cNvPr>
          <p:cNvSpPr txBox="1"/>
          <p:nvPr/>
        </p:nvSpPr>
        <p:spPr>
          <a:xfrm>
            <a:off x="3035300" y="4452035"/>
            <a:ext cx="2057399" cy="369332"/>
          </a:xfrm>
          <a:prstGeom prst="rect">
            <a:avLst/>
          </a:prstGeom>
          <a:noFill/>
        </p:spPr>
        <p:txBody>
          <a:bodyPr wrap="square" rtlCol="0">
            <a:spAutoFit/>
          </a:bodyPr>
          <a:lstStyle/>
          <a:p>
            <a:r>
              <a:rPr lang="en-US" dirty="0">
                <a:latin typeface="Roboto Light" pitchFamily="2" charset="0"/>
                <a:ea typeface="Roboto Light" pitchFamily="2" charset="0"/>
              </a:rPr>
              <a:t>Be happy</a:t>
            </a:r>
          </a:p>
        </p:txBody>
      </p:sp>
      <p:sp>
        <p:nvSpPr>
          <p:cNvPr id="8" name="TextBox 7">
            <a:extLst>
              <a:ext uri="{FF2B5EF4-FFF2-40B4-BE49-F238E27FC236}">
                <a16:creationId xmlns:a16="http://schemas.microsoft.com/office/drawing/2014/main" id="{EE1C1730-59E2-3C47-A996-3FBA375F7CF1}"/>
              </a:ext>
            </a:extLst>
          </p:cNvPr>
          <p:cNvSpPr txBox="1"/>
          <p:nvPr/>
        </p:nvSpPr>
        <p:spPr>
          <a:xfrm>
            <a:off x="9029700" y="4452035"/>
            <a:ext cx="2006599" cy="646331"/>
          </a:xfrm>
          <a:prstGeom prst="rect">
            <a:avLst/>
          </a:prstGeom>
          <a:noFill/>
        </p:spPr>
        <p:txBody>
          <a:bodyPr wrap="square" rtlCol="0">
            <a:spAutoFit/>
          </a:bodyPr>
          <a:lstStyle/>
          <a:p>
            <a:pPr algn="r"/>
            <a:r>
              <a:rPr lang="en-US" dirty="0">
                <a:latin typeface="Roboto Light" pitchFamily="2" charset="0"/>
                <a:ea typeface="Roboto Light" pitchFamily="2" charset="0"/>
              </a:rPr>
              <a:t>Express Our Condolences</a:t>
            </a:r>
          </a:p>
        </p:txBody>
      </p:sp>
      <p:cxnSp>
        <p:nvCxnSpPr>
          <p:cNvPr id="7" name="Straight Connector 6">
            <a:extLst>
              <a:ext uri="{FF2B5EF4-FFF2-40B4-BE49-F238E27FC236}">
                <a16:creationId xmlns:a16="http://schemas.microsoft.com/office/drawing/2014/main" id="{BE1A0AB9-09FD-BD43-9E92-4C6A1547AD01}"/>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2154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300" y="469900"/>
            <a:ext cx="7810500" cy="1446550"/>
          </a:xfrm>
          <a:prstGeom prst="rect">
            <a:avLst/>
          </a:prstGeom>
          <a:noFill/>
        </p:spPr>
        <p:txBody>
          <a:bodyPr wrap="square" rtlCol="0">
            <a:spAutoFit/>
          </a:bodyPr>
          <a:lstStyle/>
          <a:p>
            <a:r>
              <a:rPr lang="en-US" sz="4800" dirty="0">
                <a:solidFill>
                  <a:srgbClr val="00B0F0"/>
                </a:solidFill>
                <a:latin typeface="Roboto Medium" pitchFamily="2" charset="0"/>
                <a:ea typeface="Roboto Medium" pitchFamily="2" charset="0"/>
              </a:rPr>
              <a:t>A project is due</a:t>
            </a:r>
          </a:p>
          <a:p>
            <a:r>
              <a:rPr lang="en-US" sz="4000" dirty="0">
                <a:solidFill>
                  <a:srgbClr val="00B0F0"/>
                </a:solidFill>
                <a:latin typeface="Roboto Medium" pitchFamily="2" charset="0"/>
                <a:ea typeface="Roboto Medium" pitchFamily="2" charset="0"/>
              </a:rPr>
              <a:t>Should we be…</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22384768-49A6-D742-A53C-E4D91FC56476}"/>
              </a:ext>
            </a:extLst>
          </p:cNvPr>
          <p:cNvSpPr txBox="1"/>
          <p:nvPr/>
        </p:nvSpPr>
        <p:spPr>
          <a:xfrm>
            <a:off x="3035300" y="3429000"/>
            <a:ext cx="1794081" cy="830997"/>
          </a:xfrm>
          <a:prstGeom prst="rect">
            <a:avLst/>
          </a:prstGeom>
          <a:noFill/>
        </p:spPr>
        <p:txBody>
          <a:bodyPr wrap="none" rtlCol="0">
            <a:spAutoFit/>
          </a:bodyPr>
          <a:lstStyle/>
          <a:p>
            <a:r>
              <a:rPr lang="en-US" sz="2400" dirty="0">
                <a:latin typeface="Roboto Medium" pitchFamily="2" charset="0"/>
                <a:ea typeface="Roboto Medium" pitchFamily="2" charset="0"/>
              </a:rPr>
              <a:t>Seriously </a:t>
            </a:r>
          </a:p>
          <a:p>
            <a:pPr algn="ctr"/>
            <a:r>
              <a:rPr lang="en-US" sz="2400" dirty="0">
                <a:latin typeface="Roboto Medium" pitchFamily="2" charset="0"/>
                <a:ea typeface="Roboto Medium" pitchFamily="2" charset="0"/>
              </a:rPr>
              <a:t>Responsive</a:t>
            </a:r>
          </a:p>
        </p:txBody>
      </p:sp>
      <p:sp>
        <p:nvSpPr>
          <p:cNvPr id="6" name="TextBox 5">
            <a:extLst>
              <a:ext uri="{FF2B5EF4-FFF2-40B4-BE49-F238E27FC236}">
                <a16:creationId xmlns:a16="http://schemas.microsoft.com/office/drawing/2014/main" id="{A429ED71-6041-3F40-A14E-E7231DE789E8}"/>
              </a:ext>
            </a:extLst>
          </p:cNvPr>
          <p:cNvSpPr txBox="1"/>
          <p:nvPr/>
        </p:nvSpPr>
        <p:spPr>
          <a:xfrm>
            <a:off x="9423399" y="3429000"/>
            <a:ext cx="1612899" cy="461665"/>
          </a:xfrm>
          <a:prstGeom prst="rect">
            <a:avLst/>
          </a:prstGeom>
          <a:noFill/>
        </p:spPr>
        <p:txBody>
          <a:bodyPr wrap="square" rtlCol="0">
            <a:spAutoFit/>
          </a:bodyPr>
          <a:lstStyle/>
          <a:p>
            <a:pPr algn="r"/>
            <a:r>
              <a:rPr lang="en-US" sz="2400" dirty="0">
                <a:latin typeface="Roboto Medium" pitchFamily="2" charset="0"/>
                <a:ea typeface="Roboto Medium" pitchFamily="2" charset="0"/>
              </a:rPr>
              <a:t>Amazing</a:t>
            </a:r>
          </a:p>
        </p:txBody>
      </p:sp>
      <p:sp>
        <p:nvSpPr>
          <p:cNvPr id="3" name="TextBox 2">
            <a:extLst>
              <a:ext uri="{FF2B5EF4-FFF2-40B4-BE49-F238E27FC236}">
                <a16:creationId xmlns:a16="http://schemas.microsoft.com/office/drawing/2014/main" id="{51633DDC-467D-4D46-BAC7-C357BCD193C5}"/>
              </a:ext>
            </a:extLst>
          </p:cNvPr>
          <p:cNvSpPr txBox="1"/>
          <p:nvPr/>
        </p:nvSpPr>
        <p:spPr>
          <a:xfrm>
            <a:off x="3035300" y="4452035"/>
            <a:ext cx="2057399" cy="2031325"/>
          </a:xfrm>
          <a:prstGeom prst="rect">
            <a:avLst/>
          </a:prstGeom>
          <a:noFill/>
        </p:spPr>
        <p:txBody>
          <a:bodyPr wrap="square" rtlCol="0">
            <a:spAutoFit/>
          </a:bodyPr>
          <a:lstStyle/>
          <a:p>
            <a:r>
              <a:rPr lang="en-US" dirty="0">
                <a:latin typeface="Roboto Light" pitchFamily="2" charset="0"/>
                <a:ea typeface="Roboto Light" pitchFamily="2" charset="0"/>
              </a:rPr>
              <a:t>Give something with slightly lower quality now</a:t>
            </a:r>
          </a:p>
          <a:p>
            <a:endParaRPr lang="en-US" dirty="0">
              <a:latin typeface="Roboto Light" pitchFamily="2" charset="0"/>
              <a:ea typeface="Roboto Light" pitchFamily="2" charset="0"/>
            </a:endParaRPr>
          </a:p>
          <a:p>
            <a:r>
              <a:rPr lang="en-US" dirty="0">
                <a:latin typeface="Roboto Light" pitchFamily="2" charset="0"/>
                <a:ea typeface="Roboto Light" pitchFamily="2" charset="0"/>
              </a:rPr>
              <a:t>Deliver something ‘good enough’ on time?</a:t>
            </a:r>
          </a:p>
        </p:txBody>
      </p:sp>
      <p:sp>
        <p:nvSpPr>
          <p:cNvPr id="8" name="TextBox 7">
            <a:extLst>
              <a:ext uri="{FF2B5EF4-FFF2-40B4-BE49-F238E27FC236}">
                <a16:creationId xmlns:a16="http://schemas.microsoft.com/office/drawing/2014/main" id="{EE1C1730-59E2-3C47-A996-3FBA375F7CF1}"/>
              </a:ext>
            </a:extLst>
          </p:cNvPr>
          <p:cNvSpPr txBox="1"/>
          <p:nvPr/>
        </p:nvSpPr>
        <p:spPr>
          <a:xfrm>
            <a:off x="9029700" y="4452035"/>
            <a:ext cx="2006599" cy="2031325"/>
          </a:xfrm>
          <a:prstGeom prst="rect">
            <a:avLst/>
          </a:prstGeom>
          <a:noFill/>
        </p:spPr>
        <p:txBody>
          <a:bodyPr wrap="square" rtlCol="0">
            <a:spAutoFit/>
          </a:bodyPr>
          <a:lstStyle/>
          <a:p>
            <a:pPr algn="r"/>
            <a:r>
              <a:rPr lang="en-US" dirty="0">
                <a:latin typeface="Roboto Light" pitchFamily="2" charset="0"/>
                <a:ea typeface="Roboto Light" pitchFamily="2" charset="0"/>
              </a:rPr>
              <a:t>Give something Amazing in 2-3 Extra Weeks</a:t>
            </a:r>
          </a:p>
          <a:p>
            <a:pPr algn="r"/>
            <a:endParaRPr lang="en-US" dirty="0">
              <a:latin typeface="Roboto Light" pitchFamily="2" charset="0"/>
              <a:ea typeface="Roboto Light" pitchFamily="2" charset="0"/>
            </a:endParaRPr>
          </a:p>
          <a:p>
            <a:pPr algn="r"/>
            <a:r>
              <a:rPr lang="en-US" dirty="0">
                <a:latin typeface="Roboto Light" pitchFamily="2" charset="0"/>
                <a:ea typeface="Roboto Light" pitchFamily="2" charset="0"/>
              </a:rPr>
              <a:t>Deliver something amazing that’s late?</a:t>
            </a:r>
          </a:p>
        </p:txBody>
      </p:sp>
      <p:cxnSp>
        <p:nvCxnSpPr>
          <p:cNvPr id="7" name="Straight Connector 6">
            <a:extLst>
              <a:ext uri="{FF2B5EF4-FFF2-40B4-BE49-F238E27FC236}">
                <a16:creationId xmlns:a16="http://schemas.microsoft.com/office/drawing/2014/main" id="{BE1A0AB9-09FD-BD43-9E92-4C6A1547AD01}"/>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6440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706876" y="1804938"/>
            <a:ext cx="10778246" cy="2308324"/>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Withholding Information Out Of Love</a:t>
            </a:r>
          </a:p>
        </p:txBody>
      </p:sp>
      <p:sp>
        <p:nvSpPr>
          <p:cNvPr id="2" name="Heart 1">
            <a:extLst>
              <a:ext uri="{FF2B5EF4-FFF2-40B4-BE49-F238E27FC236}">
                <a16:creationId xmlns:a16="http://schemas.microsoft.com/office/drawing/2014/main" id="{8F76AFAA-160D-1D40-B00E-01B47C46159A}"/>
              </a:ext>
            </a:extLst>
          </p:cNvPr>
          <p:cNvSpPr/>
          <p:nvPr/>
        </p:nvSpPr>
        <p:spPr>
          <a:xfrm>
            <a:off x="4957863" y="4347494"/>
            <a:ext cx="2276273" cy="2276273"/>
          </a:xfrm>
          <a:prstGeom prst="hear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29331475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pic>
        <p:nvPicPr>
          <p:cNvPr id="1026" name="Picture 2" descr="http://whatleydude.com/wp-content/uploads/2014/04/Screen-Shot-2014-04-19-at-10.12.02.png">
            <a:extLst>
              <a:ext uri="{FF2B5EF4-FFF2-40B4-BE49-F238E27FC236}">
                <a16:creationId xmlns:a16="http://schemas.microsoft.com/office/drawing/2014/main" id="{E0706404-7FF2-644A-8CD9-3B988B6C21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847725"/>
            <a:ext cx="12192000" cy="5162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7115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0B78BA2-7B44-964F-ABD5-A12762720D4D}"/>
              </a:ext>
            </a:extLst>
          </p:cNvPr>
          <p:cNvPicPr>
            <a:picLocks noChangeAspect="1"/>
          </p:cNvPicPr>
          <p:nvPr/>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16386247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1164075" y="1804938"/>
            <a:ext cx="9863847" cy="2308324"/>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A Lot Of Hurtful Things Come From Love</a:t>
            </a:r>
          </a:p>
        </p:txBody>
      </p:sp>
    </p:spTree>
    <p:extLst>
      <p:ext uri="{BB962C8B-B14F-4D97-AF65-F5344CB8AC3E}">
        <p14:creationId xmlns:p14="http://schemas.microsoft.com/office/powerpoint/2010/main" val="6644487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1164075" y="1804938"/>
            <a:ext cx="9863847" cy="2308324"/>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Is Empathy </a:t>
            </a:r>
          </a:p>
          <a:p>
            <a:pPr algn="ctr"/>
            <a:r>
              <a:rPr lang="en-US" sz="7200" dirty="0">
                <a:solidFill>
                  <a:schemeClr val="bg1"/>
                </a:solidFill>
                <a:latin typeface="Roboto Medium" pitchFamily="2" charset="0"/>
                <a:ea typeface="Roboto Medium" pitchFamily="2" charset="0"/>
              </a:rPr>
              <a:t>The Cornerstone?</a:t>
            </a:r>
          </a:p>
        </p:txBody>
      </p:sp>
    </p:spTree>
    <p:extLst>
      <p:ext uri="{BB962C8B-B14F-4D97-AF65-F5344CB8AC3E}">
        <p14:creationId xmlns:p14="http://schemas.microsoft.com/office/powerpoint/2010/main" val="499606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015663"/>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Liberals Are Empathetic</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22384768-49A6-D742-A53C-E4D91FC56476}"/>
              </a:ext>
            </a:extLst>
          </p:cNvPr>
          <p:cNvSpPr txBox="1"/>
          <p:nvPr/>
        </p:nvSpPr>
        <p:spPr>
          <a:xfrm>
            <a:off x="3035301" y="2150320"/>
            <a:ext cx="8000998" cy="3416320"/>
          </a:xfrm>
          <a:prstGeom prst="rect">
            <a:avLst/>
          </a:prstGeom>
          <a:noFill/>
        </p:spPr>
        <p:txBody>
          <a:bodyPr wrap="square" rtlCol="0">
            <a:spAutoFit/>
          </a:bodyPr>
          <a:lstStyle/>
          <a:p>
            <a:r>
              <a:rPr lang="en-US" sz="2400" dirty="0">
                <a:latin typeface="Roboto Medium" pitchFamily="2" charset="0"/>
                <a:ea typeface="Roboto Medium" pitchFamily="2" charset="0"/>
              </a:rPr>
              <a:t>They believe people shouldn’t make decisions for themselves, because can't be trusted to make good decisions, and so the smart people should make the decisions for them because they (the majority of people) don't know any better. </a:t>
            </a:r>
          </a:p>
          <a:p>
            <a:endParaRPr lang="en-US" sz="2400" dirty="0">
              <a:latin typeface="Roboto Medium" pitchFamily="2" charset="0"/>
              <a:ea typeface="Roboto Medium" pitchFamily="2" charset="0"/>
            </a:endParaRPr>
          </a:p>
          <a:p>
            <a:r>
              <a:rPr lang="en-US" sz="2400" dirty="0">
                <a:latin typeface="Roboto Medium" pitchFamily="2" charset="0"/>
                <a:ea typeface="Roboto Medium" pitchFamily="2" charset="0"/>
              </a:rPr>
              <a:t>If the smart people can come up with a plan that will benefit everyone in the long run, then it's ok to withhold information or require seemingly unfair regulations. </a:t>
            </a:r>
          </a:p>
        </p:txBody>
      </p:sp>
    </p:spTree>
    <p:extLst>
      <p:ext uri="{BB962C8B-B14F-4D97-AF65-F5344CB8AC3E}">
        <p14:creationId xmlns:p14="http://schemas.microsoft.com/office/powerpoint/2010/main" val="20910866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015663"/>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Nifty Is Empathetic</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22384768-49A6-D742-A53C-E4D91FC56476}"/>
              </a:ext>
            </a:extLst>
          </p:cNvPr>
          <p:cNvSpPr txBox="1"/>
          <p:nvPr/>
        </p:nvSpPr>
        <p:spPr>
          <a:xfrm>
            <a:off x="3035301" y="2150320"/>
            <a:ext cx="8000998" cy="1569660"/>
          </a:xfrm>
          <a:prstGeom prst="rect">
            <a:avLst/>
          </a:prstGeom>
          <a:noFill/>
        </p:spPr>
        <p:txBody>
          <a:bodyPr wrap="square" rtlCol="0">
            <a:spAutoFit/>
          </a:bodyPr>
          <a:lstStyle/>
          <a:p>
            <a:r>
              <a:rPr lang="en-US" sz="2400" dirty="0">
                <a:latin typeface="Roboto Medium" pitchFamily="2" charset="0"/>
                <a:ea typeface="Roboto Medium" pitchFamily="2" charset="0"/>
              </a:rPr>
              <a:t>Nifty withholds information and makes seemingly unfair decisions because they know what they're doing. They are looking at multiple variables. They are seeing things we don’t see because they are looking at the big picture.</a:t>
            </a:r>
          </a:p>
        </p:txBody>
      </p:sp>
    </p:spTree>
    <p:extLst>
      <p:ext uri="{BB962C8B-B14F-4D97-AF65-F5344CB8AC3E}">
        <p14:creationId xmlns:p14="http://schemas.microsoft.com/office/powerpoint/2010/main" val="1333332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015663"/>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Example 1: Healthcare</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4E78920-677A-0046-865F-6445DCD92AA9}"/>
              </a:ext>
            </a:extLst>
          </p:cNvPr>
          <p:cNvSpPr txBox="1"/>
          <p:nvPr/>
        </p:nvSpPr>
        <p:spPr>
          <a:xfrm>
            <a:off x="3035300" y="3429000"/>
            <a:ext cx="1402948" cy="461665"/>
          </a:xfrm>
          <a:prstGeom prst="rect">
            <a:avLst/>
          </a:prstGeom>
          <a:noFill/>
        </p:spPr>
        <p:txBody>
          <a:bodyPr wrap="none" rtlCol="0">
            <a:spAutoFit/>
          </a:bodyPr>
          <a:lstStyle/>
          <a:p>
            <a:r>
              <a:rPr lang="en-US" sz="2400" dirty="0">
                <a:latin typeface="Roboto Medium" pitchFamily="2" charset="0"/>
                <a:ea typeface="Roboto Medium" pitchFamily="2" charset="0"/>
              </a:rPr>
              <a:t>Empathy</a:t>
            </a:r>
          </a:p>
        </p:txBody>
      </p:sp>
      <p:sp>
        <p:nvSpPr>
          <p:cNvPr id="6" name="TextBox 5">
            <a:extLst>
              <a:ext uri="{FF2B5EF4-FFF2-40B4-BE49-F238E27FC236}">
                <a16:creationId xmlns:a16="http://schemas.microsoft.com/office/drawing/2014/main" id="{390E78DF-A525-4B44-917E-3052E507CF97}"/>
              </a:ext>
            </a:extLst>
          </p:cNvPr>
          <p:cNvSpPr txBox="1"/>
          <p:nvPr/>
        </p:nvSpPr>
        <p:spPr>
          <a:xfrm>
            <a:off x="9423399" y="3429000"/>
            <a:ext cx="1612899" cy="461665"/>
          </a:xfrm>
          <a:prstGeom prst="rect">
            <a:avLst/>
          </a:prstGeom>
          <a:noFill/>
        </p:spPr>
        <p:txBody>
          <a:bodyPr wrap="square" rtlCol="0">
            <a:spAutoFit/>
          </a:bodyPr>
          <a:lstStyle/>
          <a:p>
            <a:pPr algn="r"/>
            <a:r>
              <a:rPr lang="en-US" sz="2400" dirty="0">
                <a:latin typeface="Roboto Medium" pitchFamily="2" charset="0"/>
                <a:ea typeface="Roboto Medium" pitchFamily="2" charset="0"/>
              </a:rPr>
              <a:t>Choice</a:t>
            </a:r>
          </a:p>
        </p:txBody>
      </p:sp>
      <p:sp>
        <p:nvSpPr>
          <p:cNvPr id="7" name="TextBox 6">
            <a:extLst>
              <a:ext uri="{FF2B5EF4-FFF2-40B4-BE49-F238E27FC236}">
                <a16:creationId xmlns:a16="http://schemas.microsoft.com/office/drawing/2014/main" id="{2CC268DB-92F7-2C44-840A-40145CA5C3EF}"/>
              </a:ext>
            </a:extLst>
          </p:cNvPr>
          <p:cNvSpPr txBox="1"/>
          <p:nvPr/>
        </p:nvSpPr>
        <p:spPr>
          <a:xfrm>
            <a:off x="3035300" y="4452035"/>
            <a:ext cx="2057399" cy="1200329"/>
          </a:xfrm>
          <a:prstGeom prst="rect">
            <a:avLst/>
          </a:prstGeom>
          <a:noFill/>
        </p:spPr>
        <p:txBody>
          <a:bodyPr wrap="square" rtlCol="0">
            <a:spAutoFit/>
          </a:bodyPr>
          <a:lstStyle/>
          <a:p>
            <a:r>
              <a:rPr lang="en-US" dirty="0">
                <a:latin typeface="Roboto Light" pitchFamily="2" charset="0"/>
                <a:ea typeface="Roboto Light" pitchFamily="2" charset="0"/>
              </a:rPr>
              <a:t>Give everyone healthcare by mandating insurance.</a:t>
            </a:r>
          </a:p>
        </p:txBody>
      </p:sp>
      <p:sp>
        <p:nvSpPr>
          <p:cNvPr id="8" name="TextBox 7">
            <a:extLst>
              <a:ext uri="{FF2B5EF4-FFF2-40B4-BE49-F238E27FC236}">
                <a16:creationId xmlns:a16="http://schemas.microsoft.com/office/drawing/2014/main" id="{B66F3890-D779-1F47-8F1A-AFE8C8553C79}"/>
              </a:ext>
            </a:extLst>
          </p:cNvPr>
          <p:cNvSpPr txBox="1"/>
          <p:nvPr/>
        </p:nvSpPr>
        <p:spPr>
          <a:xfrm>
            <a:off x="9029700" y="4452035"/>
            <a:ext cx="2006599" cy="1200329"/>
          </a:xfrm>
          <a:prstGeom prst="rect">
            <a:avLst/>
          </a:prstGeom>
          <a:noFill/>
        </p:spPr>
        <p:txBody>
          <a:bodyPr wrap="square" rtlCol="0">
            <a:spAutoFit/>
          </a:bodyPr>
          <a:lstStyle/>
          <a:p>
            <a:pPr algn="r"/>
            <a:r>
              <a:rPr lang="en-US" dirty="0">
                <a:latin typeface="Roboto Light" pitchFamily="2" charset="0"/>
                <a:ea typeface="Roboto Light" pitchFamily="2" charset="0"/>
              </a:rPr>
              <a:t>Let People Make Their Own Decisions About </a:t>
            </a:r>
            <a:r>
              <a:rPr lang="en-US" dirty="0" err="1">
                <a:latin typeface="Roboto Light" pitchFamily="2" charset="0"/>
                <a:ea typeface="Roboto Light" pitchFamily="2" charset="0"/>
              </a:rPr>
              <a:t>Healthhcare</a:t>
            </a:r>
            <a:endParaRPr lang="en-US" dirty="0">
              <a:latin typeface="Roboto Light" pitchFamily="2" charset="0"/>
              <a:ea typeface="Roboto Light" pitchFamily="2" charset="0"/>
            </a:endParaRPr>
          </a:p>
        </p:txBody>
      </p:sp>
      <p:cxnSp>
        <p:nvCxnSpPr>
          <p:cNvPr id="9" name="Straight Connector 8">
            <a:extLst>
              <a:ext uri="{FF2B5EF4-FFF2-40B4-BE49-F238E27FC236}">
                <a16:creationId xmlns:a16="http://schemas.microsoft.com/office/drawing/2014/main" id="{6F1CF39D-DF28-414E-A8C4-1EC400439AB3}"/>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15262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015663"/>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Example 2: Gun Control</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4E78920-677A-0046-865F-6445DCD92AA9}"/>
              </a:ext>
            </a:extLst>
          </p:cNvPr>
          <p:cNvSpPr txBox="1"/>
          <p:nvPr/>
        </p:nvSpPr>
        <p:spPr>
          <a:xfrm>
            <a:off x="3035300" y="3429000"/>
            <a:ext cx="1402948" cy="461665"/>
          </a:xfrm>
          <a:prstGeom prst="rect">
            <a:avLst/>
          </a:prstGeom>
          <a:noFill/>
        </p:spPr>
        <p:txBody>
          <a:bodyPr wrap="none" rtlCol="0">
            <a:spAutoFit/>
          </a:bodyPr>
          <a:lstStyle/>
          <a:p>
            <a:r>
              <a:rPr lang="en-US" sz="2400" dirty="0">
                <a:latin typeface="Roboto Medium" pitchFamily="2" charset="0"/>
                <a:ea typeface="Roboto Medium" pitchFamily="2" charset="0"/>
              </a:rPr>
              <a:t>Empathy</a:t>
            </a:r>
          </a:p>
        </p:txBody>
      </p:sp>
      <p:sp>
        <p:nvSpPr>
          <p:cNvPr id="6" name="TextBox 5">
            <a:extLst>
              <a:ext uri="{FF2B5EF4-FFF2-40B4-BE49-F238E27FC236}">
                <a16:creationId xmlns:a16="http://schemas.microsoft.com/office/drawing/2014/main" id="{390E78DF-A525-4B44-917E-3052E507CF97}"/>
              </a:ext>
            </a:extLst>
          </p:cNvPr>
          <p:cNvSpPr txBox="1"/>
          <p:nvPr/>
        </p:nvSpPr>
        <p:spPr>
          <a:xfrm>
            <a:off x="9423399" y="3429000"/>
            <a:ext cx="1612899" cy="830997"/>
          </a:xfrm>
          <a:prstGeom prst="rect">
            <a:avLst/>
          </a:prstGeom>
          <a:noFill/>
        </p:spPr>
        <p:txBody>
          <a:bodyPr wrap="square" rtlCol="0">
            <a:spAutoFit/>
          </a:bodyPr>
          <a:lstStyle/>
          <a:p>
            <a:pPr algn="r"/>
            <a:r>
              <a:rPr lang="en-US" sz="2400" dirty="0">
                <a:latin typeface="Roboto Medium" pitchFamily="2" charset="0"/>
                <a:ea typeface="Roboto Medium" pitchFamily="2" charset="0"/>
              </a:rPr>
              <a:t>Freedom/Fairness</a:t>
            </a:r>
          </a:p>
        </p:txBody>
      </p:sp>
      <p:sp>
        <p:nvSpPr>
          <p:cNvPr id="7" name="TextBox 6">
            <a:extLst>
              <a:ext uri="{FF2B5EF4-FFF2-40B4-BE49-F238E27FC236}">
                <a16:creationId xmlns:a16="http://schemas.microsoft.com/office/drawing/2014/main" id="{2CC268DB-92F7-2C44-840A-40145CA5C3EF}"/>
              </a:ext>
            </a:extLst>
          </p:cNvPr>
          <p:cNvSpPr txBox="1"/>
          <p:nvPr/>
        </p:nvSpPr>
        <p:spPr>
          <a:xfrm>
            <a:off x="3035300" y="4452035"/>
            <a:ext cx="2057399" cy="646331"/>
          </a:xfrm>
          <a:prstGeom prst="rect">
            <a:avLst/>
          </a:prstGeom>
          <a:noFill/>
        </p:spPr>
        <p:txBody>
          <a:bodyPr wrap="square" rtlCol="0">
            <a:spAutoFit/>
          </a:bodyPr>
          <a:lstStyle/>
          <a:p>
            <a:r>
              <a:rPr lang="en-US" dirty="0">
                <a:latin typeface="Roboto Light" pitchFamily="2" charset="0"/>
                <a:ea typeface="Roboto Light" pitchFamily="2" charset="0"/>
              </a:rPr>
              <a:t>Get Guns Away From Citizens</a:t>
            </a:r>
          </a:p>
        </p:txBody>
      </p:sp>
      <p:sp>
        <p:nvSpPr>
          <p:cNvPr id="8" name="TextBox 7">
            <a:extLst>
              <a:ext uri="{FF2B5EF4-FFF2-40B4-BE49-F238E27FC236}">
                <a16:creationId xmlns:a16="http://schemas.microsoft.com/office/drawing/2014/main" id="{B66F3890-D779-1F47-8F1A-AFE8C8553C79}"/>
              </a:ext>
            </a:extLst>
          </p:cNvPr>
          <p:cNvSpPr txBox="1"/>
          <p:nvPr/>
        </p:nvSpPr>
        <p:spPr>
          <a:xfrm>
            <a:off x="9029700" y="4452035"/>
            <a:ext cx="2006599" cy="1477328"/>
          </a:xfrm>
          <a:prstGeom prst="rect">
            <a:avLst/>
          </a:prstGeom>
          <a:noFill/>
        </p:spPr>
        <p:txBody>
          <a:bodyPr wrap="square" rtlCol="0">
            <a:spAutoFit/>
          </a:bodyPr>
          <a:lstStyle/>
          <a:p>
            <a:pPr algn="r"/>
            <a:r>
              <a:rPr lang="en-US" dirty="0">
                <a:latin typeface="Roboto Light" pitchFamily="2" charset="0"/>
                <a:ea typeface="Roboto Light" pitchFamily="2" charset="0"/>
              </a:rPr>
              <a:t>Guns Are A Safeguard Against Government Corruption</a:t>
            </a:r>
          </a:p>
        </p:txBody>
      </p:sp>
      <p:cxnSp>
        <p:nvCxnSpPr>
          <p:cNvPr id="9" name="Straight Connector 8">
            <a:extLst>
              <a:ext uri="{FF2B5EF4-FFF2-40B4-BE49-F238E27FC236}">
                <a16:creationId xmlns:a16="http://schemas.microsoft.com/office/drawing/2014/main" id="{6F1CF39D-DF28-414E-A8C4-1EC400439AB3}"/>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00784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938992"/>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Example 3: Unhealthy Foods</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4E78920-677A-0046-865F-6445DCD92AA9}"/>
              </a:ext>
            </a:extLst>
          </p:cNvPr>
          <p:cNvSpPr txBox="1"/>
          <p:nvPr/>
        </p:nvSpPr>
        <p:spPr>
          <a:xfrm>
            <a:off x="3035300" y="3429000"/>
            <a:ext cx="1402948" cy="461665"/>
          </a:xfrm>
          <a:prstGeom prst="rect">
            <a:avLst/>
          </a:prstGeom>
          <a:noFill/>
        </p:spPr>
        <p:txBody>
          <a:bodyPr wrap="none" rtlCol="0">
            <a:spAutoFit/>
          </a:bodyPr>
          <a:lstStyle/>
          <a:p>
            <a:r>
              <a:rPr lang="en-US" sz="2400" dirty="0">
                <a:latin typeface="Roboto Medium" pitchFamily="2" charset="0"/>
                <a:ea typeface="Roboto Medium" pitchFamily="2" charset="0"/>
              </a:rPr>
              <a:t>Empathy</a:t>
            </a:r>
          </a:p>
        </p:txBody>
      </p:sp>
      <p:sp>
        <p:nvSpPr>
          <p:cNvPr id="6" name="TextBox 5">
            <a:extLst>
              <a:ext uri="{FF2B5EF4-FFF2-40B4-BE49-F238E27FC236}">
                <a16:creationId xmlns:a16="http://schemas.microsoft.com/office/drawing/2014/main" id="{390E78DF-A525-4B44-917E-3052E507CF97}"/>
              </a:ext>
            </a:extLst>
          </p:cNvPr>
          <p:cNvSpPr txBox="1"/>
          <p:nvPr/>
        </p:nvSpPr>
        <p:spPr>
          <a:xfrm>
            <a:off x="9423399" y="3429000"/>
            <a:ext cx="1612899" cy="830997"/>
          </a:xfrm>
          <a:prstGeom prst="rect">
            <a:avLst/>
          </a:prstGeom>
          <a:noFill/>
        </p:spPr>
        <p:txBody>
          <a:bodyPr wrap="square" rtlCol="0">
            <a:spAutoFit/>
          </a:bodyPr>
          <a:lstStyle/>
          <a:p>
            <a:pPr algn="r"/>
            <a:r>
              <a:rPr lang="en-US" sz="2400" dirty="0">
                <a:latin typeface="Roboto Medium" pitchFamily="2" charset="0"/>
                <a:ea typeface="Roboto Medium" pitchFamily="2" charset="0"/>
              </a:rPr>
              <a:t>Freedom/ Fairness</a:t>
            </a:r>
          </a:p>
        </p:txBody>
      </p:sp>
      <p:sp>
        <p:nvSpPr>
          <p:cNvPr id="7" name="TextBox 6">
            <a:extLst>
              <a:ext uri="{FF2B5EF4-FFF2-40B4-BE49-F238E27FC236}">
                <a16:creationId xmlns:a16="http://schemas.microsoft.com/office/drawing/2014/main" id="{2CC268DB-92F7-2C44-840A-40145CA5C3EF}"/>
              </a:ext>
            </a:extLst>
          </p:cNvPr>
          <p:cNvSpPr txBox="1"/>
          <p:nvPr/>
        </p:nvSpPr>
        <p:spPr>
          <a:xfrm>
            <a:off x="3035300" y="4452035"/>
            <a:ext cx="2057399" cy="646331"/>
          </a:xfrm>
          <a:prstGeom prst="rect">
            <a:avLst/>
          </a:prstGeom>
          <a:noFill/>
        </p:spPr>
        <p:txBody>
          <a:bodyPr wrap="square" rtlCol="0">
            <a:spAutoFit/>
          </a:bodyPr>
          <a:lstStyle/>
          <a:p>
            <a:r>
              <a:rPr lang="en-US" dirty="0">
                <a:latin typeface="Roboto Light" pitchFamily="2" charset="0"/>
                <a:ea typeface="Roboto Light" pitchFamily="2" charset="0"/>
              </a:rPr>
              <a:t>Ban Trans Fats</a:t>
            </a:r>
          </a:p>
          <a:p>
            <a:r>
              <a:rPr lang="en-US" dirty="0">
                <a:latin typeface="Roboto Light" pitchFamily="2" charset="0"/>
                <a:ea typeface="Roboto Light" pitchFamily="2" charset="0"/>
              </a:rPr>
              <a:t>Tax Soda/Sugar</a:t>
            </a:r>
          </a:p>
        </p:txBody>
      </p:sp>
      <p:sp>
        <p:nvSpPr>
          <p:cNvPr id="8" name="TextBox 7">
            <a:extLst>
              <a:ext uri="{FF2B5EF4-FFF2-40B4-BE49-F238E27FC236}">
                <a16:creationId xmlns:a16="http://schemas.microsoft.com/office/drawing/2014/main" id="{B66F3890-D779-1F47-8F1A-AFE8C8553C79}"/>
              </a:ext>
            </a:extLst>
          </p:cNvPr>
          <p:cNvSpPr txBox="1"/>
          <p:nvPr/>
        </p:nvSpPr>
        <p:spPr>
          <a:xfrm>
            <a:off x="9029700" y="4452035"/>
            <a:ext cx="2006599" cy="646331"/>
          </a:xfrm>
          <a:prstGeom prst="rect">
            <a:avLst/>
          </a:prstGeom>
          <a:noFill/>
        </p:spPr>
        <p:txBody>
          <a:bodyPr wrap="square" rtlCol="0">
            <a:spAutoFit/>
          </a:bodyPr>
          <a:lstStyle/>
          <a:p>
            <a:pPr algn="r"/>
            <a:r>
              <a:rPr lang="en-US" dirty="0">
                <a:latin typeface="Roboto Light" pitchFamily="2" charset="0"/>
                <a:ea typeface="Roboto Light" pitchFamily="2" charset="0"/>
              </a:rPr>
              <a:t>Let People Eat What They Want</a:t>
            </a:r>
          </a:p>
        </p:txBody>
      </p:sp>
      <p:cxnSp>
        <p:nvCxnSpPr>
          <p:cNvPr id="9" name="Straight Connector 8">
            <a:extLst>
              <a:ext uri="{FF2B5EF4-FFF2-40B4-BE49-F238E27FC236}">
                <a16:creationId xmlns:a16="http://schemas.microsoft.com/office/drawing/2014/main" id="{6F1CF39D-DF28-414E-A8C4-1EC400439AB3}"/>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78496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015663"/>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Example 4: Salary</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4E78920-677A-0046-865F-6445DCD92AA9}"/>
              </a:ext>
            </a:extLst>
          </p:cNvPr>
          <p:cNvSpPr txBox="1"/>
          <p:nvPr/>
        </p:nvSpPr>
        <p:spPr>
          <a:xfrm>
            <a:off x="3035300" y="3429000"/>
            <a:ext cx="1402948" cy="461665"/>
          </a:xfrm>
          <a:prstGeom prst="rect">
            <a:avLst/>
          </a:prstGeom>
          <a:noFill/>
        </p:spPr>
        <p:txBody>
          <a:bodyPr wrap="none" rtlCol="0">
            <a:spAutoFit/>
          </a:bodyPr>
          <a:lstStyle/>
          <a:p>
            <a:r>
              <a:rPr lang="en-US" sz="2400" dirty="0">
                <a:latin typeface="Roboto Medium" pitchFamily="2" charset="0"/>
                <a:ea typeface="Roboto Medium" pitchFamily="2" charset="0"/>
              </a:rPr>
              <a:t>Empathy</a:t>
            </a:r>
          </a:p>
        </p:txBody>
      </p:sp>
      <p:sp>
        <p:nvSpPr>
          <p:cNvPr id="6" name="TextBox 5">
            <a:extLst>
              <a:ext uri="{FF2B5EF4-FFF2-40B4-BE49-F238E27FC236}">
                <a16:creationId xmlns:a16="http://schemas.microsoft.com/office/drawing/2014/main" id="{390E78DF-A525-4B44-917E-3052E507CF97}"/>
              </a:ext>
            </a:extLst>
          </p:cNvPr>
          <p:cNvSpPr txBox="1"/>
          <p:nvPr/>
        </p:nvSpPr>
        <p:spPr>
          <a:xfrm>
            <a:off x="9423399" y="3429000"/>
            <a:ext cx="1612899" cy="830997"/>
          </a:xfrm>
          <a:prstGeom prst="rect">
            <a:avLst/>
          </a:prstGeom>
          <a:noFill/>
        </p:spPr>
        <p:txBody>
          <a:bodyPr wrap="square" rtlCol="0">
            <a:spAutoFit/>
          </a:bodyPr>
          <a:lstStyle/>
          <a:p>
            <a:pPr algn="r"/>
            <a:r>
              <a:rPr lang="en-US" sz="2400" dirty="0">
                <a:latin typeface="Roboto Medium" pitchFamily="2" charset="0"/>
                <a:ea typeface="Roboto Medium" pitchFamily="2" charset="0"/>
              </a:rPr>
              <a:t>Freedom/ Fairness</a:t>
            </a:r>
          </a:p>
        </p:txBody>
      </p:sp>
      <p:sp>
        <p:nvSpPr>
          <p:cNvPr id="7" name="TextBox 6">
            <a:extLst>
              <a:ext uri="{FF2B5EF4-FFF2-40B4-BE49-F238E27FC236}">
                <a16:creationId xmlns:a16="http://schemas.microsoft.com/office/drawing/2014/main" id="{2CC268DB-92F7-2C44-840A-40145CA5C3EF}"/>
              </a:ext>
            </a:extLst>
          </p:cNvPr>
          <p:cNvSpPr txBox="1"/>
          <p:nvPr/>
        </p:nvSpPr>
        <p:spPr>
          <a:xfrm>
            <a:off x="3035300" y="4452035"/>
            <a:ext cx="2057399" cy="646331"/>
          </a:xfrm>
          <a:prstGeom prst="rect">
            <a:avLst/>
          </a:prstGeom>
          <a:noFill/>
        </p:spPr>
        <p:txBody>
          <a:bodyPr wrap="square" rtlCol="0">
            <a:spAutoFit/>
          </a:bodyPr>
          <a:lstStyle/>
          <a:p>
            <a:r>
              <a:rPr lang="en-US" dirty="0">
                <a:latin typeface="Roboto Light" pitchFamily="2" charset="0"/>
                <a:ea typeface="Roboto Light" pitchFamily="2" charset="0"/>
              </a:rPr>
              <a:t>Ban Trans Fats</a:t>
            </a:r>
          </a:p>
          <a:p>
            <a:r>
              <a:rPr lang="en-US" dirty="0">
                <a:latin typeface="Roboto Light" pitchFamily="2" charset="0"/>
                <a:ea typeface="Roboto Light" pitchFamily="2" charset="0"/>
              </a:rPr>
              <a:t>Tax Soda/Sugar</a:t>
            </a:r>
          </a:p>
        </p:txBody>
      </p:sp>
      <p:sp>
        <p:nvSpPr>
          <p:cNvPr id="8" name="TextBox 7">
            <a:extLst>
              <a:ext uri="{FF2B5EF4-FFF2-40B4-BE49-F238E27FC236}">
                <a16:creationId xmlns:a16="http://schemas.microsoft.com/office/drawing/2014/main" id="{B66F3890-D779-1F47-8F1A-AFE8C8553C79}"/>
              </a:ext>
            </a:extLst>
          </p:cNvPr>
          <p:cNvSpPr txBox="1"/>
          <p:nvPr/>
        </p:nvSpPr>
        <p:spPr>
          <a:xfrm>
            <a:off x="9029700" y="4452035"/>
            <a:ext cx="2006599" cy="646331"/>
          </a:xfrm>
          <a:prstGeom prst="rect">
            <a:avLst/>
          </a:prstGeom>
          <a:noFill/>
        </p:spPr>
        <p:txBody>
          <a:bodyPr wrap="square" rtlCol="0">
            <a:spAutoFit/>
          </a:bodyPr>
          <a:lstStyle/>
          <a:p>
            <a:pPr algn="r"/>
            <a:r>
              <a:rPr lang="en-US" dirty="0">
                <a:latin typeface="Roboto Light" pitchFamily="2" charset="0"/>
                <a:ea typeface="Roboto Light" pitchFamily="2" charset="0"/>
              </a:rPr>
              <a:t>Verify There Is No Unfairness</a:t>
            </a:r>
          </a:p>
        </p:txBody>
      </p:sp>
      <p:cxnSp>
        <p:nvCxnSpPr>
          <p:cNvPr id="9" name="Straight Connector 8">
            <a:extLst>
              <a:ext uri="{FF2B5EF4-FFF2-40B4-BE49-F238E27FC236}">
                <a16:creationId xmlns:a16="http://schemas.microsoft.com/office/drawing/2014/main" id="{6F1CF39D-DF28-414E-A8C4-1EC400439AB3}"/>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81249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015663"/>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Example 5: Clarity</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4E78920-677A-0046-865F-6445DCD92AA9}"/>
              </a:ext>
            </a:extLst>
          </p:cNvPr>
          <p:cNvSpPr txBox="1"/>
          <p:nvPr/>
        </p:nvSpPr>
        <p:spPr>
          <a:xfrm>
            <a:off x="3035300" y="3429000"/>
            <a:ext cx="2738250" cy="461665"/>
          </a:xfrm>
          <a:prstGeom prst="rect">
            <a:avLst/>
          </a:prstGeom>
          <a:noFill/>
        </p:spPr>
        <p:txBody>
          <a:bodyPr wrap="none" rtlCol="0">
            <a:spAutoFit/>
          </a:bodyPr>
          <a:lstStyle/>
          <a:p>
            <a:r>
              <a:rPr lang="en-US" sz="2400" dirty="0">
                <a:latin typeface="Roboto Medium" pitchFamily="2" charset="0"/>
                <a:ea typeface="Roboto Medium" pitchFamily="2" charset="0"/>
              </a:rPr>
              <a:t>Prevent Bitterness</a:t>
            </a:r>
          </a:p>
        </p:txBody>
      </p:sp>
      <p:sp>
        <p:nvSpPr>
          <p:cNvPr id="6" name="TextBox 5">
            <a:extLst>
              <a:ext uri="{FF2B5EF4-FFF2-40B4-BE49-F238E27FC236}">
                <a16:creationId xmlns:a16="http://schemas.microsoft.com/office/drawing/2014/main" id="{390E78DF-A525-4B44-917E-3052E507CF97}"/>
              </a:ext>
            </a:extLst>
          </p:cNvPr>
          <p:cNvSpPr txBox="1"/>
          <p:nvPr/>
        </p:nvSpPr>
        <p:spPr>
          <a:xfrm>
            <a:off x="7489371" y="3429000"/>
            <a:ext cx="3546927" cy="830997"/>
          </a:xfrm>
          <a:prstGeom prst="rect">
            <a:avLst/>
          </a:prstGeom>
          <a:noFill/>
        </p:spPr>
        <p:txBody>
          <a:bodyPr wrap="square" rtlCol="0">
            <a:spAutoFit/>
          </a:bodyPr>
          <a:lstStyle/>
          <a:p>
            <a:pPr algn="r"/>
            <a:r>
              <a:rPr lang="en-US" sz="2400" dirty="0">
                <a:latin typeface="Roboto Medium" pitchFamily="2" charset="0"/>
                <a:ea typeface="Roboto Medium" pitchFamily="2" charset="0"/>
              </a:rPr>
              <a:t>Let People Know What They Can Expect</a:t>
            </a:r>
          </a:p>
        </p:txBody>
      </p:sp>
      <p:sp>
        <p:nvSpPr>
          <p:cNvPr id="7" name="TextBox 6">
            <a:extLst>
              <a:ext uri="{FF2B5EF4-FFF2-40B4-BE49-F238E27FC236}">
                <a16:creationId xmlns:a16="http://schemas.microsoft.com/office/drawing/2014/main" id="{2CC268DB-92F7-2C44-840A-40145CA5C3EF}"/>
              </a:ext>
            </a:extLst>
          </p:cNvPr>
          <p:cNvSpPr txBox="1"/>
          <p:nvPr/>
        </p:nvSpPr>
        <p:spPr>
          <a:xfrm>
            <a:off x="3035300" y="4452035"/>
            <a:ext cx="2057399" cy="646331"/>
          </a:xfrm>
          <a:prstGeom prst="rect">
            <a:avLst/>
          </a:prstGeom>
          <a:noFill/>
        </p:spPr>
        <p:txBody>
          <a:bodyPr wrap="square" rtlCol="0">
            <a:spAutoFit/>
          </a:bodyPr>
          <a:lstStyle/>
          <a:p>
            <a:r>
              <a:rPr lang="en-US" dirty="0">
                <a:latin typeface="Roboto Light" pitchFamily="2" charset="0"/>
                <a:ea typeface="Roboto Light" pitchFamily="2" charset="0"/>
              </a:rPr>
              <a:t>Ban Trans Fats</a:t>
            </a:r>
          </a:p>
          <a:p>
            <a:r>
              <a:rPr lang="en-US" dirty="0">
                <a:latin typeface="Roboto Light" pitchFamily="2" charset="0"/>
                <a:ea typeface="Roboto Light" pitchFamily="2" charset="0"/>
              </a:rPr>
              <a:t>Tax Soda/Sugar</a:t>
            </a:r>
          </a:p>
        </p:txBody>
      </p:sp>
      <p:sp>
        <p:nvSpPr>
          <p:cNvPr id="8" name="TextBox 7">
            <a:extLst>
              <a:ext uri="{FF2B5EF4-FFF2-40B4-BE49-F238E27FC236}">
                <a16:creationId xmlns:a16="http://schemas.microsoft.com/office/drawing/2014/main" id="{B66F3890-D779-1F47-8F1A-AFE8C8553C79}"/>
              </a:ext>
            </a:extLst>
          </p:cNvPr>
          <p:cNvSpPr txBox="1"/>
          <p:nvPr/>
        </p:nvSpPr>
        <p:spPr>
          <a:xfrm>
            <a:off x="9029700" y="4452035"/>
            <a:ext cx="2006599" cy="646331"/>
          </a:xfrm>
          <a:prstGeom prst="rect">
            <a:avLst/>
          </a:prstGeom>
          <a:noFill/>
        </p:spPr>
        <p:txBody>
          <a:bodyPr wrap="square" rtlCol="0">
            <a:spAutoFit/>
          </a:bodyPr>
          <a:lstStyle/>
          <a:p>
            <a:pPr algn="r"/>
            <a:r>
              <a:rPr lang="en-US" dirty="0">
                <a:latin typeface="Roboto Light" pitchFamily="2" charset="0"/>
                <a:ea typeface="Roboto Light" pitchFamily="2" charset="0"/>
              </a:rPr>
              <a:t>Verify There Is No Unfairness</a:t>
            </a:r>
          </a:p>
        </p:txBody>
      </p:sp>
      <p:cxnSp>
        <p:nvCxnSpPr>
          <p:cNvPr id="9" name="Straight Connector 8">
            <a:extLst>
              <a:ext uri="{FF2B5EF4-FFF2-40B4-BE49-F238E27FC236}">
                <a16:creationId xmlns:a16="http://schemas.microsoft.com/office/drawing/2014/main" id="{6F1CF39D-DF28-414E-A8C4-1EC400439AB3}"/>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92049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1164075" y="1804938"/>
            <a:ext cx="9863847" cy="2308324"/>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Beware The </a:t>
            </a:r>
          </a:p>
          <a:p>
            <a:pPr algn="ctr"/>
            <a:r>
              <a:rPr lang="en-US" sz="7200" dirty="0">
                <a:solidFill>
                  <a:schemeClr val="bg1"/>
                </a:solidFill>
                <a:latin typeface="Roboto Medium" pitchFamily="2" charset="0"/>
                <a:ea typeface="Roboto Medium" pitchFamily="2" charset="0"/>
              </a:rPr>
              <a:t>False Choice</a:t>
            </a:r>
          </a:p>
        </p:txBody>
      </p:sp>
    </p:spTree>
    <p:extLst>
      <p:ext uri="{BB962C8B-B14F-4D97-AF65-F5344CB8AC3E}">
        <p14:creationId xmlns:p14="http://schemas.microsoft.com/office/powerpoint/2010/main" val="40527071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https://qph.ec.quoracdn.net/main-qimg-c3692b8ad6139cdbca1631807f8af109">
            <a:extLst>
              <a:ext uri="{FF2B5EF4-FFF2-40B4-BE49-F238E27FC236}">
                <a16:creationId xmlns:a16="http://schemas.microsoft.com/office/drawing/2014/main" id="{0DB00FFE-C5FB-F64A-8B93-CF7DC89033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5240"/>
            <a:ext cx="12192000" cy="6888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53299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CCBA67-538C-6E43-82FC-68116F592CAB}"/>
              </a:ext>
            </a:extLst>
          </p:cNvPr>
          <p:cNvSpPr txBox="1"/>
          <p:nvPr/>
        </p:nvSpPr>
        <p:spPr>
          <a:xfrm>
            <a:off x="3035299" y="469900"/>
            <a:ext cx="8423883" cy="1938992"/>
          </a:xfrm>
          <a:prstGeom prst="rect">
            <a:avLst/>
          </a:prstGeom>
          <a:noFill/>
        </p:spPr>
        <p:txBody>
          <a:bodyPr wrap="square" rtlCol="0">
            <a:spAutoFit/>
          </a:bodyPr>
          <a:lstStyle/>
          <a:p>
            <a:r>
              <a:rPr lang="en-US" sz="6000" dirty="0">
                <a:solidFill>
                  <a:srgbClr val="00B0F0"/>
                </a:solidFill>
                <a:latin typeface="Roboto Medium" pitchFamily="2" charset="0"/>
                <a:ea typeface="Roboto Medium" pitchFamily="2" charset="0"/>
              </a:rPr>
              <a:t>Example 3: Unhealthy Foods</a:t>
            </a:r>
          </a:p>
        </p:txBody>
      </p:sp>
      <p:sp>
        <p:nvSpPr>
          <p:cNvPr id="11" name="Rectangle 10">
            <a:extLst>
              <a:ext uri="{FF2B5EF4-FFF2-40B4-BE49-F238E27FC236}">
                <a16:creationId xmlns:a16="http://schemas.microsoft.com/office/drawing/2014/main" id="{2D90CD75-C0D9-9E49-8E78-DFA185D56393}"/>
              </a:ext>
            </a:extLst>
          </p:cNvPr>
          <p:cNvSpPr/>
          <p:nvPr/>
        </p:nvSpPr>
        <p:spPr>
          <a:xfrm>
            <a:off x="0" y="0"/>
            <a:ext cx="24765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4E78920-677A-0046-865F-6445DCD92AA9}"/>
              </a:ext>
            </a:extLst>
          </p:cNvPr>
          <p:cNvSpPr txBox="1"/>
          <p:nvPr/>
        </p:nvSpPr>
        <p:spPr>
          <a:xfrm>
            <a:off x="3035300" y="3429000"/>
            <a:ext cx="1402948" cy="461665"/>
          </a:xfrm>
          <a:prstGeom prst="rect">
            <a:avLst/>
          </a:prstGeom>
          <a:noFill/>
        </p:spPr>
        <p:txBody>
          <a:bodyPr wrap="none" rtlCol="0">
            <a:spAutoFit/>
          </a:bodyPr>
          <a:lstStyle/>
          <a:p>
            <a:r>
              <a:rPr lang="en-US" sz="2400" dirty="0">
                <a:latin typeface="Roboto Medium" pitchFamily="2" charset="0"/>
                <a:ea typeface="Roboto Medium" pitchFamily="2" charset="0"/>
              </a:rPr>
              <a:t>Empathy</a:t>
            </a:r>
          </a:p>
        </p:txBody>
      </p:sp>
      <p:sp>
        <p:nvSpPr>
          <p:cNvPr id="6" name="TextBox 5">
            <a:extLst>
              <a:ext uri="{FF2B5EF4-FFF2-40B4-BE49-F238E27FC236}">
                <a16:creationId xmlns:a16="http://schemas.microsoft.com/office/drawing/2014/main" id="{390E78DF-A525-4B44-917E-3052E507CF97}"/>
              </a:ext>
            </a:extLst>
          </p:cNvPr>
          <p:cNvSpPr txBox="1"/>
          <p:nvPr/>
        </p:nvSpPr>
        <p:spPr>
          <a:xfrm>
            <a:off x="9423399" y="3429000"/>
            <a:ext cx="1612899" cy="830997"/>
          </a:xfrm>
          <a:prstGeom prst="rect">
            <a:avLst/>
          </a:prstGeom>
          <a:noFill/>
        </p:spPr>
        <p:txBody>
          <a:bodyPr wrap="square" rtlCol="0">
            <a:spAutoFit/>
          </a:bodyPr>
          <a:lstStyle/>
          <a:p>
            <a:pPr algn="r"/>
            <a:r>
              <a:rPr lang="en-US" sz="2400" dirty="0">
                <a:latin typeface="Roboto Medium" pitchFamily="2" charset="0"/>
                <a:ea typeface="Roboto Medium" pitchFamily="2" charset="0"/>
              </a:rPr>
              <a:t>Freedom/ Fairness</a:t>
            </a:r>
          </a:p>
        </p:txBody>
      </p:sp>
      <p:sp>
        <p:nvSpPr>
          <p:cNvPr id="7" name="TextBox 6">
            <a:extLst>
              <a:ext uri="{FF2B5EF4-FFF2-40B4-BE49-F238E27FC236}">
                <a16:creationId xmlns:a16="http://schemas.microsoft.com/office/drawing/2014/main" id="{2CC268DB-92F7-2C44-840A-40145CA5C3EF}"/>
              </a:ext>
            </a:extLst>
          </p:cNvPr>
          <p:cNvSpPr txBox="1"/>
          <p:nvPr/>
        </p:nvSpPr>
        <p:spPr>
          <a:xfrm>
            <a:off x="3035300" y="4452035"/>
            <a:ext cx="2057399" cy="646331"/>
          </a:xfrm>
          <a:prstGeom prst="rect">
            <a:avLst/>
          </a:prstGeom>
          <a:noFill/>
        </p:spPr>
        <p:txBody>
          <a:bodyPr wrap="square" rtlCol="0">
            <a:spAutoFit/>
          </a:bodyPr>
          <a:lstStyle/>
          <a:p>
            <a:r>
              <a:rPr lang="en-US" dirty="0">
                <a:latin typeface="Roboto Light" pitchFamily="2" charset="0"/>
                <a:ea typeface="Roboto Light" pitchFamily="2" charset="0"/>
              </a:rPr>
              <a:t>Ban Trans Fats</a:t>
            </a:r>
          </a:p>
          <a:p>
            <a:r>
              <a:rPr lang="en-US" dirty="0">
                <a:latin typeface="Roboto Light" pitchFamily="2" charset="0"/>
                <a:ea typeface="Roboto Light" pitchFamily="2" charset="0"/>
              </a:rPr>
              <a:t>Tax Soda/Sugar</a:t>
            </a:r>
          </a:p>
        </p:txBody>
      </p:sp>
      <p:sp>
        <p:nvSpPr>
          <p:cNvPr id="8" name="TextBox 7">
            <a:extLst>
              <a:ext uri="{FF2B5EF4-FFF2-40B4-BE49-F238E27FC236}">
                <a16:creationId xmlns:a16="http://schemas.microsoft.com/office/drawing/2014/main" id="{B66F3890-D779-1F47-8F1A-AFE8C8553C79}"/>
              </a:ext>
            </a:extLst>
          </p:cNvPr>
          <p:cNvSpPr txBox="1"/>
          <p:nvPr/>
        </p:nvSpPr>
        <p:spPr>
          <a:xfrm>
            <a:off x="9029700" y="4452035"/>
            <a:ext cx="2006599" cy="646331"/>
          </a:xfrm>
          <a:prstGeom prst="rect">
            <a:avLst/>
          </a:prstGeom>
          <a:noFill/>
        </p:spPr>
        <p:txBody>
          <a:bodyPr wrap="square" rtlCol="0">
            <a:spAutoFit/>
          </a:bodyPr>
          <a:lstStyle/>
          <a:p>
            <a:pPr algn="r"/>
            <a:r>
              <a:rPr lang="en-US" dirty="0">
                <a:latin typeface="Roboto Light" pitchFamily="2" charset="0"/>
                <a:ea typeface="Roboto Light" pitchFamily="2" charset="0"/>
              </a:rPr>
              <a:t>Let People Eat What They Want</a:t>
            </a:r>
          </a:p>
        </p:txBody>
      </p:sp>
      <p:cxnSp>
        <p:nvCxnSpPr>
          <p:cNvPr id="9" name="Straight Connector 8">
            <a:extLst>
              <a:ext uri="{FF2B5EF4-FFF2-40B4-BE49-F238E27FC236}">
                <a16:creationId xmlns:a16="http://schemas.microsoft.com/office/drawing/2014/main" id="{6F1CF39D-DF28-414E-A8C4-1EC400439AB3}"/>
              </a:ext>
            </a:extLst>
          </p:cNvPr>
          <p:cNvCxnSpPr/>
          <p:nvPr/>
        </p:nvCxnSpPr>
        <p:spPr>
          <a:xfrm>
            <a:off x="3149600" y="3086100"/>
            <a:ext cx="7696200"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2F17634-ABEF-CA4C-BE51-C855386B68CF}"/>
              </a:ext>
            </a:extLst>
          </p:cNvPr>
          <p:cNvSpPr txBox="1"/>
          <p:nvPr/>
        </p:nvSpPr>
        <p:spPr>
          <a:xfrm>
            <a:off x="3035300" y="5511578"/>
            <a:ext cx="7810500" cy="1200329"/>
          </a:xfrm>
          <a:prstGeom prst="rect">
            <a:avLst/>
          </a:prstGeom>
          <a:noFill/>
        </p:spPr>
        <p:txBody>
          <a:bodyPr wrap="square" rtlCol="0">
            <a:spAutoFit/>
          </a:bodyPr>
          <a:lstStyle/>
          <a:p>
            <a:r>
              <a:rPr lang="en-US" dirty="0">
                <a:latin typeface="Roboto" pitchFamily="2" charset="0"/>
                <a:ea typeface="Roboto" pitchFamily="2" charset="0"/>
              </a:rPr>
              <a:t>Maybe, we don’t need to choose one side or another. We can respect both Empathy &amp; Choice. Maybe we don’t need to ban things, but we need to give people the power to make informed choices. Maybe labeling is the middle ground.</a:t>
            </a:r>
          </a:p>
        </p:txBody>
      </p:sp>
    </p:spTree>
    <p:extLst>
      <p:ext uri="{BB962C8B-B14F-4D97-AF65-F5344CB8AC3E}">
        <p14:creationId xmlns:p14="http://schemas.microsoft.com/office/powerpoint/2010/main" val="6143222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1164075" y="1804938"/>
            <a:ext cx="9863847" cy="2308324"/>
          </a:xfrm>
          <a:prstGeom prst="rect">
            <a:avLst/>
          </a:prstGeom>
          <a:noFill/>
        </p:spPr>
        <p:txBody>
          <a:bodyPr wrap="square" rtlCol="0">
            <a:spAutoFit/>
          </a:bodyPr>
          <a:lstStyle/>
          <a:p>
            <a:pPr algn="ctr"/>
            <a:r>
              <a:rPr lang="en-US" sz="7200" dirty="0">
                <a:solidFill>
                  <a:schemeClr val="bg1"/>
                </a:solidFill>
                <a:latin typeface="Roboto Medium" pitchFamily="2" charset="0"/>
                <a:ea typeface="Roboto Medium" pitchFamily="2" charset="0"/>
              </a:rPr>
              <a:t>There Are Three Reasons For Anything</a:t>
            </a:r>
          </a:p>
        </p:txBody>
      </p:sp>
    </p:spTree>
    <p:extLst>
      <p:ext uri="{BB962C8B-B14F-4D97-AF65-F5344CB8AC3E}">
        <p14:creationId xmlns:p14="http://schemas.microsoft.com/office/powerpoint/2010/main" val="28514105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D90CD75-C0D9-9E49-8E78-DFA185D56393}"/>
              </a:ext>
            </a:extLst>
          </p:cNvPr>
          <p:cNvSpPr/>
          <p:nvPr/>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20CCBA67-538C-6E43-82FC-68116F592CAB}"/>
              </a:ext>
            </a:extLst>
          </p:cNvPr>
          <p:cNvSpPr txBox="1"/>
          <p:nvPr/>
        </p:nvSpPr>
        <p:spPr>
          <a:xfrm>
            <a:off x="1164075" y="1510370"/>
            <a:ext cx="9863847" cy="4524315"/>
          </a:xfrm>
          <a:prstGeom prst="rect">
            <a:avLst/>
          </a:prstGeom>
          <a:noFill/>
        </p:spPr>
        <p:txBody>
          <a:bodyPr wrap="square" rtlCol="0">
            <a:spAutoFit/>
          </a:bodyPr>
          <a:lstStyle/>
          <a:p>
            <a:pPr algn="ctr"/>
            <a:r>
              <a:rPr lang="en-US" sz="4800" dirty="0">
                <a:solidFill>
                  <a:schemeClr val="bg1"/>
                </a:solidFill>
                <a:latin typeface="Roboto Medium" pitchFamily="2" charset="0"/>
                <a:ea typeface="Roboto Medium" pitchFamily="2" charset="0"/>
              </a:rPr>
              <a:t>I totally wish I could bring up certain dissatisfactions, but I’m all but certain that in doing so, I would be marked as a malcontent, prior organizational reputation notwithstanding.</a:t>
            </a:r>
          </a:p>
        </p:txBody>
      </p:sp>
      <p:sp>
        <p:nvSpPr>
          <p:cNvPr id="2" name="TextBox 1">
            <a:extLst>
              <a:ext uri="{FF2B5EF4-FFF2-40B4-BE49-F238E27FC236}">
                <a16:creationId xmlns:a16="http://schemas.microsoft.com/office/drawing/2014/main" id="{8C0AB078-697F-4C45-8AD5-40F1E52E758D}"/>
              </a:ext>
            </a:extLst>
          </p:cNvPr>
          <p:cNvSpPr txBox="1"/>
          <p:nvPr/>
        </p:nvSpPr>
        <p:spPr>
          <a:xfrm>
            <a:off x="1308453" y="860692"/>
            <a:ext cx="1227221" cy="1569660"/>
          </a:xfrm>
          <a:prstGeom prst="rect">
            <a:avLst/>
          </a:prstGeom>
          <a:noFill/>
        </p:spPr>
        <p:txBody>
          <a:bodyPr wrap="square" rtlCol="0">
            <a:spAutoFit/>
          </a:bodyPr>
          <a:lstStyle/>
          <a:p>
            <a:r>
              <a:rPr lang="en-US" sz="9600" dirty="0">
                <a:solidFill>
                  <a:schemeClr val="bg1"/>
                </a:solidFill>
                <a:latin typeface="Roboto Medium" pitchFamily="2" charset="0"/>
                <a:ea typeface="Roboto Medium" pitchFamily="2" charset="0"/>
              </a:rPr>
              <a:t>“</a:t>
            </a:r>
          </a:p>
        </p:txBody>
      </p:sp>
      <p:sp>
        <p:nvSpPr>
          <p:cNvPr id="5" name="TextBox 4">
            <a:extLst>
              <a:ext uri="{FF2B5EF4-FFF2-40B4-BE49-F238E27FC236}">
                <a16:creationId xmlns:a16="http://schemas.microsoft.com/office/drawing/2014/main" id="{B15139BD-7C0C-8A43-9A31-9A41C1432CD3}"/>
              </a:ext>
            </a:extLst>
          </p:cNvPr>
          <p:cNvSpPr txBox="1"/>
          <p:nvPr/>
        </p:nvSpPr>
        <p:spPr>
          <a:xfrm>
            <a:off x="8431148" y="4915168"/>
            <a:ext cx="1227221" cy="1569660"/>
          </a:xfrm>
          <a:prstGeom prst="rect">
            <a:avLst/>
          </a:prstGeom>
          <a:noFill/>
        </p:spPr>
        <p:txBody>
          <a:bodyPr wrap="square" rtlCol="0">
            <a:spAutoFit/>
          </a:bodyPr>
          <a:lstStyle/>
          <a:p>
            <a:r>
              <a:rPr lang="en-US" sz="9600" dirty="0">
                <a:solidFill>
                  <a:schemeClr val="bg1"/>
                </a:solidFill>
                <a:latin typeface="Roboto Medium" pitchFamily="2" charset="0"/>
                <a:ea typeface="Roboto Medium" pitchFamily="2" charset="0"/>
              </a:rPr>
              <a:t>”</a:t>
            </a:r>
          </a:p>
        </p:txBody>
      </p:sp>
      <p:sp>
        <p:nvSpPr>
          <p:cNvPr id="3" name="TextBox 2">
            <a:extLst>
              <a:ext uri="{FF2B5EF4-FFF2-40B4-BE49-F238E27FC236}">
                <a16:creationId xmlns:a16="http://schemas.microsoft.com/office/drawing/2014/main" id="{EC61069C-CB82-8E48-8B72-B26B0F252DAE}"/>
              </a:ext>
            </a:extLst>
          </p:cNvPr>
          <p:cNvSpPr txBox="1"/>
          <p:nvPr/>
        </p:nvSpPr>
        <p:spPr>
          <a:xfrm>
            <a:off x="10032953" y="5740323"/>
            <a:ext cx="1249060" cy="584775"/>
          </a:xfrm>
          <a:prstGeom prst="rect">
            <a:avLst/>
          </a:prstGeom>
          <a:noFill/>
        </p:spPr>
        <p:txBody>
          <a:bodyPr wrap="none" rtlCol="0">
            <a:spAutoFit/>
          </a:bodyPr>
          <a:lstStyle/>
          <a:p>
            <a:r>
              <a:rPr lang="en-US" sz="3200" dirty="0">
                <a:solidFill>
                  <a:schemeClr val="bg1"/>
                </a:solidFill>
                <a:latin typeface="Roboto Medium" pitchFamily="2" charset="0"/>
                <a:ea typeface="Roboto Medium" pitchFamily="2" charset="0"/>
              </a:rPr>
              <a:t>- Nick</a:t>
            </a:r>
          </a:p>
        </p:txBody>
      </p:sp>
    </p:spTree>
    <p:extLst>
      <p:ext uri="{BB962C8B-B14F-4D97-AF65-F5344CB8AC3E}">
        <p14:creationId xmlns:p14="http://schemas.microsoft.com/office/powerpoint/2010/main" val="3252453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273</TotalTime>
  <Words>654</Words>
  <Application>Microsoft Macintosh PowerPoint</Application>
  <PresentationFormat>Widescreen</PresentationFormat>
  <Paragraphs>129</Paragraphs>
  <Slides>26</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Arial</vt:lpstr>
      <vt:lpstr>Calibri</vt:lpstr>
      <vt:lpstr>Calibri Light</vt:lpstr>
      <vt:lpstr>Operator Mono Medium</vt:lpstr>
      <vt:lpstr>Roboto</vt:lpstr>
      <vt:lpstr>Roboto Light</vt:lpstr>
      <vt:lpstr>Roboto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Amador Chavez</dc:creator>
  <cp:lastModifiedBy>Amador Chavez</cp:lastModifiedBy>
  <cp:revision>19</cp:revision>
  <dcterms:created xsi:type="dcterms:W3CDTF">2018-03-04T21:43:10Z</dcterms:created>
  <dcterms:modified xsi:type="dcterms:W3CDTF">2018-03-05T07:29:06Z</dcterms:modified>
</cp:coreProperties>
</file>